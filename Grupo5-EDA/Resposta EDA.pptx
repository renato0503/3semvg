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18"/>
    </p:embeddedFont>
    <p:embeddedFont>
      <p:font typeface="Arimo Bold Italics" charset="1" panose="020B0704020202090204"/>
      <p:regular r:id="rId19"/>
    </p:embeddedFont>
    <p:embeddedFont>
      <p:font typeface="Open Sans Bold" charset="1" panose="020B0806030504020204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98659" y="670084"/>
            <a:ext cx="7346632" cy="6175058"/>
            <a:chOff x="0" y="0"/>
            <a:chExt cx="9795510" cy="82334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95510" cy="8233410"/>
            </a:xfrm>
            <a:custGeom>
              <a:avLst/>
              <a:gdLst/>
              <a:ahLst/>
              <a:cxnLst/>
              <a:rect r="r" b="b" t="t" l="l"/>
              <a:pathLst>
                <a:path h="8233410" w="9795510">
                  <a:moveTo>
                    <a:pt x="0" y="0"/>
                  </a:moveTo>
                  <a:lnTo>
                    <a:pt x="9795510" y="0"/>
                  </a:lnTo>
                  <a:lnTo>
                    <a:pt x="9795510" y="8233410"/>
                  </a:lnTo>
                  <a:lnTo>
                    <a:pt x="0" y="82334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842" t="0" r="-57842" b="0"/>
              </a:stretch>
            </a:blipFill>
            <a:ln w="31432" cap="sq">
              <a:solidFill>
                <a:srgbClr val="6D55B5"/>
              </a:solidFill>
              <a:prstDash val="solid"/>
              <a:miter/>
            </a:ln>
          </p:spPr>
        </p:sp>
      </p:grpSp>
      <p:sp>
        <p:nvSpPr>
          <p:cNvPr name="AutoShape 6" id="6"/>
          <p:cNvSpPr/>
          <p:nvPr/>
        </p:nvSpPr>
        <p:spPr>
          <a:xfrm rot="85200">
            <a:off x="1064152" y="1147762"/>
            <a:ext cx="1729321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114425" y="1614488"/>
            <a:ext cx="6457950" cy="3171825"/>
            <a:chOff x="0" y="0"/>
            <a:chExt cx="8610600" cy="4229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10600" cy="4229100"/>
            </a:xfrm>
            <a:custGeom>
              <a:avLst/>
              <a:gdLst/>
              <a:ahLst/>
              <a:cxnLst/>
              <a:rect r="r" b="b" t="t" l="l"/>
              <a:pathLst>
                <a:path h="4229100" w="8610600">
                  <a:moveTo>
                    <a:pt x="0" y="0"/>
                  </a:moveTo>
                  <a:lnTo>
                    <a:pt x="8610600" y="0"/>
                  </a:lnTo>
                  <a:lnTo>
                    <a:pt x="8610600" y="4229100"/>
                  </a:lnTo>
                  <a:lnTo>
                    <a:pt x="0" y="4229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16" t="0" r="-1301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610600" cy="425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05"/>
                </a:lnSpc>
              </a:pPr>
              <a:r>
                <a:rPr lang="en-US" sz="4837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 Patologia do</a:t>
              </a:r>
            </a:p>
            <a:p>
              <a:pPr algn="l">
                <a:lnSpc>
                  <a:spcPts val="5805"/>
                </a:lnSpc>
              </a:pPr>
              <a:r>
                <a:rPr lang="en-US" sz="4837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Consumismo e a</a:t>
              </a:r>
            </a:p>
            <a:p>
              <a:pPr algn="l">
                <a:lnSpc>
                  <a:spcPts val="5805"/>
                </a:lnSpc>
              </a:pPr>
              <a:r>
                <a:rPr lang="en-US" sz="4837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Influência do Ambiente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20153" y="5084445"/>
            <a:ext cx="598932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4"/>
              </a:lnSpc>
            </a:pPr>
            <a:r>
              <a:rPr lang="en-US" b="true" sz="3012" i="true">
                <a:solidFill>
                  <a:srgbClr val="414544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Transtornos comportamentais e as estratégias de estímulo ao consumo na sociedade moderna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716375" y="9258300"/>
            <a:ext cx="714375" cy="400050"/>
            <a:chOff x="0" y="0"/>
            <a:chExt cx="952500" cy="533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500" cy="533400"/>
            </a:xfrm>
            <a:custGeom>
              <a:avLst/>
              <a:gdLst/>
              <a:ahLst/>
              <a:cxnLst/>
              <a:rect r="r" b="b" t="t" l="l"/>
              <a:pathLst>
                <a:path h="5334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849" t="0" r="-2184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52500" cy="542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41454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98659" y="7216616"/>
            <a:ext cx="7360165" cy="136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6D55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Discentes: Sarah Caroline Santos, Beatriz Luiza Almeida, Cássia Nóbrega e Denner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6D55B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Docente: Renato Rosa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0001250" cy="10287000"/>
            <a:chOff x="0" y="0"/>
            <a:chExt cx="13335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335000">
                  <a:moveTo>
                    <a:pt x="0" y="0"/>
                  </a:moveTo>
                  <a:lnTo>
                    <a:pt x="13335000" y="0"/>
                  </a:lnTo>
                  <a:lnTo>
                    <a:pt x="13335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2E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657225"/>
            <a:ext cx="8429625" cy="885825"/>
            <a:chOff x="0" y="0"/>
            <a:chExt cx="11239500" cy="1181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395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422" r="0" b="-1354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239500" cy="1200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80"/>
                </a:lnSpc>
              </a:pPr>
              <a:r>
                <a:rPr lang="en-US" sz="3483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Doenças relacionadas ao consumismo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48690" y="1684020"/>
            <a:ext cx="796099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6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O consumo sem controle pode agravar transtornos mentais e comportamentais.</a:t>
            </a:r>
          </a:p>
        </p:txBody>
      </p:sp>
      <p:sp>
        <p:nvSpPr>
          <p:cNvPr name="AutoShape 10" id="10"/>
          <p:cNvSpPr/>
          <p:nvPr/>
        </p:nvSpPr>
        <p:spPr>
          <a:xfrm rot="15300">
            <a:off x="839353" y="2633662"/>
            <a:ext cx="8036795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57250" y="3114675"/>
            <a:ext cx="257175" cy="257175"/>
            <a:chOff x="0" y="0"/>
            <a:chExt cx="342900" cy="3429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cubicBezTo>
                    <a:pt x="266192" y="0"/>
                    <a:pt x="342900" y="76708"/>
                    <a:pt x="342900" y="171450"/>
                  </a:cubicBezTo>
                  <a:cubicBezTo>
                    <a:pt x="342900" y="266192"/>
                    <a:pt x="266192" y="342900"/>
                    <a:pt x="171450" y="342900"/>
                  </a:cubicBezTo>
                  <a:cubicBezTo>
                    <a:pt x="76708" y="342900"/>
                    <a:pt x="0" y="266192"/>
                    <a:pt x="0" y="17145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4450" y="2914650"/>
            <a:ext cx="2928938" cy="600075"/>
            <a:chOff x="0" y="0"/>
            <a:chExt cx="3905250" cy="800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05250" cy="800100"/>
            </a:xfrm>
            <a:custGeom>
              <a:avLst/>
              <a:gdLst/>
              <a:ahLst/>
              <a:cxnLst/>
              <a:rect r="r" b="b" t="t" l="l"/>
              <a:pathLst>
                <a:path h="800100" w="3905250">
                  <a:moveTo>
                    <a:pt x="0" y="0"/>
                  </a:moveTo>
                  <a:lnTo>
                    <a:pt x="3905250" y="0"/>
                  </a:lnTo>
                  <a:lnTo>
                    <a:pt x="390525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5" r="0" b="-451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90525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Oniomania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05890" y="3598545"/>
            <a:ext cx="7332345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512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Perda de controle sobre as compras, alívio emocional breve, culpa, comportamento secreto e prejuízo financeiro.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7250" y="5129212"/>
            <a:ext cx="257175" cy="257175"/>
            <a:chOff x="0" y="0"/>
            <a:chExt cx="342900" cy="342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cubicBezTo>
                    <a:pt x="266192" y="0"/>
                    <a:pt x="342900" y="76708"/>
                    <a:pt x="342900" y="171450"/>
                  </a:cubicBezTo>
                  <a:cubicBezTo>
                    <a:pt x="342900" y="266192"/>
                    <a:pt x="266192" y="342900"/>
                    <a:pt x="171450" y="342900"/>
                  </a:cubicBezTo>
                  <a:cubicBezTo>
                    <a:pt x="76708" y="342900"/>
                    <a:pt x="0" y="266192"/>
                    <a:pt x="0" y="17145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14450" y="4929188"/>
            <a:ext cx="4572000" cy="600075"/>
            <a:chOff x="0" y="0"/>
            <a:chExt cx="6096000" cy="80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0" cy="800100"/>
            </a:xfrm>
            <a:custGeom>
              <a:avLst/>
              <a:gdLst/>
              <a:ahLst/>
              <a:cxnLst/>
              <a:rect r="r" b="b" t="t" l="l"/>
              <a:pathLst>
                <a:path h="8001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0960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68776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Ansiedade e depressão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05890" y="5614988"/>
            <a:ext cx="7332345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512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Publicidade e comparação social ampliam a sensação de insuficiência, o vazio e o isolamento provocado por dívidas.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250" y="7172325"/>
            <a:ext cx="257175" cy="257175"/>
            <a:chOff x="0" y="0"/>
            <a:chExt cx="342900" cy="342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cubicBezTo>
                    <a:pt x="266192" y="0"/>
                    <a:pt x="342900" y="76708"/>
                    <a:pt x="342900" y="171450"/>
                  </a:cubicBezTo>
                  <a:cubicBezTo>
                    <a:pt x="342900" y="266192"/>
                    <a:pt x="266192" y="342900"/>
                    <a:pt x="171450" y="342900"/>
                  </a:cubicBezTo>
                  <a:cubicBezTo>
                    <a:pt x="76708" y="342900"/>
                    <a:pt x="0" y="266192"/>
                    <a:pt x="0" y="17145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14450" y="6972300"/>
            <a:ext cx="3857625" cy="600075"/>
            <a:chOff x="0" y="0"/>
            <a:chExt cx="5143500" cy="800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43500" cy="800100"/>
            </a:xfrm>
            <a:custGeom>
              <a:avLst/>
              <a:gdLst/>
              <a:ahLst/>
              <a:cxnLst/>
              <a:rect r="r" b="b" t="t" l="l"/>
              <a:pathLst>
                <a:path h="8001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1435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B7953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Burnout indireto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405890" y="7658100"/>
            <a:ext cx="7332345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512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Jornadas exaustivas para manter o padrão de consumo favorecem esgotamento, irritabilidade e perda de prazer no trabalho.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2543175"/>
            <a:chOff x="0" y="0"/>
            <a:chExt cx="24384000" cy="3390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3390900"/>
            </a:xfrm>
            <a:custGeom>
              <a:avLst/>
              <a:gdLst/>
              <a:ahLst/>
              <a:cxnLst/>
              <a:rect r="r" b="b" t="t" l="l"/>
              <a:pathLst>
                <a:path h="3390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390900"/>
                  </a:lnTo>
                  <a:lnTo>
                    <a:pt x="0" y="3390900"/>
                  </a:lnTo>
                  <a:close/>
                </a:path>
              </a:pathLst>
            </a:custGeom>
            <a:solidFill>
              <a:srgbClr val="F7F2E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542925"/>
            <a:ext cx="11287125" cy="828675"/>
            <a:chOff x="0" y="0"/>
            <a:chExt cx="15049500" cy="1104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495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5049500">
                  <a:moveTo>
                    <a:pt x="0" y="0"/>
                  </a:moveTo>
                  <a:lnTo>
                    <a:pt x="15049500" y="0"/>
                  </a:lnTo>
                  <a:lnTo>
                    <a:pt x="150495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399" r="0" b="-21539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5049500" cy="1123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 impacto do ambiente digital e físico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48690" y="1493520"/>
            <a:ext cx="1267587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O ambiente moderno reduz o tempo de reflexão e favorece decisões impulsivas.</a:t>
            </a:r>
          </a:p>
        </p:txBody>
      </p:sp>
      <p:sp>
        <p:nvSpPr>
          <p:cNvPr name="AutoShape 10" id="10"/>
          <p:cNvSpPr/>
          <p:nvPr/>
        </p:nvSpPr>
        <p:spPr>
          <a:xfrm rot="15300">
            <a:off x="839353" y="2233612"/>
            <a:ext cx="8036795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775811" y="7033736"/>
            <a:ext cx="5163503" cy="2220278"/>
            <a:chOff x="0" y="0"/>
            <a:chExt cx="6884670" cy="29603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4670" cy="2960370"/>
            </a:xfrm>
            <a:custGeom>
              <a:avLst/>
              <a:gdLst/>
              <a:ahLst/>
              <a:cxnLst/>
              <a:rect r="r" b="b" t="t" l="l"/>
              <a:pathLst>
                <a:path h="2960370" w="6884670">
                  <a:moveTo>
                    <a:pt x="0" y="0"/>
                  </a:moveTo>
                  <a:lnTo>
                    <a:pt x="6884670" y="0"/>
                  </a:lnTo>
                  <a:lnTo>
                    <a:pt x="6884670" y="2960370"/>
                  </a:lnTo>
                  <a:lnTo>
                    <a:pt x="0" y="2960370"/>
                  </a:lnTo>
                  <a:close/>
                </a:path>
              </a:pathLst>
            </a:custGeom>
            <a:solidFill>
              <a:srgbClr val="F7F2E5"/>
            </a:solidFill>
            <a:ln w="20003" cap="sq">
              <a:solidFill>
                <a:srgbClr val="B7953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42988" y="7243762"/>
            <a:ext cx="600075" cy="457200"/>
            <a:chOff x="0" y="0"/>
            <a:chExt cx="8001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0100" cy="609600"/>
            </a:xfrm>
            <a:custGeom>
              <a:avLst/>
              <a:gdLst/>
              <a:ahLst/>
              <a:cxnLst/>
              <a:rect r="r" b="b" t="t" l="l"/>
              <a:pathLst>
                <a:path h="6096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755" t="0" r="-4775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001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6D55B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43075" y="7200900"/>
            <a:ext cx="3943350" cy="542925"/>
            <a:chOff x="0" y="0"/>
            <a:chExt cx="5257800" cy="723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57800" cy="723900"/>
            </a:xfrm>
            <a:custGeom>
              <a:avLst/>
              <a:gdLst/>
              <a:ahLst/>
              <a:cxnLst/>
              <a:rect r="r" b="b" t="t" l="l"/>
              <a:pathLst>
                <a:path h="723900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22" r="0" b="-9152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2578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Algoritmos e FOMO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63002" y="7937182"/>
            <a:ext cx="4389120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Mapeiam vulnerabilidades, reforçam comparações e o medo de ficar para trás.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62249" y="7033736"/>
            <a:ext cx="5092065" cy="2220278"/>
            <a:chOff x="0" y="0"/>
            <a:chExt cx="6789420" cy="29603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89420" cy="2960370"/>
            </a:xfrm>
            <a:custGeom>
              <a:avLst/>
              <a:gdLst/>
              <a:ahLst/>
              <a:cxnLst/>
              <a:rect r="r" b="b" t="t" l="l"/>
              <a:pathLst>
                <a:path h="2960370" w="6789420">
                  <a:moveTo>
                    <a:pt x="0" y="0"/>
                  </a:moveTo>
                  <a:lnTo>
                    <a:pt x="6789420" y="0"/>
                  </a:lnTo>
                  <a:lnTo>
                    <a:pt x="6789420" y="2960370"/>
                  </a:lnTo>
                  <a:lnTo>
                    <a:pt x="0" y="2960370"/>
                  </a:lnTo>
                  <a:close/>
                </a:path>
              </a:pathLst>
            </a:custGeom>
            <a:solidFill>
              <a:srgbClr val="F7F2E5"/>
            </a:solidFill>
            <a:ln w="20003" cap="sq">
              <a:solidFill>
                <a:srgbClr val="B7953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29425" y="7243762"/>
            <a:ext cx="600075" cy="457200"/>
            <a:chOff x="0" y="0"/>
            <a:chExt cx="800100" cy="609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0100" cy="609600"/>
            </a:xfrm>
            <a:custGeom>
              <a:avLst/>
              <a:gdLst/>
              <a:ahLst/>
              <a:cxnLst/>
              <a:rect r="r" b="b" t="t" l="l"/>
              <a:pathLst>
                <a:path h="6096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755" t="0" r="-4775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001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6D55B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29512" y="7200900"/>
            <a:ext cx="3871912" cy="542925"/>
            <a:chOff x="0" y="0"/>
            <a:chExt cx="5162550" cy="7239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62550" cy="723900"/>
            </a:xfrm>
            <a:custGeom>
              <a:avLst/>
              <a:gdLst/>
              <a:ahLst/>
              <a:cxnLst/>
              <a:rect r="r" b="b" t="t" l="l"/>
              <a:pathLst>
                <a:path h="723900" w="5162550">
                  <a:moveTo>
                    <a:pt x="0" y="0"/>
                  </a:moveTo>
                  <a:lnTo>
                    <a:pt x="5162550" y="0"/>
                  </a:lnTo>
                  <a:lnTo>
                    <a:pt x="516255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959" r="0" b="-8895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625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Compra em 1 clique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949440" y="7937182"/>
            <a:ext cx="4317682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Menos barreiras entre desejo e pagamento diminuem a reflexão.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277249" y="7033736"/>
            <a:ext cx="5234940" cy="2220278"/>
            <a:chOff x="0" y="0"/>
            <a:chExt cx="6979920" cy="29603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79920" cy="2960370"/>
            </a:xfrm>
            <a:custGeom>
              <a:avLst/>
              <a:gdLst/>
              <a:ahLst/>
              <a:cxnLst/>
              <a:rect r="r" b="b" t="t" l="l"/>
              <a:pathLst>
                <a:path h="2960370" w="6979920">
                  <a:moveTo>
                    <a:pt x="0" y="0"/>
                  </a:moveTo>
                  <a:lnTo>
                    <a:pt x="6979920" y="0"/>
                  </a:lnTo>
                  <a:lnTo>
                    <a:pt x="6979920" y="2960370"/>
                  </a:lnTo>
                  <a:lnTo>
                    <a:pt x="0" y="2960370"/>
                  </a:lnTo>
                  <a:close/>
                </a:path>
              </a:pathLst>
            </a:custGeom>
            <a:solidFill>
              <a:srgbClr val="F7F2E5"/>
            </a:solidFill>
            <a:ln w="20003" cap="sq">
              <a:solidFill>
                <a:srgbClr val="B7953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544425" y="7243762"/>
            <a:ext cx="600075" cy="457200"/>
            <a:chOff x="0" y="0"/>
            <a:chExt cx="800100" cy="60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0100" cy="609600"/>
            </a:xfrm>
            <a:custGeom>
              <a:avLst/>
              <a:gdLst/>
              <a:ahLst/>
              <a:cxnLst/>
              <a:rect r="r" b="b" t="t" l="l"/>
              <a:pathLst>
                <a:path h="6096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755" t="0" r="-47755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80010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6D55B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44512" y="7200900"/>
            <a:ext cx="4014788" cy="542925"/>
            <a:chOff x="0" y="0"/>
            <a:chExt cx="5353050" cy="7239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53050" cy="723900"/>
            </a:xfrm>
            <a:custGeom>
              <a:avLst/>
              <a:gdLst/>
              <a:ahLst/>
              <a:cxnLst/>
              <a:rect r="r" b="b" t="t" l="l"/>
              <a:pathLst>
                <a:path h="7239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086" r="0" b="-940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3530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Arquitetura comercial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664440" y="7937182"/>
            <a:ext cx="4460558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Luz, música, aromas e ausência de relógios prolongam a permanência.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500062"/>
            <a:ext cx="8072438" cy="1314450"/>
            <a:chOff x="0" y="0"/>
            <a:chExt cx="10763250" cy="1752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3250" cy="1752600"/>
            </a:xfrm>
            <a:custGeom>
              <a:avLst/>
              <a:gdLst/>
              <a:ahLst/>
              <a:cxnLst/>
              <a:rect r="r" b="b" t="t" l="l"/>
              <a:pathLst>
                <a:path h="17526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1752600"/>
                  </a:lnTo>
                  <a:lnTo>
                    <a:pt x="0" y="1752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63" r="0" b="-696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763250" cy="1771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85"/>
                </a:lnSpc>
              </a:pPr>
              <a:r>
                <a:rPr lang="en-US" sz="3487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 arquitetura do hiperconsumismo no Brasil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8690" y="1855470"/>
            <a:ext cx="7675245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2094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Três forças transformam consumo em identidade, urgência e exposição</a:t>
            </a:r>
          </a:p>
        </p:txBody>
      </p:sp>
      <p:sp>
        <p:nvSpPr>
          <p:cNvPr name="AutoShape 6" id="6"/>
          <p:cNvSpPr/>
          <p:nvPr/>
        </p:nvSpPr>
        <p:spPr>
          <a:xfrm rot="15540">
            <a:off x="839353" y="2576512"/>
            <a:ext cx="7893929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601200" y="0"/>
            <a:ext cx="8686800" cy="10287000"/>
            <a:chOff x="0" y="0"/>
            <a:chExt cx="115824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82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206" t="0" r="-5520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7250" y="2986088"/>
            <a:ext cx="800100" cy="800100"/>
            <a:chOff x="0" y="0"/>
            <a:chExt cx="1066800" cy="1066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7262" y="3114675"/>
            <a:ext cx="600075" cy="514350"/>
            <a:chOff x="0" y="0"/>
            <a:chExt cx="800100" cy="685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0100" cy="685800"/>
            </a:xfrm>
            <a:custGeom>
              <a:avLst/>
              <a:gdLst/>
              <a:ahLst/>
              <a:cxnLst/>
              <a:rect r="r" b="b" t="t" l="l"/>
              <a:pathLst>
                <a:path h="6858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80010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71675" y="2928938"/>
            <a:ext cx="6286500" cy="372476"/>
            <a:chOff x="0" y="0"/>
            <a:chExt cx="8382000" cy="496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82000" cy="496634"/>
            </a:xfrm>
            <a:custGeom>
              <a:avLst/>
              <a:gdLst/>
              <a:ahLst/>
              <a:cxnLst/>
              <a:rect r="r" b="b" t="t" l="l"/>
              <a:pathLst>
                <a:path h="496634" w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496634"/>
                  </a:lnTo>
                  <a:lnTo>
                    <a:pt x="0" y="496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830" r="0" b="-2748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382000" cy="525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6D55B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HISTÓRICA E ECONÔMICA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71675" y="3286125"/>
            <a:ext cx="6572250" cy="542925"/>
            <a:chOff x="0" y="0"/>
            <a:chExt cx="8763000" cy="723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63000" cy="723900"/>
            </a:xfrm>
            <a:custGeom>
              <a:avLst/>
              <a:gdLst/>
              <a:ahLst/>
              <a:cxnLst/>
              <a:rect r="r" b="b" t="t" l="l"/>
              <a:pathLst>
                <a:path h="723900" w="8763000">
                  <a:moveTo>
                    <a:pt x="0" y="0"/>
                  </a:moveTo>
                  <a:lnTo>
                    <a:pt x="8763000" y="0"/>
                  </a:lnTo>
                  <a:lnTo>
                    <a:pt x="87630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7630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95"/>
                </a:lnSpc>
              </a:pPr>
              <a:r>
                <a:rPr lang="en-US" sz="2662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Herança da hiperinflação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063115" y="3927158"/>
            <a:ext cx="650367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2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A memória da instabilidade incentiva compras antecipadas e reduz a confiança no amanhã.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57250" y="5000625"/>
            <a:ext cx="800100" cy="800100"/>
            <a:chOff x="0" y="0"/>
            <a:chExt cx="1066800" cy="1066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7262" y="5129212"/>
            <a:ext cx="600075" cy="514350"/>
            <a:chOff x="0" y="0"/>
            <a:chExt cx="800100" cy="685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0100" cy="685800"/>
            </a:xfrm>
            <a:custGeom>
              <a:avLst/>
              <a:gdLst/>
              <a:ahLst/>
              <a:cxnLst/>
              <a:rect r="r" b="b" t="t" l="l"/>
              <a:pathLst>
                <a:path h="6858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0010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71675" y="4943475"/>
            <a:ext cx="6286500" cy="372476"/>
            <a:chOff x="0" y="0"/>
            <a:chExt cx="8382000" cy="496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82000" cy="496634"/>
            </a:xfrm>
            <a:custGeom>
              <a:avLst/>
              <a:gdLst/>
              <a:ahLst/>
              <a:cxnLst/>
              <a:rect r="r" b="b" t="t" l="l"/>
              <a:pathLst>
                <a:path h="496634" w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496634"/>
                  </a:lnTo>
                  <a:lnTo>
                    <a:pt x="0" y="496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830" r="0" b="-27489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8382000" cy="525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68776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SOCIOLÓGICA E DE STATUS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71675" y="5300662"/>
            <a:ext cx="6572250" cy="542925"/>
            <a:chOff x="0" y="0"/>
            <a:chExt cx="8763000" cy="7239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63000" cy="723900"/>
            </a:xfrm>
            <a:custGeom>
              <a:avLst/>
              <a:gdLst/>
              <a:ahLst/>
              <a:cxnLst/>
              <a:rect r="r" b="b" t="t" l="l"/>
              <a:pathLst>
                <a:path h="723900" w="8763000">
                  <a:moveTo>
                    <a:pt x="0" y="0"/>
                  </a:moveTo>
                  <a:lnTo>
                    <a:pt x="8763000" y="0"/>
                  </a:lnTo>
                  <a:lnTo>
                    <a:pt x="87630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87630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95"/>
                </a:lnSpc>
              </a:pPr>
              <a:r>
                <a:rPr lang="en-US" sz="2662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Consumo como distinção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063115" y="5951220"/>
            <a:ext cx="650367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2412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Em uma sociedade desigual, bens visíveis comunicam posição social e pertencimento.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57250" y="7015162"/>
            <a:ext cx="800100" cy="800100"/>
            <a:chOff x="0" y="0"/>
            <a:chExt cx="1066800" cy="1066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7262" y="7143750"/>
            <a:ext cx="600075" cy="514350"/>
            <a:chOff x="0" y="0"/>
            <a:chExt cx="800100" cy="685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0100" cy="685800"/>
            </a:xfrm>
            <a:custGeom>
              <a:avLst/>
              <a:gdLst/>
              <a:ahLst/>
              <a:cxnLst/>
              <a:rect r="r" b="b" t="t" l="l"/>
              <a:pathLst>
                <a:path h="6858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0010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71675" y="6958012"/>
            <a:ext cx="6286500" cy="372476"/>
            <a:chOff x="0" y="0"/>
            <a:chExt cx="8382000" cy="4966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382000" cy="496634"/>
            </a:xfrm>
            <a:custGeom>
              <a:avLst/>
              <a:gdLst/>
              <a:ahLst/>
              <a:cxnLst/>
              <a:rect r="r" b="b" t="t" l="l"/>
              <a:pathLst>
                <a:path h="496634" w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496634"/>
                  </a:lnTo>
                  <a:lnTo>
                    <a:pt x="0" y="49663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830" r="0" b="-2748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8382000" cy="525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9"/>
                </a:lnSpc>
              </a:pPr>
              <a:r>
                <a:rPr lang="en-US" sz="1849" b="true">
                  <a:solidFill>
                    <a:srgbClr val="B7953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PSICOLÓGICA E CULTURAL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71675" y="7315200"/>
            <a:ext cx="6572250" cy="542925"/>
            <a:chOff x="0" y="0"/>
            <a:chExt cx="8763000" cy="7239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763000" cy="723900"/>
            </a:xfrm>
            <a:custGeom>
              <a:avLst/>
              <a:gdLst/>
              <a:ahLst/>
              <a:cxnLst/>
              <a:rect r="r" b="b" t="t" l="l"/>
              <a:pathLst>
                <a:path h="723900" w="8763000">
                  <a:moveTo>
                    <a:pt x="0" y="0"/>
                  </a:moveTo>
                  <a:lnTo>
                    <a:pt x="8763000" y="0"/>
                  </a:lnTo>
                  <a:lnTo>
                    <a:pt x="87630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87630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95"/>
                </a:lnSpc>
              </a:pPr>
              <a:r>
                <a:rPr lang="en-US" sz="2662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Cultura da ostentação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2063115" y="7965757"/>
            <a:ext cx="650367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4"/>
              </a:lnSpc>
            </a:pPr>
            <a:r>
              <a:rPr lang="en-US" sz="2412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As redes sociais ampliam comparação, exposição e desejo por símbolos de sucesso.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600075"/>
            <a:ext cx="9286875" cy="828675"/>
            <a:chOff x="0" y="0"/>
            <a:chExt cx="12382500" cy="110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825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366" r="0" b="-16836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382500" cy="1123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Brasil e outros países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8690" y="1498282"/>
            <a:ext cx="76752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Diferentes padrões de consumo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8690" y="2069783"/>
            <a:ext cx="996124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O consumo também reflete renda, crédito e condições sociais de cada país.</a:t>
            </a:r>
          </a:p>
        </p:txBody>
      </p:sp>
      <p:sp>
        <p:nvSpPr>
          <p:cNvPr name="AutoShape 7" id="7"/>
          <p:cNvSpPr/>
          <p:nvPr/>
        </p:nvSpPr>
        <p:spPr>
          <a:xfrm rot="15300">
            <a:off x="839353" y="2662238"/>
            <a:ext cx="8036795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001875" y="500062"/>
            <a:ext cx="2071688" cy="1785938"/>
            <a:chOff x="0" y="0"/>
            <a:chExt cx="2762250" cy="2381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62250" cy="2381250"/>
            </a:xfrm>
            <a:custGeom>
              <a:avLst/>
              <a:gdLst/>
              <a:ahLst/>
              <a:cxnLst/>
              <a:rect r="r" b="b" t="t" l="l"/>
              <a:pathLst>
                <a:path h="2381250" w="2762250">
                  <a:moveTo>
                    <a:pt x="0" y="0"/>
                  </a:moveTo>
                  <a:lnTo>
                    <a:pt x="2762250" y="0"/>
                  </a:lnTo>
                  <a:lnTo>
                    <a:pt x="2762250" y="2381250"/>
                  </a:lnTo>
                  <a:lnTo>
                    <a:pt x="0" y="2381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777" r="0" b="-47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1525" y="2914650"/>
            <a:ext cx="5243512" cy="6386512"/>
            <a:chOff x="0" y="0"/>
            <a:chExt cx="6991350" cy="8515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1350" cy="8515350"/>
            </a:xfrm>
            <a:custGeom>
              <a:avLst/>
              <a:gdLst/>
              <a:ahLst/>
              <a:cxnLst/>
              <a:rect r="r" b="b" t="t" l="l"/>
              <a:pathLst>
                <a:path h="8515350" w="6991350">
                  <a:moveTo>
                    <a:pt x="0" y="153289"/>
                  </a:moveTo>
                  <a:cubicBezTo>
                    <a:pt x="0" y="68580"/>
                    <a:pt x="68580" y="0"/>
                    <a:pt x="153289" y="0"/>
                  </a:cubicBezTo>
                  <a:lnTo>
                    <a:pt x="6838061" y="0"/>
                  </a:lnTo>
                  <a:cubicBezTo>
                    <a:pt x="6922643" y="0"/>
                    <a:pt x="6991350" y="68580"/>
                    <a:pt x="6991350" y="153289"/>
                  </a:cubicBezTo>
                  <a:lnTo>
                    <a:pt x="6991350" y="8362061"/>
                  </a:lnTo>
                  <a:cubicBezTo>
                    <a:pt x="6991350" y="8446643"/>
                    <a:pt x="6922770" y="8515350"/>
                    <a:pt x="6838061" y="8515350"/>
                  </a:cubicBezTo>
                  <a:lnTo>
                    <a:pt x="153289" y="8515350"/>
                  </a:lnTo>
                  <a:cubicBezTo>
                    <a:pt x="68580" y="8515350"/>
                    <a:pt x="0" y="8446770"/>
                    <a:pt x="0" y="8362061"/>
                  </a:cubicBezTo>
                  <a:close/>
                </a:path>
              </a:pathLst>
            </a:custGeom>
            <a:solidFill>
              <a:srgbClr val="FBF8F0"/>
            </a:solidFill>
            <a:ln w="28575" cap="sq">
              <a:solidFill>
                <a:srgbClr val="55428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71562" y="3200400"/>
            <a:ext cx="828675" cy="828675"/>
            <a:chOff x="0" y="0"/>
            <a:chExt cx="1104900" cy="1104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49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04900">
                  <a:moveTo>
                    <a:pt x="0" y="552450"/>
                  </a:moveTo>
                  <a:cubicBezTo>
                    <a:pt x="0" y="247396"/>
                    <a:pt x="247396" y="0"/>
                    <a:pt x="552450" y="0"/>
                  </a:cubicBezTo>
                  <a:cubicBezTo>
                    <a:pt x="857504" y="0"/>
                    <a:pt x="1104900" y="247396"/>
                    <a:pt x="1104900" y="552450"/>
                  </a:cubicBezTo>
                  <a:cubicBezTo>
                    <a:pt x="1104900" y="857504"/>
                    <a:pt x="857504" y="1104900"/>
                    <a:pt x="552450" y="1104900"/>
                  </a:cubicBezTo>
                  <a:cubicBezTo>
                    <a:pt x="247396" y="1104900"/>
                    <a:pt x="0" y="857504"/>
                    <a:pt x="0" y="552450"/>
                  </a:cubicBezTo>
                  <a:close/>
                </a:path>
              </a:pathLst>
            </a:custGeom>
            <a:solidFill>
              <a:srgbClr val="55428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28712" y="3328988"/>
            <a:ext cx="714375" cy="571500"/>
            <a:chOff x="0" y="0"/>
            <a:chExt cx="9525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5250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8"/>
                </a:lnSpc>
              </a:pPr>
              <a:r>
                <a:rPr lang="en-US" sz="1673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EUA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28838" y="3143250"/>
            <a:ext cx="3586162" cy="571500"/>
            <a:chOff x="0" y="0"/>
            <a:chExt cx="4781550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81550" cy="762000"/>
            </a:xfrm>
            <a:custGeom>
              <a:avLst/>
              <a:gdLst/>
              <a:ahLst/>
              <a:cxnLst/>
              <a:rect r="r" b="b" t="t" l="l"/>
              <a:pathLst>
                <a:path h="7620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68" r="0" b="-722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78155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Estados Unidos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28838" y="3743325"/>
            <a:ext cx="3586162" cy="428625"/>
            <a:chOff x="0" y="0"/>
            <a:chExt cx="4781550" cy="571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81550" cy="571500"/>
            </a:xfrm>
            <a:custGeom>
              <a:avLst/>
              <a:gdLst/>
              <a:ahLst/>
              <a:cxnLst/>
              <a:rect r="r" b="b" t="t" l="l"/>
              <a:pathLst>
                <a:path h="5715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024" r="0" b="-11302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78155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4"/>
                </a:lnSpc>
              </a:pPr>
              <a:r>
                <a:rPr lang="en-US" sz="2112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alto consumo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20152" y="4398645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Consumo per capita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28712" y="4800600"/>
            <a:ext cx="4529138" cy="171450"/>
            <a:chOff x="0" y="0"/>
            <a:chExt cx="6038850" cy="228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8712" y="4800600"/>
            <a:ext cx="3713893" cy="171450"/>
            <a:chOff x="0" y="0"/>
            <a:chExt cx="4951857" cy="228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51857" cy="228600"/>
            </a:xfrm>
            <a:custGeom>
              <a:avLst/>
              <a:gdLst/>
              <a:ahLst/>
              <a:cxnLst/>
              <a:rect r="r" b="b" t="t" l="l"/>
              <a:pathLst>
                <a:path h="228600" w="4951857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837557" y="0"/>
                  </a:lnTo>
                  <a:cubicBezTo>
                    <a:pt x="4900676" y="0"/>
                    <a:pt x="4951857" y="51181"/>
                    <a:pt x="4951857" y="114300"/>
                  </a:cubicBezTo>
                  <a:cubicBezTo>
                    <a:pt x="4951857" y="177419"/>
                    <a:pt x="4900676" y="228600"/>
                    <a:pt x="4837557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55428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20152" y="5241608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Renda disponível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28712" y="5643562"/>
            <a:ext cx="4529138" cy="171450"/>
            <a:chOff x="0" y="0"/>
            <a:chExt cx="6038850" cy="228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28712" y="5643562"/>
            <a:ext cx="3895058" cy="171450"/>
            <a:chOff x="0" y="0"/>
            <a:chExt cx="5193411" cy="228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93411" cy="228600"/>
            </a:xfrm>
            <a:custGeom>
              <a:avLst/>
              <a:gdLst/>
              <a:ahLst/>
              <a:cxnLst/>
              <a:rect r="r" b="b" t="t" l="l"/>
              <a:pathLst>
                <a:path h="228600" w="5193411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079111" y="0"/>
                  </a:lnTo>
                  <a:cubicBezTo>
                    <a:pt x="5142230" y="0"/>
                    <a:pt x="5193411" y="51181"/>
                    <a:pt x="5193411" y="114300"/>
                  </a:cubicBezTo>
                  <a:cubicBezTo>
                    <a:pt x="5193411" y="177419"/>
                    <a:pt x="5142230" y="228600"/>
                    <a:pt x="5079111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55428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20152" y="6084570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Acesso ao crédito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28712" y="6486525"/>
            <a:ext cx="4529138" cy="171450"/>
            <a:chOff x="0" y="0"/>
            <a:chExt cx="6038850" cy="228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28712" y="6486525"/>
            <a:ext cx="3442144" cy="171450"/>
            <a:chOff x="0" y="0"/>
            <a:chExt cx="4589526" cy="228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89526" cy="228600"/>
            </a:xfrm>
            <a:custGeom>
              <a:avLst/>
              <a:gdLst/>
              <a:ahLst/>
              <a:cxnLst/>
              <a:rect r="r" b="b" t="t" l="l"/>
              <a:pathLst>
                <a:path h="228600" w="4589526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475226" y="0"/>
                  </a:lnTo>
                  <a:cubicBezTo>
                    <a:pt x="4538345" y="0"/>
                    <a:pt x="4589526" y="51181"/>
                    <a:pt x="4589526" y="114300"/>
                  </a:cubicBezTo>
                  <a:cubicBezTo>
                    <a:pt x="4589526" y="177419"/>
                    <a:pt x="4538345" y="228600"/>
                    <a:pt x="4475226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55428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20152" y="6927532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Poder de compra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28712" y="7329488"/>
            <a:ext cx="4529138" cy="171450"/>
            <a:chOff x="0" y="0"/>
            <a:chExt cx="6038850" cy="228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28712" y="7329488"/>
            <a:ext cx="3985641" cy="171450"/>
            <a:chOff x="0" y="0"/>
            <a:chExt cx="5314188" cy="228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14188" cy="228600"/>
            </a:xfrm>
            <a:custGeom>
              <a:avLst/>
              <a:gdLst/>
              <a:ahLst/>
              <a:cxnLst/>
              <a:rect r="r" b="b" t="t" l="l"/>
              <a:pathLst>
                <a:path h="228600" w="5314188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199888" y="0"/>
                  </a:lnTo>
                  <a:cubicBezTo>
                    <a:pt x="5263007" y="0"/>
                    <a:pt x="5314188" y="51181"/>
                    <a:pt x="5314188" y="114300"/>
                  </a:cubicBezTo>
                  <a:cubicBezTo>
                    <a:pt x="5314188" y="177419"/>
                    <a:pt x="5263007" y="228600"/>
                    <a:pt x="5199888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55428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14412" y="7858125"/>
            <a:ext cx="4757738" cy="1200150"/>
            <a:chOff x="0" y="0"/>
            <a:chExt cx="6343650" cy="1600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43650" cy="1600200"/>
            </a:xfrm>
            <a:custGeom>
              <a:avLst/>
              <a:gdLst/>
              <a:ahLst/>
              <a:cxnLst/>
              <a:rect r="r" b="b" t="t" l="l"/>
              <a:pathLst>
                <a:path h="1600200" w="63436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191250" y="0"/>
                  </a:lnTo>
                  <a:cubicBezTo>
                    <a:pt x="6275451" y="0"/>
                    <a:pt x="6343650" y="68199"/>
                    <a:pt x="6343650" y="152400"/>
                  </a:cubicBezTo>
                  <a:lnTo>
                    <a:pt x="6343650" y="1447800"/>
                  </a:lnTo>
                  <a:cubicBezTo>
                    <a:pt x="6343650" y="1532001"/>
                    <a:pt x="6275451" y="1600200"/>
                    <a:pt x="619125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close/>
                </a:path>
              </a:pathLst>
            </a:custGeom>
            <a:solidFill>
              <a:srgbClr val="55428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14438" y="8001000"/>
            <a:ext cx="4357688" cy="914400"/>
            <a:chOff x="0" y="0"/>
            <a:chExt cx="581025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102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810250">
                  <a:moveTo>
                    <a:pt x="0" y="0"/>
                  </a:moveTo>
                  <a:lnTo>
                    <a:pt x="5810250" y="0"/>
                  </a:lnTo>
                  <a:lnTo>
                    <a:pt x="581025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58" r="0" b="-4285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581025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Renda mais alta, amplo crédito e cultura voltada ao consumo.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515100" y="2914650"/>
            <a:ext cx="5243512" cy="6386512"/>
            <a:chOff x="0" y="0"/>
            <a:chExt cx="6991350" cy="85153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91350" cy="8515350"/>
            </a:xfrm>
            <a:custGeom>
              <a:avLst/>
              <a:gdLst/>
              <a:ahLst/>
              <a:cxnLst/>
              <a:rect r="r" b="b" t="t" l="l"/>
              <a:pathLst>
                <a:path h="8515350" w="6991350">
                  <a:moveTo>
                    <a:pt x="0" y="153289"/>
                  </a:moveTo>
                  <a:cubicBezTo>
                    <a:pt x="0" y="68580"/>
                    <a:pt x="68580" y="0"/>
                    <a:pt x="153289" y="0"/>
                  </a:cubicBezTo>
                  <a:lnTo>
                    <a:pt x="6838061" y="0"/>
                  </a:lnTo>
                  <a:cubicBezTo>
                    <a:pt x="6922643" y="0"/>
                    <a:pt x="6991350" y="68580"/>
                    <a:pt x="6991350" y="153289"/>
                  </a:cubicBezTo>
                  <a:lnTo>
                    <a:pt x="6991350" y="8362061"/>
                  </a:lnTo>
                  <a:cubicBezTo>
                    <a:pt x="6991350" y="8446643"/>
                    <a:pt x="6922770" y="8515350"/>
                    <a:pt x="6838061" y="8515350"/>
                  </a:cubicBezTo>
                  <a:lnTo>
                    <a:pt x="153289" y="8515350"/>
                  </a:lnTo>
                  <a:cubicBezTo>
                    <a:pt x="68580" y="8515350"/>
                    <a:pt x="0" y="8446770"/>
                    <a:pt x="0" y="8362061"/>
                  </a:cubicBezTo>
                  <a:close/>
                </a:path>
              </a:pathLst>
            </a:custGeom>
            <a:solidFill>
              <a:srgbClr val="FBF8F0"/>
            </a:solidFill>
            <a:ln w="28575" cap="sq">
              <a:solidFill>
                <a:srgbClr val="68776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6815138" y="3200400"/>
            <a:ext cx="828675" cy="828675"/>
            <a:chOff x="0" y="0"/>
            <a:chExt cx="1104900" cy="11049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49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04900">
                  <a:moveTo>
                    <a:pt x="0" y="552450"/>
                  </a:moveTo>
                  <a:cubicBezTo>
                    <a:pt x="0" y="247396"/>
                    <a:pt x="247396" y="0"/>
                    <a:pt x="552450" y="0"/>
                  </a:cubicBezTo>
                  <a:cubicBezTo>
                    <a:pt x="857504" y="0"/>
                    <a:pt x="1104900" y="247396"/>
                    <a:pt x="1104900" y="552450"/>
                  </a:cubicBezTo>
                  <a:cubicBezTo>
                    <a:pt x="1104900" y="857504"/>
                    <a:pt x="857504" y="1104900"/>
                    <a:pt x="552450" y="1104900"/>
                  </a:cubicBezTo>
                  <a:cubicBezTo>
                    <a:pt x="247396" y="1104900"/>
                    <a:pt x="0" y="857504"/>
                    <a:pt x="0" y="55245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872288" y="3328988"/>
            <a:ext cx="714375" cy="571500"/>
            <a:chOff x="0" y="0"/>
            <a:chExt cx="952500" cy="762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5250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872412" y="3143250"/>
            <a:ext cx="3586162" cy="571500"/>
            <a:chOff x="0" y="0"/>
            <a:chExt cx="4781550" cy="762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781550" cy="762000"/>
            </a:xfrm>
            <a:custGeom>
              <a:avLst/>
              <a:gdLst/>
              <a:ahLst/>
              <a:cxnLst/>
              <a:rect r="r" b="b" t="t" l="l"/>
              <a:pathLst>
                <a:path h="7620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68" r="0" b="-7226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478155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Brasil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872412" y="3743325"/>
            <a:ext cx="3586162" cy="428625"/>
            <a:chOff x="0" y="0"/>
            <a:chExt cx="4781550" cy="5715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781550" cy="571500"/>
            </a:xfrm>
            <a:custGeom>
              <a:avLst/>
              <a:gdLst/>
              <a:ahLst/>
              <a:cxnLst/>
              <a:rect r="r" b="b" t="t" l="l"/>
              <a:pathLst>
                <a:path h="5715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024" r="0" b="-11302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478155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4"/>
                </a:lnSpc>
              </a:pPr>
              <a:r>
                <a:rPr lang="en-US" sz="2112" b="true">
                  <a:solidFill>
                    <a:srgbClr val="68776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consumo intermediário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963728" y="4398645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Consumo per capita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6872288" y="4800600"/>
            <a:ext cx="4529138" cy="171450"/>
            <a:chOff x="0" y="0"/>
            <a:chExt cx="6038850" cy="228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872288" y="4800600"/>
            <a:ext cx="2491026" cy="171450"/>
            <a:chOff x="0" y="0"/>
            <a:chExt cx="3321367" cy="228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321431" cy="228600"/>
            </a:xfrm>
            <a:custGeom>
              <a:avLst/>
              <a:gdLst/>
              <a:ahLst/>
              <a:cxnLst/>
              <a:rect r="r" b="b" t="t" l="l"/>
              <a:pathLst>
                <a:path h="228600" w="3321431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3207131" y="0"/>
                  </a:lnTo>
                  <a:cubicBezTo>
                    <a:pt x="3270250" y="0"/>
                    <a:pt x="3321431" y="51181"/>
                    <a:pt x="3321431" y="114300"/>
                  </a:cubicBezTo>
                  <a:cubicBezTo>
                    <a:pt x="3321431" y="177419"/>
                    <a:pt x="3270250" y="228600"/>
                    <a:pt x="3207131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6963728" y="5241608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Renda disponível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872288" y="5643562"/>
            <a:ext cx="4529138" cy="171450"/>
            <a:chOff x="0" y="0"/>
            <a:chExt cx="6038850" cy="228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872288" y="5643562"/>
            <a:ext cx="2038112" cy="171450"/>
            <a:chOff x="0" y="0"/>
            <a:chExt cx="2717482" cy="2286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717419" cy="228600"/>
            </a:xfrm>
            <a:custGeom>
              <a:avLst/>
              <a:gdLst/>
              <a:ahLst/>
              <a:cxnLst/>
              <a:rect r="r" b="b" t="t" l="l"/>
              <a:pathLst>
                <a:path h="228600" w="2717419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603119" y="0"/>
                  </a:lnTo>
                  <a:cubicBezTo>
                    <a:pt x="2666238" y="0"/>
                    <a:pt x="2717419" y="51181"/>
                    <a:pt x="2717419" y="114300"/>
                  </a:cubicBezTo>
                  <a:cubicBezTo>
                    <a:pt x="2717419" y="177419"/>
                    <a:pt x="2666238" y="228600"/>
                    <a:pt x="2603119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6963728" y="6084570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Acesso ao crédito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6872288" y="6486525"/>
            <a:ext cx="4529138" cy="171450"/>
            <a:chOff x="0" y="0"/>
            <a:chExt cx="6038850" cy="228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872288" y="6486525"/>
            <a:ext cx="3578019" cy="171450"/>
            <a:chOff x="0" y="0"/>
            <a:chExt cx="4770692" cy="228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70755" cy="228600"/>
            </a:xfrm>
            <a:custGeom>
              <a:avLst/>
              <a:gdLst/>
              <a:ahLst/>
              <a:cxnLst/>
              <a:rect r="r" b="b" t="t" l="l"/>
              <a:pathLst>
                <a:path h="228600" w="4770755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4656455" y="0"/>
                  </a:lnTo>
                  <a:cubicBezTo>
                    <a:pt x="4719574" y="0"/>
                    <a:pt x="4770755" y="51181"/>
                    <a:pt x="4770755" y="114300"/>
                  </a:cubicBezTo>
                  <a:cubicBezTo>
                    <a:pt x="4770755" y="177419"/>
                    <a:pt x="4719574" y="228600"/>
                    <a:pt x="4656455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6963728" y="6927532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Desigualdade de renda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872288" y="7329488"/>
            <a:ext cx="4529138" cy="171450"/>
            <a:chOff x="0" y="0"/>
            <a:chExt cx="6038850" cy="228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872288" y="7329488"/>
            <a:ext cx="2264569" cy="171450"/>
            <a:chOff x="0" y="0"/>
            <a:chExt cx="3019425" cy="2286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019425" cy="228600"/>
            </a:xfrm>
            <a:custGeom>
              <a:avLst/>
              <a:gdLst/>
              <a:ahLst/>
              <a:cxnLst/>
              <a:rect r="r" b="b" t="t" l="l"/>
              <a:pathLst>
                <a:path h="228600" w="3019425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905125" y="0"/>
                  </a:lnTo>
                  <a:cubicBezTo>
                    <a:pt x="2968244" y="0"/>
                    <a:pt x="3019425" y="51181"/>
                    <a:pt x="3019425" y="114300"/>
                  </a:cubicBezTo>
                  <a:cubicBezTo>
                    <a:pt x="3019425" y="177419"/>
                    <a:pt x="2968244" y="228600"/>
                    <a:pt x="2905125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757988" y="7858125"/>
            <a:ext cx="4757738" cy="1200150"/>
            <a:chOff x="0" y="0"/>
            <a:chExt cx="6343650" cy="1600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343650" cy="1600200"/>
            </a:xfrm>
            <a:custGeom>
              <a:avLst/>
              <a:gdLst/>
              <a:ahLst/>
              <a:cxnLst/>
              <a:rect r="r" b="b" t="t" l="l"/>
              <a:pathLst>
                <a:path h="1600200" w="63436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191250" y="0"/>
                  </a:lnTo>
                  <a:cubicBezTo>
                    <a:pt x="6275451" y="0"/>
                    <a:pt x="6343650" y="68199"/>
                    <a:pt x="6343650" y="152400"/>
                  </a:cubicBezTo>
                  <a:lnTo>
                    <a:pt x="6343650" y="1447800"/>
                  </a:lnTo>
                  <a:cubicBezTo>
                    <a:pt x="6343650" y="1532001"/>
                    <a:pt x="6275451" y="1600200"/>
                    <a:pt x="619125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958012" y="8001000"/>
            <a:ext cx="4357688" cy="914400"/>
            <a:chOff x="0" y="0"/>
            <a:chExt cx="5810250" cy="1219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8102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810250">
                  <a:moveTo>
                    <a:pt x="0" y="0"/>
                  </a:moveTo>
                  <a:lnTo>
                    <a:pt x="5810250" y="0"/>
                  </a:lnTo>
                  <a:lnTo>
                    <a:pt x="581025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58" r="0" b="-4285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581025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7"/>
                </a:lnSpc>
              </a:pPr>
              <a:r>
                <a:rPr lang="en-US" sz="178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Mercado amplo, mas com desigualdade de renda e crédito caro.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258675" y="2914650"/>
            <a:ext cx="5243512" cy="6386512"/>
            <a:chOff x="0" y="0"/>
            <a:chExt cx="6991350" cy="85153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991350" cy="8515350"/>
            </a:xfrm>
            <a:custGeom>
              <a:avLst/>
              <a:gdLst/>
              <a:ahLst/>
              <a:cxnLst/>
              <a:rect r="r" b="b" t="t" l="l"/>
              <a:pathLst>
                <a:path h="8515350" w="6991350">
                  <a:moveTo>
                    <a:pt x="0" y="153289"/>
                  </a:moveTo>
                  <a:cubicBezTo>
                    <a:pt x="0" y="68580"/>
                    <a:pt x="68580" y="0"/>
                    <a:pt x="153289" y="0"/>
                  </a:cubicBezTo>
                  <a:lnTo>
                    <a:pt x="6838061" y="0"/>
                  </a:lnTo>
                  <a:cubicBezTo>
                    <a:pt x="6922643" y="0"/>
                    <a:pt x="6991350" y="68580"/>
                    <a:pt x="6991350" y="153289"/>
                  </a:cubicBezTo>
                  <a:lnTo>
                    <a:pt x="6991350" y="8362061"/>
                  </a:lnTo>
                  <a:cubicBezTo>
                    <a:pt x="6991350" y="8446643"/>
                    <a:pt x="6922770" y="8515350"/>
                    <a:pt x="6838061" y="8515350"/>
                  </a:cubicBezTo>
                  <a:lnTo>
                    <a:pt x="153289" y="8515350"/>
                  </a:lnTo>
                  <a:cubicBezTo>
                    <a:pt x="68580" y="8515350"/>
                    <a:pt x="0" y="8446770"/>
                    <a:pt x="0" y="8362061"/>
                  </a:cubicBezTo>
                  <a:close/>
                </a:path>
              </a:pathLst>
            </a:custGeom>
            <a:solidFill>
              <a:srgbClr val="FBF8F0"/>
            </a:solidFill>
            <a:ln w="28575" cap="sq">
              <a:solidFill>
                <a:srgbClr val="B79538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2558712" y="3200400"/>
            <a:ext cx="828675" cy="828675"/>
            <a:chOff x="0" y="0"/>
            <a:chExt cx="1104900" cy="11049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1049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04900">
                  <a:moveTo>
                    <a:pt x="0" y="552450"/>
                  </a:moveTo>
                  <a:cubicBezTo>
                    <a:pt x="0" y="247396"/>
                    <a:pt x="247396" y="0"/>
                    <a:pt x="552450" y="0"/>
                  </a:cubicBezTo>
                  <a:cubicBezTo>
                    <a:pt x="857504" y="0"/>
                    <a:pt x="1104900" y="247396"/>
                    <a:pt x="1104900" y="552450"/>
                  </a:cubicBezTo>
                  <a:cubicBezTo>
                    <a:pt x="1104900" y="857504"/>
                    <a:pt x="857504" y="1104900"/>
                    <a:pt x="552450" y="1104900"/>
                  </a:cubicBezTo>
                  <a:cubicBezTo>
                    <a:pt x="247396" y="1104900"/>
                    <a:pt x="0" y="857504"/>
                    <a:pt x="0" y="55245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615862" y="3328988"/>
            <a:ext cx="714375" cy="571500"/>
            <a:chOff x="0" y="0"/>
            <a:chExt cx="952500" cy="762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952500" cy="77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615988" y="3143250"/>
            <a:ext cx="3586162" cy="571500"/>
            <a:chOff x="0" y="0"/>
            <a:chExt cx="4781550" cy="762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781550" cy="762000"/>
            </a:xfrm>
            <a:custGeom>
              <a:avLst/>
              <a:gdLst/>
              <a:ahLst/>
              <a:cxnLst/>
              <a:rect r="r" b="b" t="t" l="l"/>
              <a:pathLst>
                <a:path h="7620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68" r="0" b="-72268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478155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812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Índia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615988" y="3743325"/>
            <a:ext cx="3586162" cy="428625"/>
            <a:chOff x="0" y="0"/>
            <a:chExt cx="4781550" cy="5715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781550" cy="571500"/>
            </a:xfrm>
            <a:custGeom>
              <a:avLst/>
              <a:gdLst/>
              <a:ahLst/>
              <a:cxnLst/>
              <a:rect r="r" b="b" t="t" l="l"/>
              <a:pathLst>
                <a:path h="5715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024" r="0" b="-11302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478155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4"/>
                </a:lnSpc>
              </a:pPr>
              <a:r>
                <a:rPr lang="en-US" sz="2112" b="true">
                  <a:solidFill>
                    <a:srgbClr val="B7953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menor consumo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12707302" y="4398645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Consumo per capita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12615862" y="4800600"/>
            <a:ext cx="4529138" cy="171450"/>
            <a:chOff x="0" y="0"/>
            <a:chExt cx="6038850" cy="2286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615862" y="4800600"/>
            <a:ext cx="1132284" cy="171450"/>
            <a:chOff x="0" y="0"/>
            <a:chExt cx="1509712" cy="2286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09649" cy="228600"/>
            </a:xfrm>
            <a:custGeom>
              <a:avLst/>
              <a:gdLst/>
              <a:ahLst/>
              <a:cxnLst/>
              <a:rect r="r" b="b" t="t" l="l"/>
              <a:pathLst>
                <a:path h="228600" w="1509649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395349" y="0"/>
                  </a:lnTo>
                  <a:cubicBezTo>
                    <a:pt x="1458468" y="0"/>
                    <a:pt x="1509649" y="51181"/>
                    <a:pt x="1509649" y="114300"/>
                  </a:cubicBezTo>
                  <a:cubicBezTo>
                    <a:pt x="1509649" y="177419"/>
                    <a:pt x="1458468" y="228600"/>
                    <a:pt x="1395349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sp>
        <p:nvSpPr>
          <p:cNvPr name="TextBox 104" id="104"/>
          <p:cNvSpPr txBox="true"/>
          <p:nvPr/>
        </p:nvSpPr>
        <p:spPr>
          <a:xfrm rot="0">
            <a:off x="12707302" y="5241608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Renda disponível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2615862" y="5643562"/>
            <a:ext cx="4529138" cy="171450"/>
            <a:chOff x="0" y="0"/>
            <a:chExt cx="6038850" cy="2286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2615862" y="5643562"/>
            <a:ext cx="634079" cy="171450"/>
            <a:chOff x="0" y="0"/>
            <a:chExt cx="845439" cy="228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45439" cy="228600"/>
            </a:xfrm>
            <a:custGeom>
              <a:avLst/>
              <a:gdLst/>
              <a:ahLst/>
              <a:cxnLst/>
              <a:rect r="r" b="b" t="t" l="l"/>
              <a:pathLst>
                <a:path h="228600" w="845439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731139" y="0"/>
                  </a:lnTo>
                  <a:cubicBezTo>
                    <a:pt x="794258" y="0"/>
                    <a:pt x="845439" y="51181"/>
                    <a:pt x="845439" y="114300"/>
                  </a:cubicBezTo>
                  <a:cubicBezTo>
                    <a:pt x="845439" y="177419"/>
                    <a:pt x="794258" y="228600"/>
                    <a:pt x="731139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sp>
        <p:nvSpPr>
          <p:cNvPr name="TextBox 109" id="109"/>
          <p:cNvSpPr txBox="true"/>
          <p:nvPr/>
        </p:nvSpPr>
        <p:spPr>
          <a:xfrm rot="0">
            <a:off x="12707302" y="6084570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Acesso ao crédito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12615862" y="6486525"/>
            <a:ext cx="4529138" cy="171450"/>
            <a:chOff x="0" y="0"/>
            <a:chExt cx="6038850" cy="2286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615862" y="6486525"/>
            <a:ext cx="588788" cy="171450"/>
            <a:chOff x="0" y="0"/>
            <a:chExt cx="785050" cy="2286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84987" cy="228600"/>
            </a:xfrm>
            <a:custGeom>
              <a:avLst/>
              <a:gdLst/>
              <a:ahLst/>
              <a:cxnLst/>
              <a:rect r="r" b="b" t="t" l="l"/>
              <a:pathLst>
                <a:path h="228600" w="784987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670687" y="0"/>
                  </a:lnTo>
                  <a:cubicBezTo>
                    <a:pt x="733806" y="0"/>
                    <a:pt x="784987" y="51181"/>
                    <a:pt x="784987" y="114300"/>
                  </a:cubicBezTo>
                  <a:cubicBezTo>
                    <a:pt x="784987" y="177419"/>
                    <a:pt x="733806" y="228600"/>
                    <a:pt x="670687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sp>
        <p:nvSpPr>
          <p:cNvPr name="TextBox 114" id="114"/>
          <p:cNvSpPr txBox="true"/>
          <p:nvPr/>
        </p:nvSpPr>
        <p:spPr>
          <a:xfrm rot="0">
            <a:off x="12707302" y="6927532"/>
            <a:ext cx="434625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Poder de compra</a:t>
            </a:r>
          </a:p>
        </p:txBody>
      </p:sp>
      <p:grpSp>
        <p:nvGrpSpPr>
          <p:cNvPr name="Group 115" id="115"/>
          <p:cNvGrpSpPr/>
          <p:nvPr/>
        </p:nvGrpSpPr>
        <p:grpSpPr>
          <a:xfrm rot="0">
            <a:off x="12615862" y="7329488"/>
            <a:ext cx="4529138" cy="171450"/>
            <a:chOff x="0" y="0"/>
            <a:chExt cx="6038850" cy="2286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038850" cy="228600"/>
            </a:xfrm>
            <a:custGeom>
              <a:avLst/>
              <a:gdLst/>
              <a:ahLst/>
              <a:cxnLst/>
              <a:rect r="r" b="b" t="t" l="l"/>
              <a:pathLst>
                <a:path h="228600" w="603885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5924550" y="0"/>
                  </a:lnTo>
                  <a:cubicBezTo>
                    <a:pt x="5987669" y="0"/>
                    <a:pt x="6038850" y="51181"/>
                    <a:pt x="6038850" y="114300"/>
                  </a:cubicBezTo>
                  <a:cubicBezTo>
                    <a:pt x="6038850" y="177419"/>
                    <a:pt x="5987669" y="228600"/>
                    <a:pt x="592455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DDD7C9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615862" y="7329488"/>
            <a:ext cx="951119" cy="171450"/>
            <a:chOff x="0" y="0"/>
            <a:chExt cx="1268158" cy="2286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268095" cy="228600"/>
            </a:xfrm>
            <a:custGeom>
              <a:avLst/>
              <a:gdLst/>
              <a:ahLst/>
              <a:cxnLst/>
              <a:rect r="r" b="b" t="t" l="l"/>
              <a:pathLst>
                <a:path h="228600" w="1268095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153795" y="0"/>
                  </a:lnTo>
                  <a:cubicBezTo>
                    <a:pt x="1216914" y="0"/>
                    <a:pt x="1268095" y="51181"/>
                    <a:pt x="1268095" y="114300"/>
                  </a:cubicBezTo>
                  <a:cubicBezTo>
                    <a:pt x="1268095" y="177419"/>
                    <a:pt x="1216914" y="228600"/>
                    <a:pt x="1153795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501562" y="7858125"/>
            <a:ext cx="4757738" cy="1200150"/>
            <a:chOff x="0" y="0"/>
            <a:chExt cx="6343650" cy="16002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343650" cy="1600200"/>
            </a:xfrm>
            <a:custGeom>
              <a:avLst/>
              <a:gdLst/>
              <a:ahLst/>
              <a:cxnLst/>
              <a:rect r="r" b="b" t="t" l="l"/>
              <a:pathLst>
                <a:path h="1600200" w="63436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191250" y="0"/>
                  </a:lnTo>
                  <a:cubicBezTo>
                    <a:pt x="6275451" y="0"/>
                    <a:pt x="6343650" y="68199"/>
                    <a:pt x="6343650" y="152400"/>
                  </a:cubicBezTo>
                  <a:lnTo>
                    <a:pt x="6343650" y="1447800"/>
                  </a:lnTo>
                  <a:cubicBezTo>
                    <a:pt x="6343650" y="1532001"/>
                    <a:pt x="6275451" y="1600200"/>
                    <a:pt x="6191250" y="1600200"/>
                  </a:cubicBezTo>
                  <a:lnTo>
                    <a:pt x="152400" y="1600200"/>
                  </a:lnTo>
                  <a:cubicBezTo>
                    <a:pt x="68199" y="1600200"/>
                    <a:pt x="0" y="1532001"/>
                    <a:pt x="0" y="14478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2701588" y="8001000"/>
            <a:ext cx="4357688" cy="914400"/>
            <a:chOff x="0" y="0"/>
            <a:chExt cx="5810250" cy="12192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8102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810250">
                  <a:moveTo>
                    <a:pt x="0" y="0"/>
                  </a:moveTo>
                  <a:lnTo>
                    <a:pt x="5810250" y="0"/>
                  </a:lnTo>
                  <a:lnTo>
                    <a:pt x="581025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58" r="0" b="-42858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581025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Renda menor, orçamento restrito e acesso limitado a bens e serviços.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600075"/>
            <a:ext cx="10858500" cy="828675"/>
            <a:chOff x="0" y="0"/>
            <a:chExt cx="14478000" cy="110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321" r="0" b="-2053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478000" cy="1123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Mapa da inadimplência no Brasil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8690" y="1498282"/>
            <a:ext cx="1053274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9"/>
              </a:lnSpc>
            </a:pPr>
            <a:r>
              <a:rPr lang="en-US" sz="234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Percentual da população adulta negativada por estado</a:t>
            </a:r>
          </a:p>
        </p:txBody>
      </p:sp>
      <p:sp>
        <p:nvSpPr>
          <p:cNvPr name="AutoShape 6" id="6"/>
          <p:cNvSpPr/>
          <p:nvPr/>
        </p:nvSpPr>
        <p:spPr>
          <a:xfrm rot="15300">
            <a:off x="839353" y="2147888"/>
            <a:ext cx="8036795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301953" y="2443162"/>
            <a:ext cx="8483203" cy="6786562"/>
            <a:chOff x="0" y="0"/>
            <a:chExt cx="11310938" cy="90487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11001" cy="9048750"/>
            </a:xfrm>
            <a:custGeom>
              <a:avLst/>
              <a:gdLst/>
              <a:ahLst/>
              <a:cxnLst/>
              <a:rect r="r" b="b" t="t" l="l"/>
              <a:pathLst>
                <a:path h="9048750" w="11311001">
                  <a:moveTo>
                    <a:pt x="0" y="0"/>
                  </a:moveTo>
                  <a:lnTo>
                    <a:pt x="11311001" y="0"/>
                  </a:lnTo>
                  <a:lnTo>
                    <a:pt x="11311001" y="9048750"/>
                  </a:lnTo>
                  <a:lnTo>
                    <a:pt x="0" y="9048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315700" y="2543175"/>
            <a:ext cx="3714750" cy="685800"/>
            <a:chOff x="0" y="0"/>
            <a:chExt cx="4953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53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953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Por região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407140" y="3212783"/>
            <a:ext cx="381762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adultos negativados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15700" y="3886200"/>
            <a:ext cx="5686425" cy="700088"/>
            <a:chOff x="0" y="0"/>
            <a:chExt cx="7581900" cy="933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81900" cy="933450"/>
            </a:xfrm>
            <a:custGeom>
              <a:avLst/>
              <a:gdLst/>
              <a:ahLst/>
              <a:cxnLst/>
              <a:rect r="r" b="b" t="t" l="l"/>
              <a:pathLst>
                <a:path h="933450" w="75819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429500" y="0"/>
                  </a:lnTo>
                  <a:cubicBezTo>
                    <a:pt x="7513701" y="0"/>
                    <a:pt x="7581900" y="68199"/>
                    <a:pt x="7581900" y="152400"/>
                  </a:cubicBezTo>
                  <a:lnTo>
                    <a:pt x="7581900" y="781050"/>
                  </a:lnTo>
                  <a:cubicBezTo>
                    <a:pt x="7581900" y="865251"/>
                    <a:pt x="7513701" y="933450"/>
                    <a:pt x="7429500" y="933450"/>
                  </a:cubicBezTo>
                  <a:lnTo>
                    <a:pt x="152400" y="933450"/>
                  </a:lnTo>
                  <a:cubicBezTo>
                    <a:pt x="68199" y="933450"/>
                    <a:pt x="0" y="865251"/>
                    <a:pt x="0" y="78105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572875" y="3986212"/>
            <a:ext cx="3143250" cy="485775"/>
            <a:chOff x="0" y="0"/>
            <a:chExt cx="4191000" cy="647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910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191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Norte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144750" y="3986212"/>
            <a:ext cx="1571625" cy="485775"/>
            <a:chOff x="0" y="0"/>
            <a:chExt cx="2095500" cy="647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95500" cy="647700"/>
            </a:xfrm>
            <a:custGeom>
              <a:avLst/>
              <a:gdLst/>
              <a:ahLst/>
              <a:cxnLst/>
              <a:rect r="r" b="b" t="t" l="l"/>
              <a:pathLst>
                <a:path h="647700" w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0955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48,03%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315700" y="4714875"/>
            <a:ext cx="5686425" cy="700088"/>
            <a:chOff x="0" y="0"/>
            <a:chExt cx="7581900" cy="9334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81900" cy="933450"/>
            </a:xfrm>
            <a:custGeom>
              <a:avLst/>
              <a:gdLst/>
              <a:ahLst/>
              <a:cxnLst/>
              <a:rect r="r" b="b" t="t" l="l"/>
              <a:pathLst>
                <a:path h="933450" w="75819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429500" y="0"/>
                  </a:lnTo>
                  <a:cubicBezTo>
                    <a:pt x="7513701" y="0"/>
                    <a:pt x="7581900" y="68199"/>
                    <a:pt x="7581900" y="152400"/>
                  </a:cubicBezTo>
                  <a:lnTo>
                    <a:pt x="7581900" y="781050"/>
                  </a:lnTo>
                  <a:cubicBezTo>
                    <a:pt x="7581900" y="865251"/>
                    <a:pt x="7513701" y="933450"/>
                    <a:pt x="7429500" y="933450"/>
                  </a:cubicBezTo>
                  <a:lnTo>
                    <a:pt x="152400" y="933450"/>
                  </a:lnTo>
                  <a:cubicBezTo>
                    <a:pt x="68199" y="933450"/>
                    <a:pt x="0" y="865251"/>
                    <a:pt x="0" y="78105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572875" y="4814888"/>
            <a:ext cx="3143250" cy="485775"/>
            <a:chOff x="0" y="0"/>
            <a:chExt cx="4191000" cy="6477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910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191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Nordeste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144750" y="4814888"/>
            <a:ext cx="1571625" cy="485775"/>
            <a:chOff x="0" y="0"/>
            <a:chExt cx="2095500" cy="647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5500" cy="647700"/>
            </a:xfrm>
            <a:custGeom>
              <a:avLst/>
              <a:gdLst/>
              <a:ahLst/>
              <a:cxnLst/>
              <a:rect r="r" b="b" t="t" l="l"/>
              <a:pathLst>
                <a:path h="647700" w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0955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44,13%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15700" y="5543550"/>
            <a:ext cx="5686425" cy="700088"/>
            <a:chOff x="0" y="0"/>
            <a:chExt cx="7581900" cy="9334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81900" cy="933450"/>
            </a:xfrm>
            <a:custGeom>
              <a:avLst/>
              <a:gdLst/>
              <a:ahLst/>
              <a:cxnLst/>
              <a:rect r="r" b="b" t="t" l="l"/>
              <a:pathLst>
                <a:path h="933450" w="75819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429500" y="0"/>
                  </a:lnTo>
                  <a:cubicBezTo>
                    <a:pt x="7513701" y="0"/>
                    <a:pt x="7581900" y="68199"/>
                    <a:pt x="7581900" y="152400"/>
                  </a:cubicBezTo>
                  <a:lnTo>
                    <a:pt x="7581900" y="781050"/>
                  </a:lnTo>
                  <a:cubicBezTo>
                    <a:pt x="7581900" y="865251"/>
                    <a:pt x="7513701" y="933450"/>
                    <a:pt x="7429500" y="933450"/>
                  </a:cubicBezTo>
                  <a:lnTo>
                    <a:pt x="152400" y="933450"/>
                  </a:lnTo>
                  <a:cubicBezTo>
                    <a:pt x="68199" y="933450"/>
                    <a:pt x="0" y="865251"/>
                    <a:pt x="0" y="78105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572875" y="5643562"/>
            <a:ext cx="3143250" cy="485775"/>
            <a:chOff x="0" y="0"/>
            <a:chExt cx="4191000" cy="647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910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191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Centro-Oeste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144750" y="5643562"/>
            <a:ext cx="1571625" cy="485775"/>
            <a:chOff x="0" y="0"/>
            <a:chExt cx="2095500" cy="647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95500" cy="647700"/>
            </a:xfrm>
            <a:custGeom>
              <a:avLst/>
              <a:gdLst/>
              <a:ahLst/>
              <a:cxnLst/>
              <a:rect r="r" b="b" t="t" l="l"/>
              <a:pathLst>
                <a:path h="647700" w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0955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47,80%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15700" y="6372225"/>
            <a:ext cx="5686425" cy="700088"/>
            <a:chOff x="0" y="0"/>
            <a:chExt cx="7581900" cy="9334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81900" cy="933450"/>
            </a:xfrm>
            <a:custGeom>
              <a:avLst/>
              <a:gdLst/>
              <a:ahLst/>
              <a:cxnLst/>
              <a:rect r="r" b="b" t="t" l="l"/>
              <a:pathLst>
                <a:path h="933450" w="75819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429500" y="0"/>
                  </a:lnTo>
                  <a:cubicBezTo>
                    <a:pt x="7513701" y="0"/>
                    <a:pt x="7581900" y="68199"/>
                    <a:pt x="7581900" y="152400"/>
                  </a:cubicBezTo>
                  <a:lnTo>
                    <a:pt x="7581900" y="781050"/>
                  </a:lnTo>
                  <a:cubicBezTo>
                    <a:pt x="7581900" y="865251"/>
                    <a:pt x="7513701" y="933450"/>
                    <a:pt x="7429500" y="933450"/>
                  </a:cubicBezTo>
                  <a:lnTo>
                    <a:pt x="152400" y="933450"/>
                  </a:lnTo>
                  <a:cubicBezTo>
                    <a:pt x="68199" y="933450"/>
                    <a:pt x="0" y="865251"/>
                    <a:pt x="0" y="781050"/>
                  </a:cubicBezTo>
                  <a:close/>
                </a:path>
              </a:pathLst>
            </a:custGeom>
            <a:solidFill>
              <a:srgbClr val="55428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572875" y="6472238"/>
            <a:ext cx="3143250" cy="485775"/>
            <a:chOff x="0" y="0"/>
            <a:chExt cx="4191000" cy="6477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910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191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Sudeste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144750" y="6472238"/>
            <a:ext cx="1571625" cy="485775"/>
            <a:chOff x="0" y="0"/>
            <a:chExt cx="2095500" cy="647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95500" cy="647700"/>
            </a:xfrm>
            <a:custGeom>
              <a:avLst/>
              <a:gdLst/>
              <a:ahLst/>
              <a:cxnLst/>
              <a:rect r="r" b="b" t="t" l="l"/>
              <a:pathLst>
                <a:path h="647700" w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0955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27,0%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315700" y="7200900"/>
            <a:ext cx="5686425" cy="700088"/>
            <a:chOff x="0" y="0"/>
            <a:chExt cx="7581900" cy="9334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81900" cy="933450"/>
            </a:xfrm>
            <a:custGeom>
              <a:avLst/>
              <a:gdLst/>
              <a:ahLst/>
              <a:cxnLst/>
              <a:rect r="r" b="b" t="t" l="l"/>
              <a:pathLst>
                <a:path h="933450" w="75819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429500" y="0"/>
                  </a:lnTo>
                  <a:cubicBezTo>
                    <a:pt x="7513701" y="0"/>
                    <a:pt x="7581900" y="68199"/>
                    <a:pt x="7581900" y="152400"/>
                  </a:cubicBezTo>
                  <a:lnTo>
                    <a:pt x="7581900" y="781050"/>
                  </a:lnTo>
                  <a:cubicBezTo>
                    <a:pt x="7581900" y="865251"/>
                    <a:pt x="7513701" y="933450"/>
                    <a:pt x="7429500" y="933450"/>
                  </a:cubicBezTo>
                  <a:lnTo>
                    <a:pt x="152400" y="933450"/>
                  </a:lnTo>
                  <a:cubicBezTo>
                    <a:pt x="68199" y="933450"/>
                    <a:pt x="0" y="865251"/>
                    <a:pt x="0" y="78105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572875" y="7300912"/>
            <a:ext cx="3143250" cy="485775"/>
            <a:chOff x="0" y="0"/>
            <a:chExt cx="4191000" cy="647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910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079" r="0" b="-7607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4191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144750" y="7300912"/>
            <a:ext cx="1571625" cy="485775"/>
            <a:chOff x="0" y="0"/>
            <a:chExt cx="2095500" cy="6477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95500" cy="647700"/>
            </a:xfrm>
            <a:custGeom>
              <a:avLst/>
              <a:gdLst/>
              <a:ahLst/>
              <a:cxnLst/>
              <a:rect r="r" b="b" t="t" l="l"/>
              <a:pathLst>
                <a:path h="647700" w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039" r="0" b="-1303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0955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41,5%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315700" y="8272462"/>
            <a:ext cx="1571625" cy="428625"/>
            <a:chOff x="0" y="0"/>
            <a:chExt cx="2095500" cy="571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95500" cy="571500"/>
            </a:xfrm>
            <a:custGeom>
              <a:avLst/>
              <a:gdLst/>
              <a:ahLst/>
              <a:cxnLst/>
              <a:rect r="r" b="b" t="t" l="l"/>
              <a:pathLst>
                <a:path h="571500" w="2095500">
                  <a:moveTo>
                    <a:pt x="0" y="0"/>
                  </a:moveTo>
                  <a:lnTo>
                    <a:pt x="2095500" y="0"/>
                  </a:lnTo>
                  <a:lnTo>
                    <a:pt x="2095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20955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68776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BRASIL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830175" y="7958138"/>
            <a:ext cx="3357562" cy="942975"/>
            <a:chOff x="0" y="0"/>
            <a:chExt cx="4476750" cy="12573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767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78" r="0" b="-1937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447675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43,90%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378565" y="8908732"/>
            <a:ext cx="553212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2063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Dados apresentados no material enviado. Fonte indicada: BCB, dezembro de 2025.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600075"/>
            <a:ext cx="10287000" cy="828675"/>
            <a:chOff x="0" y="0"/>
            <a:chExt cx="13716000" cy="110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1883" r="0" b="-19188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3716000" cy="1123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 cenário do consumo consciente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8690" y="1498282"/>
            <a:ext cx="106756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A maioria ainda não incorpora escolhas conscientes à rotina de compra</a:t>
            </a:r>
          </a:p>
        </p:txBody>
      </p:sp>
      <p:sp>
        <p:nvSpPr>
          <p:cNvPr name="AutoShape 6" id="6"/>
          <p:cNvSpPr/>
          <p:nvPr/>
        </p:nvSpPr>
        <p:spPr>
          <a:xfrm rot="15300">
            <a:off x="839353" y="2147888"/>
            <a:ext cx="8036795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00212" y="2671763"/>
            <a:ext cx="7029450" cy="6386513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885825" y="3514725"/>
            <a:ext cx="2428875" cy="1114425"/>
            <a:chOff x="0" y="0"/>
            <a:chExt cx="3238500" cy="1485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385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1485900"/>
                  </a:lnTo>
                  <a:lnTo>
                    <a:pt x="0" y="1485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868" t="0" r="-886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238500" cy="1514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89"/>
                </a:lnSpc>
              </a:pPr>
              <a:r>
                <a:rPr lang="en-US" sz="6075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76%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5825" y="4614862"/>
            <a:ext cx="2428875" cy="485775"/>
            <a:chOff x="0" y="0"/>
            <a:chExt cx="3238500" cy="647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38500" cy="647700"/>
            </a:xfrm>
            <a:custGeom>
              <a:avLst/>
              <a:gdLst/>
              <a:ahLst/>
              <a:cxnLst/>
              <a:rect r="r" b="b" t="t" l="l"/>
              <a:pathLst>
                <a:path h="647700" w="3238500">
                  <a:moveTo>
                    <a:pt x="0" y="0"/>
                  </a:moveTo>
                  <a:lnTo>
                    <a:pt x="3238500" y="0"/>
                  </a:lnTo>
                  <a:lnTo>
                    <a:pt x="3238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2385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não praticam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77265" y="5179695"/>
            <a:ext cx="224599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212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consumo consciente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14425" y="8643938"/>
            <a:ext cx="257175" cy="257175"/>
            <a:chOff x="0" y="0"/>
            <a:chExt cx="342900" cy="342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2900" cy="342900"/>
            </a:xfrm>
            <a:custGeom>
              <a:avLst/>
              <a:gdLst/>
              <a:ahLst/>
              <a:cxnLst/>
              <a:rect r="r" b="b" t="t" l="l"/>
              <a:pathLst>
                <a:path h="342900" w="342900">
                  <a:moveTo>
                    <a:pt x="0" y="171450"/>
                  </a:moveTo>
                  <a:cubicBezTo>
                    <a:pt x="0" y="76708"/>
                    <a:pt x="76708" y="0"/>
                    <a:pt x="171450" y="0"/>
                  </a:cubicBezTo>
                  <a:cubicBezTo>
                    <a:pt x="266192" y="0"/>
                    <a:pt x="342900" y="76708"/>
                    <a:pt x="342900" y="171450"/>
                  </a:cubicBezTo>
                  <a:cubicBezTo>
                    <a:pt x="342900" y="266192"/>
                    <a:pt x="266192" y="342900"/>
                    <a:pt x="171450" y="342900"/>
                  </a:cubicBezTo>
                  <a:cubicBezTo>
                    <a:pt x="76708" y="342900"/>
                    <a:pt x="0" y="266192"/>
                    <a:pt x="0" y="17145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71600" y="8472488"/>
            <a:ext cx="5143500" cy="600075"/>
            <a:chOff x="0" y="0"/>
            <a:chExt cx="6858000" cy="800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0" cy="800100"/>
            </a:xfrm>
            <a:custGeom>
              <a:avLst/>
              <a:gdLst/>
              <a:ahLst/>
              <a:cxnLst/>
              <a:rect r="r" b="b" t="t" l="l"/>
              <a:pathLst>
                <a:path h="8001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85800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34"/>
                </a:lnSpc>
              </a:pPr>
              <a:r>
                <a:rPr lang="en-US" sz="2112" b="true">
                  <a:solidFill>
                    <a:srgbClr val="68776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24% praticam consumo consciente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15400" y="2714625"/>
            <a:ext cx="7858125" cy="600075"/>
            <a:chOff x="0" y="0"/>
            <a:chExt cx="10477500" cy="800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77500" cy="800100"/>
            </a:xfrm>
            <a:custGeom>
              <a:avLst/>
              <a:gdLst/>
              <a:ahLst/>
              <a:cxnLst/>
              <a:rect r="r" b="b" t="t" l="l"/>
              <a:pathLst>
                <a:path h="8001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161" r="0" b="-20516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4775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3037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Quem compõe os 24% conscientes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006840" y="3388995"/>
            <a:ext cx="667512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Perfil predominante dentro desse grupo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15400" y="4229100"/>
            <a:ext cx="1914525" cy="1171575"/>
            <a:chOff x="0" y="0"/>
            <a:chExt cx="2552700" cy="1562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52700" cy="1562100"/>
            </a:xfrm>
            <a:custGeom>
              <a:avLst/>
              <a:gdLst/>
              <a:ahLst/>
              <a:cxnLst/>
              <a:rect r="r" b="b" t="t" l="l"/>
              <a:pathLst>
                <a:path h="1562100" w="2552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400300" y="0"/>
                  </a:lnTo>
                  <a:cubicBezTo>
                    <a:pt x="2484501" y="0"/>
                    <a:pt x="2552700" y="68199"/>
                    <a:pt x="2552700" y="152400"/>
                  </a:cubicBezTo>
                  <a:lnTo>
                    <a:pt x="2552700" y="1409700"/>
                  </a:lnTo>
                  <a:cubicBezTo>
                    <a:pt x="2552700" y="1493901"/>
                    <a:pt x="2484501" y="1562100"/>
                    <a:pt x="2400300" y="1562100"/>
                  </a:cubicBezTo>
                  <a:lnTo>
                    <a:pt x="152400" y="1562100"/>
                  </a:lnTo>
                  <a:cubicBezTo>
                    <a:pt x="68199" y="1562100"/>
                    <a:pt x="0" y="1493901"/>
                    <a:pt x="0" y="14097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072562" y="4357688"/>
            <a:ext cx="1600200" cy="885825"/>
            <a:chOff x="0" y="0"/>
            <a:chExt cx="2133600" cy="1181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336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25" t="0" r="-2102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133600" cy="1200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24%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29975" y="4357688"/>
            <a:ext cx="5772150" cy="885825"/>
            <a:chOff x="0" y="0"/>
            <a:chExt cx="7696200" cy="1181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96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7696200">
                  <a:moveTo>
                    <a:pt x="0" y="0"/>
                  </a:moveTo>
                  <a:lnTo>
                    <a:pt x="7696200" y="0"/>
                  </a:lnTo>
                  <a:lnTo>
                    <a:pt x="7696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967" r="0" b="-769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7696200" cy="119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acima de 65 anos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12720">
            <a:off x="11219240" y="5324475"/>
            <a:ext cx="5793619" cy="0"/>
          </a:xfrm>
          <a:prstGeom prst="line">
            <a:avLst/>
          </a:prstGeom>
          <a:ln cap="rnd" w="9525">
            <a:solidFill>
              <a:srgbClr val="E8E1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8915400" y="5772150"/>
            <a:ext cx="1914525" cy="1171575"/>
            <a:chOff x="0" y="0"/>
            <a:chExt cx="2552700" cy="1562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52700" cy="1562100"/>
            </a:xfrm>
            <a:custGeom>
              <a:avLst/>
              <a:gdLst/>
              <a:ahLst/>
              <a:cxnLst/>
              <a:rect r="r" b="b" t="t" l="l"/>
              <a:pathLst>
                <a:path h="1562100" w="2552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400300" y="0"/>
                  </a:lnTo>
                  <a:cubicBezTo>
                    <a:pt x="2484501" y="0"/>
                    <a:pt x="2552700" y="68199"/>
                    <a:pt x="2552700" y="152400"/>
                  </a:cubicBezTo>
                  <a:lnTo>
                    <a:pt x="2552700" y="1409700"/>
                  </a:lnTo>
                  <a:cubicBezTo>
                    <a:pt x="2552700" y="1493901"/>
                    <a:pt x="2484501" y="1562100"/>
                    <a:pt x="2400300" y="1562100"/>
                  </a:cubicBezTo>
                  <a:lnTo>
                    <a:pt x="152400" y="1562100"/>
                  </a:lnTo>
                  <a:cubicBezTo>
                    <a:pt x="68199" y="1562100"/>
                    <a:pt x="0" y="1493901"/>
                    <a:pt x="0" y="14097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072562" y="5900738"/>
            <a:ext cx="1600200" cy="885825"/>
            <a:chOff x="0" y="0"/>
            <a:chExt cx="2133600" cy="1181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36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25" t="0" r="-2102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33600" cy="1200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52%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29975" y="5900738"/>
            <a:ext cx="5772150" cy="885825"/>
            <a:chOff x="0" y="0"/>
            <a:chExt cx="7696200" cy="1181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96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7696200">
                  <a:moveTo>
                    <a:pt x="0" y="0"/>
                  </a:moveTo>
                  <a:lnTo>
                    <a:pt x="7696200" y="0"/>
                  </a:lnTo>
                  <a:lnTo>
                    <a:pt x="7696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967" r="0" b="-769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7696200" cy="119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pertencem à classe AB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12720">
            <a:off x="11219240" y="6867525"/>
            <a:ext cx="5793619" cy="0"/>
          </a:xfrm>
          <a:prstGeom prst="line">
            <a:avLst/>
          </a:prstGeom>
          <a:ln cap="rnd" w="9525">
            <a:solidFill>
              <a:srgbClr val="E8E1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8915400" y="7315200"/>
            <a:ext cx="1914525" cy="1171575"/>
            <a:chOff x="0" y="0"/>
            <a:chExt cx="2552700" cy="15621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52700" cy="1562100"/>
            </a:xfrm>
            <a:custGeom>
              <a:avLst/>
              <a:gdLst/>
              <a:ahLst/>
              <a:cxnLst/>
              <a:rect r="r" b="b" t="t" l="l"/>
              <a:pathLst>
                <a:path h="1562100" w="2552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400300" y="0"/>
                  </a:lnTo>
                  <a:cubicBezTo>
                    <a:pt x="2484501" y="0"/>
                    <a:pt x="2552700" y="68199"/>
                    <a:pt x="2552700" y="152400"/>
                  </a:cubicBezTo>
                  <a:lnTo>
                    <a:pt x="2552700" y="1409700"/>
                  </a:lnTo>
                  <a:cubicBezTo>
                    <a:pt x="2552700" y="1493901"/>
                    <a:pt x="2484501" y="1562100"/>
                    <a:pt x="2400300" y="1562100"/>
                  </a:cubicBezTo>
                  <a:lnTo>
                    <a:pt x="152400" y="1562100"/>
                  </a:lnTo>
                  <a:cubicBezTo>
                    <a:pt x="68199" y="1562100"/>
                    <a:pt x="0" y="1493901"/>
                    <a:pt x="0" y="14097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072562" y="7443788"/>
            <a:ext cx="1600200" cy="885825"/>
            <a:chOff x="0" y="0"/>
            <a:chExt cx="2133600" cy="11811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336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25" t="0" r="-2102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133600" cy="1200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40%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229975" y="7443788"/>
            <a:ext cx="5772150" cy="885825"/>
            <a:chOff x="0" y="0"/>
            <a:chExt cx="7696200" cy="11811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96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7696200">
                  <a:moveTo>
                    <a:pt x="0" y="0"/>
                  </a:moveTo>
                  <a:lnTo>
                    <a:pt x="7696200" y="0"/>
                  </a:lnTo>
                  <a:lnTo>
                    <a:pt x="7696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967" r="0" b="-769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7696200" cy="119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têm ensino superior completo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12720">
            <a:off x="11219240" y="8410575"/>
            <a:ext cx="5793619" cy="0"/>
          </a:xfrm>
          <a:prstGeom prst="line">
            <a:avLst/>
          </a:prstGeom>
          <a:ln cap="rnd" w="9525">
            <a:solidFill>
              <a:srgbClr val="E8E1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600075"/>
            <a:ext cx="10001250" cy="828675"/>
            <a:chOff x="0" y="0"/>
            <a:chExt cx="13335000" cy="110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5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3335000">
                  <a:moveTo>
                    <a:pt x="0" y="0"/>
                  </a:moveTo>
                  <a:lnTo>
                    <a:pt x="13335000" y="0"/>
                  </a:lnTo>
                  <a:lnTo>
                    <a:pt x="133350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164" r="0" b="-18516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3335000" cy="1123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Endividamento em Mato Grosso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8690" y="1498282"/>
            <a:ext cx="106756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O custo de vida pressiona o orçamento e amplia a restrição de crédito</a:t>
            </a:r>
          </a:p>
        </p:txBody>
      </p:sp>
      <p:sp>
        <p:nvSpPr>
          <p:cNvPr name="AutoShape 6" id="6"/>
          <p:cNvSpPr/>
          <p:nvPr/>
        </p:nvSpPr>
        <p:spPr>
          <a:xfrm rot="15300">
            <a:off x="839353" y="2147888"/>
            <a:ext cx="8036795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673142" y="2928938"/>
            <a:ext cx="3225965" cy="4714875"/>
            <a:chOff x="0" y="0"/>
            <a:chExt cx="4301287" cy="6286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01236" cy="6286500"/>
            </a:xfrm>
            <a:custGeom>
              <a:avLst/>
              <a:gdLst/>
              <a:ahLst/>
              <a:cxnLst/>
              <a:rect r="r" b="b" t="t" l="l"/>
              <a:pathLst>
                <a:path h="6286500" w="4301236">
                  <a:moveTo>
                    <a:pt x="0" y="0"/>
                  </a:moveTo>
                  <a:lnTo>
                    <a:pt x="4301236" y="0"/>
                  </a:lnTo>
                  <a:lnTo>
                    <a:pt x="4301236" y="6286500"/>
                  </a:lnTo>
                  <a:lnTo>
                    <a:pt x="0" y="628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1562" y="7786688"/>
            <a:ext cx="4286250" cy="571500"/>
            <a:chOff x="0" y="0"/>
            <a:chExt cx="5715000" cy="762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1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71500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587" b="true">
                  <a:solidFill>
                    <a:srgbClr val="68776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MATO GROSSO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29375" y="3114675"/>
            <a:ext cx="3143250" cy="2800350"/>
            <a:chOff x="0" y="0"/>
            <a:chExt cx="4191000" cy="3733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910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4191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038600" y="0"/>
                  </a:lnTo>
                  <a:cubicBezTo>
                    <a:pt x="4122801" y="0"/>
                    <a:pt x="4191000" y="68199"/>
                    <a:pt x="4191000" y="152400"/>
                  </a:cubicBezTo>
                  <a:lnTo>
                    <a:pt x="4191000" y="3581400"/>
                  </a:lnTo>
                  <a:cubicBezTo>
                    <a:pt x="4191000" y="3665601"/>
                    <a:pt x="4122801" y="3733800"/>
                    <a:pt x="4038600" y="3733800"/>
                  </a:cubicBezTo>
                  <a:lnTo>
                    <a:pt x="152400" y="3733800"/>
                  </a:lnTo>
                  <a:cubicBezTo>
                    <a:pt x="68199" y="3733800"/>
                    <a:pt x="0" y="3665601"/>
                    <a:pt x="0" y="35814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00825" y="3457575"/>
            <a:ext cx="2800350" cy="1143000"/>
            <a:chOff x="0" y="0"/>
            <a:chExt cx="37338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33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733800" cy="1552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51"/>
                </a:lnSpc>
              </a:pPr>
              <a:r>
                <a:rPr lang="en-US" sz="3626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+1,4 milhão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86550" y="4714875"/>
            <a:ext cx="2628900" cy="885825"/>
            <a:chOff x="0" y="0"/>
            <a:chExt cx="3505200" cy="1181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05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6" r="0" b="-78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505200" cy="119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inadimplentes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01250" y="3114675"/>
            <a:ext cx="3143250" cy="2800350"/>
            <a:chOff x="0" y="0"/>
            <a:chExt cx="4191000" cy="3733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910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4191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038600" y="0"/>
                  </a:lnTo>
                  <a:cubicBezTo>
                    <a:pt x="4122801" y="0"/>
                    <a:pt x="4191000" y="68199"/>
                    <a:pt x="4191000" y="152400"/>
                  </a:cubicBezTo>
                  <a:lnTo>
                    <a:pt x="4191000" y="3581400"/>
                  </a:lnTo>
                  <a:cubicBezTo>
                    <a:pt x="4191000" y="3665601"/>
                    <a:pt x="4122801" y="3733800"/>
                    <a:pt x="4038600" y="3733800"/>
                  </a:cubicBezTo>
                  <a:lnTo>
                    <a:pt x="152400" y="3733800"/>
                  </a:lnTo>
                  <a:cubicBezTo>
                    <a:pt x="68199" y="3733800"/>
                    <a:pt x="0" y="3665601"/>
                    <a:pt x="0" y="35814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172700" y="3457575"/>
            <a:ext cx="2800350" cy="1143000"/>
            <a:chOff x="0" y="0"/>
            <a:chExt cx="37338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33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733800" cy="154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65"/>
                </a:lnSpc>
              </a:pPr>
              <a:r>
                <a:rPr lang="en-US" sz="43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+R$ 11 bi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58425" y="4714875"/>
            <a:ext cx="2628900" cy="885825"/>
            <a:chOff x="0" y="0"/>
            <a:chExt cx="3505200" cy="1181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05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6" r="0" b="-782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505200" cy="119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em dívidas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573125" y="3114675"/>
            <a:ext cx="3143250" cy="2800350"/>
            <a:chOff x="0" y="0"/>
            <a:chExt cx="4191000" cy="3733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910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41910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038600" y="0"/>
                  </a:lnTo>
                  <a:cubicBezTo>
                    <a:pt x="4122801" y="0"/>
                    <a:pt x="4191000" y="68199"/>
                    <a:pt x="4191000" y="152400"/>
                  </a:cubicBezTo>
                  <a:lnTo>
                    <a:pt x="4191000" y="3581400"/>
                  </a:lnTo>
                  <a:cubicBezTo>
                    <a:pt x="4191000" y="3665601"/>
                    <a:pt x="4122801" y="3733800"/>
                    <a:pt x="4038600" y="3733800"/>
                  </a:cubicBezTo>
                  <a:lnTo>
                    <a:pt x="152400" y="3733800"/>
                  </a:lnTo>
                  <a:cubicBezTo>
                    <a:pt x="68199" y="3733800"/>
                    <a:pt x="0" y="3665601"/>
                    <a:pt x="0" y="35814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744575" y="3457575"/>
            <a:ext cx="2800350" cy="1143000"/>
            <a:chOff x="0" y="0"/>
            <a:chExt cx="3733800" cy="1524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33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733800" cy="1543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65"/>
                </a:lnSpc>
              </a:pPr>
              <a:r>
                <a:rPr lang="en-US" sz="43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43,8%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830300" y="4714875"/>
            <a:ext cx="2628900" cy="885825"/>
            <a:chOff x="0" y="0"/>
            <a:chExt cx="3505200" cy="1181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05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6" r="0" b="-78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505200" cy="1190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7"/>
                </a:lnSpc>
              </a:pPr>
              <a:r>
                <a:rPr lang="en-US" sz="2456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 restrição de crédito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415088" y="6472238"/>
            <a:ext cx="10315575" cy="1714500"/>
            <a:chOff x="0" y="0"/>
            <a:chExt cx="13754100" cy="2286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7541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3754100">
                  <a:moveTo>
                    <a:pt x="0" y="154940"/>
                  </a:moveTo>
                  <a:cubicBezTo>
                    <a:pt x="0" y="69342"/>
                    <a:pt x="69342" y="0"/>
                    <a:pt x="154940" y="0"/>
                  </a:cubicBezTo>
                  <a:lnTo>
                    <a:pt x="13599161" y="0"/>
                  </a:lnTo>
                  <a:cubicBezTo>
                    <a:pt x="13684758" y="0"/>
                    <a:pt x="13754100" y="69342"/>
                    <a:pt x="13754100" y="154940"/>
                  </a:cubicBezTo>
                  <a:lnTo>
                    <a:pt x="13754100" y="2131060"/>
                  </a:lnTo>
                  <a:cubicBezTo>
                    <a:pt x="13754100" y="2216658"/>
                    <a:pt x="13684758" y="2286000"/>
                    <a:pt x="13599161" y="2286000"/>
                  </a:cubicBezTo>
                  <a:lnTo>
                    <a:pt x="154940" y="2286000"/>
                  </a:lnTo>
                  <a:cubicBezTo>
                    <a:pt x="69342" y="2286000"/>
                    <a:pt x="0" y="2216658"/>
                    <a:pt x="0" y="2131060"/>
                  </a:cubicBezTo>
                  <a:close/>
                </a:path>
              </a:pathLst>
            </a:custGeom>
            <a:solidFill>
              <a:srgbClr val="FBF8F0"/>
            </a:solidFill>
            <a:ln w="28575" cap="sq">
              <a:solidFill>
                <a:srgbClr val="B7953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886575" y="6743700"/>
            <a:ext cx="3571875" cy="428625"/>
            <a:chOff x="0" y="0"/>
            <a:chExt cx="4762500" cy="571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62500" cy="571500"/>
            </a:xfrm>
            <a:custGeom>
              <a:avLst/>
              <a:gdLst/>
              <a:ahLst/>
              <a:cxnLst/>
              <a:rect r="r" b="b" t="t" l="l"/>
              <a:pathLst>
                <a:path h="5715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76250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4"/>
                </a:lnSpc>
              </a:pPr>
              <a:r>
                <a:rPr lang="en-US" sz="1912" b="true">
                  <a:solidFill>
                    <a:srgbClr val="B7953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PRINCIPAL PRESSÃO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86575" y="7215188"/>
            <a:ext cx="9286875" cy="714375"/>
            <a:chOff x="0" y="0"/>
            <a:chExt cx="12382500" cy="952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382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23825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85"/>
                </a:lnSpc>
              </a:pPr>
              <a:r>
                <a:rPr lang="en-US" sz="3487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Alto custo de vida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600075"/>
            <a:ext cx="9429750" cy="828675"/>
            <a:chOff x="0" y="0"/>
            <a:chExt cx="12573000" cy="110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73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2573000">
                  <a:moveTo>
                    <a:pt x="0" y="0"/>
                  </a:moveTo>
                  <a:lnTo>
                    <a:pt x="12573000" y="0"/>
                  </a:lnTo>
                  <a:lnTo>
                    <a:pt x="125730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726" r="0" b="-17172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573000" cy="1123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Cuiabá e Várzea Grande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8690" y="1498282"/>
            <a:ext cx="101041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Duas cidades conectadas pela mesma dinâmica de renda e crédito</a:t>
            </a:r>
          </a:p>
        </p:txBody>
      </p:sp>
      <p:sp>
        <p:nvSpPr>
          <p:cNvPr name="AutoShape 6" id="6"/>
          <p:cNvSpPr/>
          <p:nvPr/>
        </p:nvSpPr>
        <p:spPr>
          <a:xfrm rot="15300">
            <a:off x="839353" y="2147888"/>
            <a:ext cx="8036795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501312" y="0"/>
            <a:ext cx="7786688" cy="3400425"/>
            <a:chOff x="0" y="0"/>
            <a:chExt cx="10382250" cy="4533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82250" cy="4533900"/>
            </a:xfrm>
            <a:custGeom>
              <a:avLst/>
              <a:gdLst/>
              <a:ahLst/>
              <a:cxnLst/>
              <a:rect r="r" b="b" t="t" l="l"/>
              <a:pathLst>
                <a:path h="4533900" w="10382250">
                  <a:moveTo>
                    <a:pt x="0" y="0"/>
                  </a:moveTo>
                  <a:lnTo>
                    <a:pt x="10382250" y="0"/>
                  </a:lnTo>
                  <a:lnTo>
                    <a:pt x="10382250" y="4533900"/>
                  </a:lnTo>
                  <a:lnTo>
                    <a:pt x="0" y="453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8732" t="0" r="-4873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4378" y="3400425"/>
            <a:ext cx="5429250" cy="1371600"/>
            <a:chOff x="0" y="0"/>
            <a:chExt cx="7239000" cy="182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390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128" r="0" b="-2712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23900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370"/>
                </a:lnSpc>
              </a:pPr>
              <a:r>
                <a:rPr lang="en-US" sz="6975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83% a 86%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4380" y="4787265"/>
            <a:ext cx="5389245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 b="true">
                <a:solidFill>
                  <a:srgbClr val="202426"/>
                </a:solidFill>
                <a:latin typeface="Arimo Bold"/>
                <a:ea typeface="Arimo Bold"/>
                <a:cs typeface="Arimo Bold"/>
                <a:sym typeface="Arimo Bold"/>
              </a:rPr>
              <a:t>das famílias possuem dívidas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000875" y="4143375"/>
            <a:ext cx="4143375" cy="2714625"/>
            <a:chOff x="0" y="0"/>
            <a:chExt cx="5524500" cy="3619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245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5524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372100" y="0"/>
                  </a:lnTo>
                  <a:cubicBezTo>
                    <a:pt x="5456301" y="0"/>
                    <a:pt x="5524500" y="68199"/>
                    <a:pt x="5524500" y="152400"/>
                  </a:cubicBezTo>
                  <a:lnTo>
                    <a:pt x="5524500" y="3467100"/>
                  </a:lnTo>
                  <a:cubicBezTo>
                    <a:pt x="5524500" y="3551301"/>
                    <a:pt x="5456301" y="3619500"/>
                    <a:pt x="5372100" y="3619500"/>
                  </a:cubicBezTo>
                  <a:lnTo>
                    <a:pt x="152400" y="3619500"/>
                  </a:lnTo>
                  <a:cubicBezTo>
                    <a:pt x="68199" y="3619500"/>
                    <a:pt x="0" y="3551301"/>
                    <a:pt x="0" y="34671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286625" y="4400550"/>
            <a:ext cx="3571875" cy="1257300"/>
            <a:chOff x="0" y="0"/>
            <a:chExt cx="4762500" cy="167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625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55" r="0" b="-535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762500" cy="170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84"/>
                </a:lnSpc>
              </a:pPr>
              <a:r>
                <a:rPr lang="en-US" sz="573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+40 mil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343775" y="5772150"/>
            <a:ext cx="3457575" cy="857250"/>
            <a:chOff x="0" y="0"/>
            <a:chExt cx="4610100" cy="114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101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4610100">
                  <a:moveTo>
                    <a:pt x="0" y="0"/>
                  </a:moveTo>
                  <a:lnTo>
                    <a:pt x="4610100" y="0"/>
                  </a:lnTo>
                  <a:lnTo>
                    <a:pt x="46101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89" r="0" b="-2858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610100" cy="1152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4"/>
                </a:lnSpc>
              </a:pPr>
              <a:r>
                <a:rPr lang="en-US" sz="236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famílias com contas atrasadas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15750" y="4143375"/>
            <a:ext cx="4143375" cy="2714625"/>
            <a:chOff x="0" y="0"/>
            <a:chExt cx="5524500" cy="3619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24500" cy="3619500"/>
            </a:xfrm>
            <a:custGeom>
              <a:avLst/>
              <a:gdLst/>
              <a:ahLst/>
              <a:cxnLst/>
              <a:rect r="r" b="b" t="t" l="l"/>
              <a:pathLst>
                <a:path h="3619500" w="5524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5372100" y="0"/>
                  </a:lnTo>
                  <a:cubicBezTo>
                    <a:pt x="5456301" y="0"/>
                    <a:pt x="5524500" y="68199"/>
                    <a:pt x="5524500" y="152400"/>
                  </a:cubicBezTo>
                  <a:lnTo>
                    <a:pt x="5524500" y="3467100"/>
                  </a:lnTo>
                  <a:cubicBezTo>
                    <a:pt x="5524500" y="3551301"/>
                    <a:pt x="5456301" y="3619500"/>
                    <a:pt x="5372100" y="3619500"/>
                  </a:cubicBezTo>
                  <a:lnTo>
                    <a:pt x="152400" y="3619500"/>
                  </a:lnTo>
                  <a:cubicBezTo>
                    <a:pt x="68199" y="3619500"/>
                    <a:pt x="0" y="3551301"/>
                    <a:pt x="0" y="34671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001500" y="4400550"/>
            <a:ext cx="3571875" cy="1257300"/>
            <a:chOff x="0" y="0"/>
            <a:chExt cx="4762500" cy="167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625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4762500">
                  <a:moveTo>
                    <a:pt x="0" y="0"/>
                  </a:moveTo>
                  <a:lnTo>
                    <a:pt x="4762500" y="0"/>
                  </a:lnTo>
                  <a:lnTo>
                    <a:pt x="476250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55" r="0" b="-53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762500" cy="1704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84"/>
                </a:lnSpc>
              </a:pPr>
              <a:r>
                <a:rPr lang="en-US" sz="573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87%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58650" y="5772150"/>
            <a:ext cx="3457575" cy="857250"/>
            <a:chOff x="0" y="0"/>
            <a:chExt cx="4610100" cy="114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101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4610100">
                  <a:moveTo>
                    <a:pt x="0" y="0"/>
                  </a:moveTo>
                  <a:lnTo>
                    <a:pt x="4610100" y="0"/>
                  </a:lnTo>
                  <a:lnTo>
                    <a:pt x="46101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89" r="0" b="-2858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610100" cy="1152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36"/>
                </a:lnSpc>
              </a:pPr>
              <a:r>
                <a:rPr lang="en-US" sz="2446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das dívidas no cartão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42962" y="7415212"/>
            <a:ext cx="15030450" cy="1328738"/>
            <a:chOff x="0" y="0"/>
            <a:chExt cx="20040600" cy="1771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040600" cy="1771650"/>
            </a:xfrm>
            <a:custGeom>
              <a:avLst/>
              <a:gdLst/>
              <a:ahLst/>
              <a:cxnLst/>
              <a:rect r="r" b="b" t="t" l="l"/>
              <a:pathLst>
                <a:path h="1771650" w="20040600">
                  <a:moveTo>
                    <a:pt x="0" y="155702"/>
                  </a:moveTo>
                  <a:cubicBezTo>
                    <a:pt x="0" y="69723"/>
                    <a:pt x="69723" y="0"/>
                    <a:pt x="155702" y="0"/>
                  </a:cubicBezTo>
                  <a:lnTo>
                    <a:pt x="19884898" y="0"/>
                  </a:lnTo>
                  <a:cubicBezTo>
                    <a:pt x="19970877" y="0"/>
                    <a:pt x="20040600" y="69723"/>
                    <a:pt x="20040600" y="155702"/>
                  </a:cubicBezTo>
                  <a:lnTo>
                    <a:pt x="20040600" y="1615948"/>
                  </a:lnTo>
                  <a:cubicBezTo>
                    <a:pt x="20040600" y="1701927"/>
                    <a:pt x="19970877" y="1771650"/>
                    <a:pt x="19884898" y="1771650"/>
                  </a:cubicBezTo>
                  <a:lnTo>
                    <a:pt x="155702" y="1771650"/>
                  </a:lnTo>
                  <a:cubicBezTo>
                    <a:pt x="69723" y="1771650"/>
                    <a:pt x="0" y="1701927"/>
                    <a:pt x="0" y="1615948"/>
                  </a:cubicBezTo>
                  <a:close/>
                </a:path>
              </a:pathLst>
            </a:custGeom>
            <a:solidFill>
              <a:srgbClr val="FBF8F0"/>
            </a:solidFill>
            <a:ln w="28575" cap="sq">
              <a:solidFill>
                <a:srgbClr val="6D55B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57300" y="7615238"/>
            <a:ext cx="4286250" cy="428625"/>
            <a:chOff x="0" y="0"/>
            <a:chExt cx="5715000" cy="571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150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71500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4"/>
                </a:lnSpc>
              </a:pPr>
              <a:r>
                <a:rPr lang="en-US" sz="1912" b="true">
                  <a:solidFill>
                    <a:srgbClr val="6D55B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REGIÃO METROPOLITANA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57300" y="8072438"/>
            <a:ext cx="14144625" cy="542925"/>
            <a:chOff x="0" y="0"/>
            <a:chExt cx="18859500" cy="7239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859500" cy="723900"/>
            </a:xfrm>
            <a:custGeom>
              <a:avLst/>
              <a:gdLst/>
              <a:ahLst/>
              <a:cxnLst/>
              <a:rect r="r" b="b" t="t" l="l"/>
              <a:pathLst>
                <a:path h="723900" w="18859500">
                  <a:moveTo>
                    <a:pt x="0" y="0"/>
                  </a:moveTo>
                  <a:lnTo>
                    <a:pt x="18859500" y="0"/>
                  </a:lnTo>
                  <a:lnTo>
                    <a:pt x="188595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7636" r="0" b="-45763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8859500" cy="742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587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Dados concentrados em Cuiabá indicam realidade semelhante em Várzea Grande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600075"/>
            <a:ext cx="7429500" cy="828675"/>
            <a:chOff x="0" y="0"/>
            <a:chExt cx="9906000" cy="110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06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4693" r="0" b="-12469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906000" cy="1123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Quem sofre mais?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8690" y="1498282"/>
            <a:ext cx="1024699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O endividamento alcança o indivíduo, a família e a comunidade</a:t>
            </a:r>
          </a:p>
        </p:txBody>
      </p:sp>
      <p:sp>
        <p:nvSpPr>
          <p:cNvPr name="AutoShape 6" id="6"/>
          <p:cNvSpPr/>
          <p:nvPr/>
        </p:nvSpPr>
        <p:spPr>
          <a:xfrm rot="15300">
            <a:off x="839353" y="2147888"/>
            <a:ext cx="8036795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57250" y="2814638"/>
            <a:ext cx="2714625" cy="1500188"/>
            <a:chOff x="0" y="0"/>
            <a:chExt cx="3619500" cy="200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195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2000250"/>
                  </a:lnTo>
                  <a:lnTo>
                    <a:pt x="0" y="200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904" t="0" r="-2090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619500" cy="202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4286250"/>
            <a:ext cx="2714625" cy="400050"/>
            <a:chOff x="0" y="0"/>
            <a:chExt cx="3619500" cy="533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19500" cy="533400"/>
            </a:xfrm>
            <a:custGeom>
              <a:avLst/>
              <a:gdLst/>
              <a:ahLst/>
              <a:cxnLst/>
              <a:rect r="r" b="b" t="t" l="l"/>
              <a:pathLst>
                <a:path h="5334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219" r="0" b="-8221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6195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 população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5840" y="4855845"/>
            <a:ext cx="496062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512">
                <a:solidFill>
                  <a:srgbClr val="414544"/>
                </a:solidFill>
                <a:latin typeface="Arimo"/>
                <a:ea typeface="Arimo"/>
                <a:cs typeface="Arimo"/>
                <a:sym typeface="Arimo"/>
              </a:rPr>
              <a:t>Estimativa apresentada para o transtorno de compra compulsiva, mais frequente entre mulheres.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7250" y="6400800"/>
            <a:ext cx="5314950" cy="1857375"/>
            <a:chOff x="0" y="0"/>
            <a:chExt cx="7086600" cy="2476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866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70866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934200" y="0"/>
                  </a:lnTo>
                  <a:cubicBezTo>
                    <a:pt x="7018401" y="0"/>
                    <a:pt x="7086600" y="68199"/>
                    <a:pt x="7086600" y="152400"/>
                  </a:cubicBezTo>
                  <a:lnTo>
                    <a:pt x="7086600" y="2324100"/>
                  </a:lnTo>
                  <a:cubicBezTo>
                    <a:pt x="7086600" y="2408301"/>
                    <a:pt x="7018401" y="2476500"/>
                    <a:pt x="6934200" y="2476500"/>
                  </a:cubicBezTo>
                  <a:lnTo>
                    <a:pt x="152400" y="2476500"/>
                  </a:lnTo>
                  <a:cubicBezTo>
                    <a:pt x="68199" y="2476500"/>
                    <a:pt x="0" y="2408301"/>
                    <a:pt x="0" y="232410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71575" y="6600825"/>
            <a:ext cx="2643188" cy="857250"/>
            <a:chOff x="0" y="0"/>
            <a:chExt cx="352425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2425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524250">
                  <a:moveTo>
                    <a:pt x="0" y="0"/>
                  </a:moveTo>
                  <a:lnTo>
                    <a:pt x="3524250" y="0"/>
                  </a:lnTo>
                  <a:lnTo>
                    <a:pt x="352425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524250" cy="1171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53,66%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7365131"/>
            <a:ext cx="4600575" cy="893044"/>
            <a:chOff x="0" y="0"/>
            <a:chExt cx="6134100" cy="11907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34100" cy="1190725"/>
            </a:xfrm>
            <a:custGeom>
              <a:avLst/>
              <a:gdLst/>
              <a:ahLst/>
              <a:cxnLst/>
              <a:rect r="r" b="b" t="t" l="l"/>
              <a:pathLst>
                <a:path h="1190725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1190725"/>
                  </a:lnTo>
                  <a:lnTo>
                    <a:pt x="0" y="11907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781" r="0" b="-3397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134100" cy="120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2"/>
                </a:lnSpc>
              </a:pPr>
              <a:r>
                <a:rPr lang="en-US" sz="2518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dos inadimplentes em Mato Grosso são homens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00875" y="2628900"/>
            <a:ext cx="4714875" cy="3071812"/>
            <a:chOff x="0" y="0"/>
            <a:chExt cx="6286500" cy="40957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86500" cy="4095750"/>
            </a:xfrm>
            <a:custGeom>
              <a:avLst/>
              <a:gdLst/>
              <a:ahLst/>
              <a:cxnLst/>
              <a:rect r="r" b="b" t="t" l="l"/>
              <a:pathLst>
                <a:path h="409575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4095750"/>
                  </a:lnTo>
                  <a:lnTo>
                    <a:pt x="0" y="409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41" t="0" r="-19141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000875" y="6000750"/>
            <a:ext cx="4714875" cy="600075"/>
            <a:chOff x="0" y="0"/>
            <a:chExt cx="6286500" cy="800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86500" cy="800100"/>
            </a:xfrm>
            <a:custGeom>
              <a:avLst/>
              <a:gdLst/>
              <a:ahLst/>
              <a:cxnLst/>
              <a:rect r="r" b="b" t="t" l="l"/>
              <a:pathLst>
                <a:path h="800100" w="6286500">
                  <a:moveTo>
                    <a:pt x="0" y="0"/>
                  </a:moveTo>
                  <a:lnTo>
                    <a:pt x="6286500" y="0"/>
                  </a:lnTo>
                  <a:lnTo>
                    <a:pt x="62865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2865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4"/>
                </a:lnSpc>
              </a:pPr>
              <a:r>
                <a:rPr lang="en-US" sz="3037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 dívida entra em casa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092315" y="6770370"/>
            <a:ext cx="4531995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524">
                <a:solidFill>
                  <a:srgbClr val="414544"/>
                </a:solidFill>
                <a:latin typeface="Arimo"/>
                <a:ea typeface="Arimo"/>
                <a:cs typeface="Arimo"/>
                <a:sym typeface="Arimo"/>
              </a:rPr>
              <a:t>Conflitos conjugais, queda na qualidade de vida, pressão sobre a renda e sofrimento emocional atingem todo o núcleo familiar.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358688" y="2628900"/>
            <a:ext cx="5000625" cy="5686425"/>
            <a:chOff x="0" y="0"/>
            <a:chExt cx="6667500" cy="7581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67500" cy="7581900"/>
            </a:xfrm>
            <a:custGeom>
              <a:avLst/>
              <a:gdLst/>
              <a:ahLst/>
              <a:cxnLst/>
              <a:rect r="r" b="b" t="t" l="l"/>
              <a:pathLst>
                <a:path h="7581900" w="66675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515100" y="0"/>
                  </a:lnTo>
                  <a:cubicBezTo>
                    <a:pt x="6599301" y="0"/>
                    <a:pt x="6667500" y="68199"/>
                    <a:pt x="6667500" y="152400"/>
                  </a:cubicBezTo>
                  <a:lnTo>
                    <a:pt x="6667500" y="7429500"/>
                  </a:lnTo>
                  <a:cubicBezTo>
                    <a:pt x="6667500" y="7513701"/>
                    <a:pt x="6599301" y="7581900"/>
                    <a:pt x="6515100" y="7581900"/>
                  </a:cubicBezTo>
                  <a:lnTo>
                    <a:pt x="152400" y="7581900"/>
                  </a:lnTo>
                  <a:cubicBezTo>
                    <a:pt x="68199" y="7581900"/>
                    <a:pt x="0" y="7513701"/>
                    <a:pt x="0" y="7429500"/>
                  </a:cubicBezTo>
                  <a:close/>
                </a:path>
              </a:pathLst>
            </a:custGeom>
            <a:solidFill>
              <a:srgbClr val="55428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87312" y="3014662"/>
            <a:ext cx="4143375" cy="657225"/>
            <a:chOff x="0" y="0"/>
            <a:chExt cx="5524500" cy="8763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24500" cy="876300"/>
            </a:xfrm>
            <a:custGeom>
              <a:avLst/>
              <a:gdLst/>
              <a:ahLst/>
              <a:cxnLst/>
              <a:rect r="r" b="b" t="t" l="l"/>
              <a:pathLst>
                <a:path h="876300" w="5524500">
                  <a:moveTo>
                    <a:pt x="0" y="0"/>
                  </a:moveTo>
                  <a:lnTo>
                    <a:pt x="5524500" y="0"/>
                  </a:lnTo>
                  <a:lnTo>
                    <a:pt x="55245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840" r="0" b="-728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524500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</a:t>
              </a:r>
              <a:r>
                <a:rPr lang="en-US" sz="31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esposta: EDA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35220">
            <a:off x="12765767" y="3876675"/>
            <a:ext cx="4186457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2787312" y="4200525"/>
            <a:ext cx="657225" cy="657225"/>
            <a:chOff x="0" y="0"/>
            <a:chExt cx="876300" cy="8763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87325" y="4314825"/>
            <a:ext cx="457200" cy="428625"/>
            <a:chOff x="0" y="0"/>
            <a:chExt cx="609600" cy="571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0" cy="571500"/>
            </a:xfrm>
            <a:custGeom>
              <a:avLst/>
              <a:gdLst/>
              <a:ahLst/>
              <a:cxnLst/>
              <a:rect r="r" b="b" t="t" l="l"/>
              <a:pathLst>
                <a:path h="5715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0960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673138" y="4171950"/>
            <a:ext cx="3200400" cy="428625"/>
            <a:chOff x="0" y="0"/>
            <a:chExt cx="4267200" cy="5715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67200" cy="571500"/>
            </a:xfrm>
            <a:custGeom>
              <a:avLst/>
              <a:gdLst/>
              <a:ahLst/>
              <a:cxnLst/>
              <a:rect r="r" b="b" t="t" l="l"/>
              <a:pathLst>
                <a:path h="5715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426720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4"/>
                </a:lnSpc>
              </a:pPr>
              <a:r>
                <a:rPr lang="en-US" sz="19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Educação financeira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764577" y="4636770"/>
            <a:ext cx="301752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201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Conhecimento para decidir melhor.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787312" y="5500688"/>
            <a:ext cx="657225" cy="657225"/>
            <a:chOff x="0" y="0"/>
            <a:chExt cx="876300" cy="8763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887325" y="5614988"/>
            <a:ext cx="457200" cy="428625"/>
            <a:chOff x="0" y="0"/>
            <a:chExt cx="609600" cy="571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9600" cy="571500"/>
            </a:xfrm>
            <a:custGeom>
              <a:avLst/>
              <a:gdLst/>
              <a:ahLst/>
              <a:cxnLst/>
              <a:rect r="r" b="b" t="t" l="l"/>
              <a:pathLst>
                <a:path h="5715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0960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673138" y="5472112"/>
            <a:ext cx="3200400" cy="428625"/>
            <a:chOff x="0" y="0"/>
            <a:chExt cx="4267200" cy="5715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67200" cy="571500"/>
            </a:xfrm>
            <a:custGeom>
              <a:avLst/>
              <a:gdLst/>
              <a:ahLst/>
              <a:cxnLst/>
              <a:rect r="r" b="b" t="t" l="l"/>
              <a:pathLst>
                <a:path h="5715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26720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4"/>
                </a:lnSpc>
              </a:pPr>
              <a:r>
                <a:rPr lang="en-US" sz="19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Organização das dívidas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764577" y="5927408"/>
            <a:ext cx="301752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4"/>
              </a:lnSpc>
            </a:pPr>
            <a:r>
              <a:rPr lang="en-US" sz="20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Planejamento para recomeçar.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787312" y="6800850"/>
            <a:ext cx="657225" cy="657225"/>
            <a:chOff x="0" y="0"/>
            <a:chExt cx="876300" cy="8763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887325" y="6915150"/>
            <a:ext cx="457200" cy="428625"/>
            <a:chOff x="0" y="0"/>
            <a:chExt cx="609600" cy="5715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09600" cy="571500"/>
            </a:xfrm>
            <a:custGeom>
              <a:avLst/>
              <a:gdLst/>
              <a:ahLst/>
              <a:cxnLst/>
              <a:rect r="r" b="b" t="t" l="l"/>
              <a:pathLst>
                <a:path h="5715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84" t="0" r="-70284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60960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673138" y="6772275"/>
            <a:ext cx="3200400" cy="428625"/>
            <a:chOff x="0" y="0"/>
            <a:chExt cx="4267200" cy="571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67200" cy="571500"/>
            </a:xfrm>
            <a:custGeom>
              <a:avLst/>
              <a:gdLst/>
              <a:ahLst/>
              <a:cxnLst/>
              <a:rect r="r" b="b" t="t" l="l"/>
              <a:pathLst>
                <a:path h="5715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4267200" cy="581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4"/>
                </a:lnSpc>
              </a:pPr>
              <a:r>
                <a:rPr lang="en-US" sz="1912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Apoio coletivo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3764577" y="7237095"/>
            <a:ext cx="301752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201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Acolhimento durante a recuperação.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372975" y="8615362"/>
            <a:ext cx="4972050" cy="760714"/>
            <a:chOff x="0" y="0"/>
            <a:chExt cx="6629400" cy="101428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629400" cy="1014285"/>
            </a:xfrm>
            <a:custGeom>
              <a:avLst/>
              <a:gdLst/>
              <a:ahLst/>
              <a:cxnLst/>
              <a:rect r="r" b="b" t="t" l="l"/>
              <a:pathLst>
                <a:path h="1014285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014285"/>
                  </a:lnTo>
                  <a:lnTo>
                    <a:pt x="0" y="10142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25" r="0" b="-5928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629400" cy="1033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6"/>
                </a:lnSpc>
              </a:pPr>
              <a:r>
                <a:rPr lang="en-US" sz="2172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Recuperar o controle da vida financeira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60" r="-1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58425" y="0"/>
            <a:ext cx="8029575" cy="10287000"/>
            <a:chOff x="0" y="0"/>
            <a:chExt cx="107061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061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706100">
                  <a:moveTo>
                    <a:pt x="0" y="0"/>
                  </a:moveTo>
                  <a:lnTo>
                    <a:pt x="10706100" y="0"/>
                  </a:lnTo>
                  <a:lnTo>
                    <a:pt x="107061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2E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58500" y="1057275"/>
            <a:ext cx="285750" cy="285750"/>
            <a:chOff x="0" y="0"/>
            <a:chExt cx="381000" cy="38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44275" y="842962"/>
            <a:ext cx="6072188" cy="885825"/>
            <a:chOff x="0" y="0"/>
            <a:chExt cx="8096250" cy="1181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6250" cy="1181100"/>
            </a:xfrm>
            <a:custGeom>
              <a:avLst/>
              <a:gdLst/>
              <a:ahLst/>
              <a:cxnLst/>
              <a:rect r="r" b="b" t="t" l="l"/>
              <a:pathLst>
                <a:path h="1181100" w="8096250">
                  <a:moveTo>
                    <a:pt x="0" y="0"/>
                  </a:moveTo>
                  <a:lnTo>
                    <a:pt x="8096250" y="0"/>
                  </a:lnTo>
                  <a:lnTo>
                    <a:pt x="809625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566" r="0" b="-835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096250" cy="1200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85"/>
                </a:lnSpc>
              </a:pPr>
              <a:r>
                <a:rPr lang="en-US" sz="3237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Endividados Anônimos (EDA)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19860">
            <a:off x="10840593" y="1947862"/>
            <a:ext cx="6179449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949940" y="2555558"/>
            <a:ext cx="6189345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3062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Espaço físico e virtual voltado à reabilitação emocional e financeira de pessoas com compulsão por compras e gastos descontrolados.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01362" y="5253514"/>
            <a:ext cx="6357938" cy="1857375"/>
            <a:chOff x="0" y="0"/>
            <a:chExt cx="8477250" cy="2476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77250" cy="2476500"/>
            </a:xfrm>
            <a:custGeom>
              <a:avLst/>
              <a:gdLst/>
              <a:ahLst/>
              <a:cxnLst/>
              <a:rect r="r" b="b" t="t" l="l"/>
              <a:pathLst>
                <a:path h="2476500" w="8477250">
                  <a:moveTo>
                    <a:pt x="0" y="0"/>
                  </a:moveTo>
                  <a:lnTo>
                    <a:pt x="8477250" y="0"/>
                  </a:lnTo>
                  <a:lnTo>
                    <a:pt x="847725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8" r="0" b="-1669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47725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925" b="true">
                  <a:solidFill>
                    <a:srgbClr val="5B478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Atua na raiz comportamental do endividamento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49940" y="7484745"/>
            <a:ext cx="610362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3049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Combina suporte psicológico e educação financeira.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858500" y="9158288"/>
            <a:ext cx="2400300" cy="142875"/>
            <a:chOff x="0" y="0"/>
            <a:chExt cx="3200400" cy="190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00400" cy="190500"/>
            </a:xfrm>
            <a:custGeom>
              <a:avLst/>
              <a:gdLst/>
              <a:ahLst/>
              <a:cxnLst/>
              <a:rect r="r" b="b" t="t" l="l"/>
              <a:pathLst>
                <a:path h="190500" w="3200400">
                  <a:moveTo>
                    <a:pt x="0" y="95250"/>
                  </a:moveTo>
                  <a:cubicBezTo>
                    <a:pt x="0" y="42672"/>
                    <a:pt x="42672" y="0"/>
                    <a:pt x="95250" y="0"/>
                  </a:cubicBezTo>
                  <a:lnTo>
                    <a:pt x="3105150" y="0"/>
                  </a:lnTo>
                  <a:cubicBezTo>
                    <a:pt x="3157728" y="0"/>
                    <a:pt x="3200400" y="42672"/>
                    <a:pt x="3200400" y="95250"/>
                  </a:cubicBezTo>
                  <a:cubicBezTo>
                    <a:pt x="3200400" y="147828"/>
                    <a:pt x="3157728" y="190500"/>
                    <a:pt x="3105150" y="190500"/>
                  </a:cubicBezTo>
                  <a:lnTo>
                    <a:pt x="95250" y="190500"/>
                  </a:lnTo>
                  <a:cubicBezTo>
                    <a:pt x="42672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401675" y="9072562"/>
            <a:ext cx="314325" cy="314325"/>
            <a:chOff x="0" y="0"/>
            <a:chExt cx="419100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cubicBezTo>
                    <a:pt x="325247" y="0"/>
                    <a:pt x="419100" y="93853"/>
                    <a:pt x="419100" y="209550"/>
                  </a:cubicBezTo>
                  <a:cubicBezTo>
                    <a:pt x="419100" y="325247"/>
                    <a:pt x="325247" y="419100"/>
                    <a:pt x="209550" y="419100"/>
                  </a:cubicBez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600075"/>
            <a:ext cx="10858500" cy="828675"/>
            <a:chOff x="0" y="0"/>
            <a:chExt cx="14478000" cy="110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7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321" r="0" b="-2053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478000" cy="1123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Referências para aprofundamento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8690" y="1507807"/>
            <a:ext cx="95326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237" b="true">
                <a:solidFill>
                  <a:srgbClr val="414544"/>
                </a:solidFill>
                <a:latin typeface="Arimo Bold"/>
                <a:ea typeface="Arimo Bold"/>
                <a:cs typeface="Arimo Bold"/>
                <a:sym typeface="Arimo Bold"/>
              </a:rPr>
              <a:t>Quatro perspectivas para compreender o hiperconsumo</a:t>
            </a:r>
          </a:p>
        </p:txBody>
      </p:sp>
      <p:sp>
        <p:nvSpPr>
          <p:cNvPr name="AutoShape 6" id="6"/>
          <p:cNvSpPr/>
          <p:nvPr/>
        </p:nvSpPr>
        <p:spPr>
          <a:xfrm rot="15300">
            <a:off x="839353" y="2147888"/>
            <a:ext cx="8036795" cy="0"/>
          </a:xfrm>
          <a:prstGeom prst="line">
            <a:avLst/>
          </a:prstGeom>
          <a:ln cap="rnd" w="19050">
            <a:solidFill>
              <a:srgbClr val="B795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39391" y="2696766"/>
            <a:ext cx="7965281" cy="2721769"/>
            <a:chOff x="0" y="0"/>
            <a:chExt cx="10620375" cy="36290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20375" cy="3629025"/>
            </a:xfrm>
            <a:custGeom>
              <a:avLst/>
              <a:gdLst/>
              <a:ahLst/>
              <a:cxnLst/>
              <a:rect r="r" b="b" t="t" l="l"/>
              <a:pathLst>
                <a:path h="3629025" w="10620375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10465943" y="0"/>
                  </a:lnTo>
                  <a:cubicBezTo>
                    <a:pt x="10551287" y="0"/>
                    <a:pt x="10620375" y="69088"/>
                    <a:pt x="10620375" y="154432"/>
                  </a:cubicBezTo>
                  <a:lnTo>
                    <a:pt x="10620375" y="3474593"/>
                  </a:lnTo>
                  <a:cubicBezTo>
                    <a:pt x="10620375" y="3559937"/>
                    <a:pt x="10551287" y="3629025"/>
                    <a:pt x="10465943" y="3629025"/>
                  </a:cubicBezTo>
                  <a:lnTo>
                    <a:pt x="154432" y="3629025"/>
                  </a:lnTo>
                  <a:cubicBezTo>
                    <a:pt x="69088" y="3629025"/>
                    <a:pt x="0" y="3559937"/>
                    <a:pt x="0" y="3474593"/>
                  </a:cubicBezTo>
                  <a:close/>
                </a:path>
              </a:pathLst>
            </a:custGeom>
            <a:solidFill>
              <a:srgbClr val="FBF8F0"/>
            </a:solidFill>
            <a:ln w="35720" cap="sq">
              <a:solidFill>
                <a:srgbClr val="6D55B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71575" y="3114675"/>
            <a:ext cx="885825" cy="885825"/>
            <a:chOff x="0" y="0"/>
            <a:chExt cx="1181100" cy="1181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11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181100">
                  <a:moveTo>
                    <a:pt x="0" y="590550"/>
                  </a:moveTo>
                  <a:cubicBezTo>
                    <a:pt x="0" y="264414"/>
                    <a:pt x="264414" y="0"/>
                    <a:pt x="590550" y="0"/>
                  </a:cubicBezTo>
                  <a:cubicBezTo>
                    <a:pt x="916686" y="0"/>
                    <a:pt x="1181100" y="264414"/>
                    <a:pt x="1181100" y="590550"/>
                  </a:cubicBezTo>
                  <a:cubicBezTo>
                    <a:pt x="1181100" y="916686"/>
                    <a:pt x="916686" y="1181100"/>
                    <a:pt x="590550" y="1181100"/>
                  </a:cubicBezTo>
                  <a:cubicBezTo>
                    <a:pt x="264414" y="1181100"/>
                    <a:pt x="0" y="916686"/>
                    <a:pt x="0" y="59055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71600" y="3271838"/>
            <a:ext cx="485775" cy="557212"/>
            <a:chOff x="0" y="0"/>
            <a:chExt cx="647700" cy="7429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" cy="742950"/>
            </a:xfrm>
            <a:custGeom>
              <a:avLst/>
              <a:gdLst/>
              <a:ahLst/>
              <a:cxnLst/>
              <a:rect r="r" b="b" t="t" l="l"/>
              <a:pathLst>
                <a:path h="74295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7171" t="0" r="-97171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77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5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71725" y="3028950"/>
            <a:ext cx="5786438" cy="385762"/>
            <a:chOff x="0" y="0"/>
            <a:chExt cx="7715250" cy="514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15250" cy="514350"/>
            </a:xfrm>
            <a:custGeom>
              <a:avLst/>
              <a:gdLst/>
              <a:ahLst/>
              <a:cxnLst/>
              <a:rect r="r" b="b" t="t" l="l"/>
              <a:pathLst>
                <a:path h="514350" w="7715250">
                  <a:moveTo>
                    <a:pt x="0" y="0"/>
                  </a:moveTo>
                  <a:lnTo>
                    <a:pt x="7715250" y="0"/>
                  </a:lnTo>
                  <a:lnTo>
                    <a:pt x="7715250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771525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6D55B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REDES SOCIAIS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71725" y="3457575"/>
            <a:ext cx="5929312" cy="1085850"/>
            <a:chOff x="0" y="0"/>
            <a:chExt cx="7905750" cy="1447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057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398" r="0" b="-5639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7905750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51"/>
                </a:lnSpc>
              </a:pPr>
              <a:r>
                <a:rPr lang="en-US" sz="2209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 influência das redes sociais no hiperconsumo na sociedade pós-moderna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12360">
            <a:off x="2360990" y="4667250"/>
            <a:ext cx="5950782" cy="0"/>
          </a:xfrm>
          <a:prstGeom prst="line">
            <a:avLst/>
          </a:prstGeom>
          <a:ln cap="rnd" w="9525">
            <a:solidFill>
              <a:srgbClr val="E8E1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2371725" y="4786312"/>
            <a:ext cx="5929312" cy="428625"/>
            <a:chOff x="0" y="0"/>
            <a:chExt cx="7905750" cy="571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05750" cy="571500"/>
            </a:xfrm>
            <a:custGeom>
              <a:avLst/>
              <a:gdLst/>
              <a:ahLst/>
              <a:cxnLst/>
              <a:rect r="r" b="b" t="t" l="l"/>
              <a:pathLst>
                <a:path h="5715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7905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414544"/>
                  </a:solidFill>
                  <a:latin typeface="Arimo"/>
                  <a:ea typeface="Arimo"/>
                  <a:cs typeface="Arimo"/>
                  <a:sym typeface="Arimo"/>
                </a:rPr>
                <a:t>Artigo de revisão | Psicologia e Saúde em Debate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40453" y="2696766"/>
            <a:ext cx="7965281" cy="2721769"/>
            <a:chOff x="0" y="0"/>
            <a:chExt cx="10620375" cy="36290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20375" cy="3629025"/>
            </a:xfrm>
            <a:custGeom>
              <a:avLst/>
              <a:gdLst/>
              <a:ahLst/>
              <a:cxnLst/>
              <a:rect r="r" b="b" t="t" l="l"/>
              <a:pathLst>
                <a:path h="3629025" w="10620375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10465943" y="0"/>
                  </a:lnTo>
                  <a:cubicBezTo>
                    <a:pt x="10551287" y="0"/>
                    <a:pt x="10620375" y="69088"/>
                    <a:pt x="10620375" y="154432"/>
                  </a:cubicBezTo>
                  <a:lnTo>
                    <a:pt x="10620375" y="3474593"/>
                  </a:lnTo>
                  <a:cubicBezTo>
                    <a:pt x="10620375" y="3559937"/>
                    <a:pt x="10551287" y="3629025"/>
                    <a:pt x="10465943" y="3629025"/>
                  </a:cubicBezTo>
                  <a:lnTo>
                    <a:pt x="154432" y="3629025"/>
                  </a:lnTo>
                  <a:cubicBezTo>
                    <a:pt x="69088" y="3629025"/>
                    <a:pt x="0" y="3559937"/>
                    <a:pt x="0" y="3474593"/>
                  </a:cubicBezTo>
                  <a:close/>
                </a:path>
              </a:pathLst>
            </a:custGeom>
            <a:solidFill>
              <a:srgbClr val="FBF8F0"/>
            </a:solidFill>
            <a:ln w="35720" cap="sq">
              <a:solidFill>
                <a:srgbClr val="B7953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672638" y="3114675"/>
            <a:ext cx="885825" cy="885825"/>
            <a:chOff x="0" y="0"/>
            <a:chExt cx="1181100" cy="1181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11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181100">
                  <a:moveTo>
                    <a:pt x="0" y="590550"/>
                  </a:moveTo>
                  <a:cubicBezTo>
                    <a:pt x="0" y="264414"/>
                    <a:pt x="264414" y="0"/>
                    <a:pt x="590550" y="0"/>
                  </a:cubicBezTo>
                  <a:cubicBezTo>
                    <a:pt x="916686" y="0"/>
                    <a:pt x="1181100" y="264414"/>
                    <a:pt x="1181100" y="590550"/>
                  </a:cubicBezTo>
                  <a:cubicBezTo>
                    <a:pt x="1181100" y="916686"/>
                    <a:pt x="916686" y="1181100"/>
                    <a:pt x="590550" y="1181100"/>
                  </a:cubicBezTo>
                  <a:cubicBezTo>
                    <a:pt x="264414" y="1181100"/>
                    <a:pt x="0" y="916686"/>
                    <a:pt x="0" y="59055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72662" y="3271838"/>
            <a:ext cx="485775" cy="557212"/>
            <a:chOff x="0" y="0"/>
            <a:chExt cx="647700" cy="7429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7700" cy="742950"/>
            </a:xfrm>
            <a:custGeom>
              <a:avLst/>
              <a:gdLst/>
              <a:ahLst/>
              <a:cxnLst/>
              <a:rect r="r" b="b" t="t" l="l"/>
              <a:pathLst>
                <a:path h="74295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7171" t="0" r="-9717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477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5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72788" y="3028950"/>
            <a:ext cx="5786438" cy="385762"/>
            <a:chOff x="0" y="0"/>
            <a:chExt cx="7715250" cy="5143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715250" cy="514350"/>
            </a:xfrm>
            <a:custGeom>
              <a:avLst/>
              <a:gdLst/>
              <a:ahLst/>
              <a:cxnLst/>
              <a:rect r="r" b="b" t="t" l="l"/>
              <a:pathLst>
                <a:path h="514350" w="7715250">
                  <a:moveTo>
                    <a:pt x="0" y="0"/>
                  </a:moveTo>
                  <a:lnTo>
                    <a:pt x="7715250" y="0"/>
                  </a:lnTo>
                  <a:lnTo>
                    <a:pt x="7715250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71525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B7953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ÉTICA E AMBIENTE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72788" y="3457575"/>
            <a:ext cx="5929312" cy="1085850"/>
            <a:chOff x="0" y="0"/>
            <a:chExt cx="7905750" cy="1447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9057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398" r="0" b="-5639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7905750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Hiperconsumo e a democracia: os reflexos éticos e socioambientais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 rot="12360">
            <a:off x="10862053" y="4667250"/>
            <a:ext cx="5950782" cy="0"/>
          </a:xfrm>
          <a:prstGeom prst="line">
            <a:avLst/>
          </a:prstGeom>
          <a:ln cap="rnd" w="9525">
            <a:solidFill>
              <a:srgbClr val="E8E1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0872788" y="4786312"/>
            <a:ext cx="5929312" cy="428625"/>
            <a:chOff x="0" y="0"/>
            <a:chExt cx="7905750" cy="571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05750" cy="571500"/>
            </a:xfrm>
            <a:custGeom>
              <a:avLst/>
              <a:gdLst/>
              <a:ahLst/>
              <a:cxnLst/>
              <a:rect r="r" b="b" t="t" l="l"/>
              <a:pathLst>
                <a:path h="5715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905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414544"/>
                  </a:solidFill>
                  <a:latin typeface="Arimo"/>
                  <a:ea typeface="Arimo"/>
                  <a:cs typeface="Arimo"/>
                  <a:sym typeface="Arimo"/>
                </a:rPr>
                <a:t>Livro | Calgaro, Pereira e Nodari | EDUCS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39391" y="5997178"/>
            <a:ext cx="7965281" cy="2721769"/>
            <a:chOff x="0" y="0"/>
            <a:chExt cx="10620375" cy="36290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20375" cy="3629025"/>
            </a:xfrm>
            <a:custGeom>
              <a:avLst/>
              <a:gdLst/>
              <a:ahLst/>
              <a:cxnLst/>
              <a:rect r="r" b="b" t="t" l="l"/>
              <a:pathLst>
                <a:path h="3629025" w="10620375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10465943" y="0"/>
                  </a:lnTo>
                  <a:cubicBezTo>
                    <a:pt x="10551287" y="0"/>
                    <a:pt x="10620375" y="69088"/>
                    <a:pt x="10620375" y="154432"/>
                  </a:cubicBezTo>
                  <a:lnTo>
                    <a:pt x="10620375" y="3474593"/>
                  </a:lnTo>
                  <a:cubicBezTo>
                    <a:pt x="10620375" y="3559937"/>
                    <a:pt x="10551287" y="3629025"/>
                    <a:pt x="10465943" y="3629025"/>
                  </a:cubicBezTo>
                  <a:lnTo>
                    <a:pt x="154432" y="3629025"/>
                  </a:lnTo>
                  <a:cubicBezTo>
                    <a:pt x="69088" y="3629025"/>
                    <a:pt x="0" y="3559937"/>
                    <a:pt x="0" y="3474593"/>
                  </a:cubicBezTo>
                  <a:close/>
                </a:path>
              </a:pathLst>
            </a:custGeom>
            <a:solidFill>
              <a:srgbClr val="FBF8F0"/>
            </a:solidFill>
            <a:ln w="35720" cap="sq">
              <a:solidFill>
                <a:srgbClr val="687765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71575" y="6415088"/>
            <a:ext cx="885825" cy="885825"/>
            <a:chOff x="0" y="0"/>
            <a:chExt cx="1181100" cy="1181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811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181100">
                  <a:moveTo>
                    <a:pt x="0" y="590550"/>
                  </a:moveTo>
                  <a:cubicBezTo>
                    <a:pt x="0" y="264414"/>
                    <a:pt x="264414" y="0"/>
                    <a:pt x="590550" y="0"/>
                  </a:cubicBezTo>
                  <a:cubicBezTo>
                    <a:pt x="916686" y="0"/>
                    <a:pt x="1181100" y="264414"/>
                    <a:pt x="1181100" y="590550"/>
                  </a:cubicBezTo>
                  <a:cubicBezTo>
                    <a:pt x="1181100" y="916686"/>
                    <a:pt x="916686" y="1181100"/>
                    <a:pt x="590550" y="1181100"/>
                  </a:cubicBezTo>
                  <a:cubicBezTo>
                    <a:pt x="264414" y="1181100"/>
                    <a:pt x="0" y="916686"/>
                    <a:pt x="0" y="590550"/>
                  </a:cubicBezTo>
                  <a:close/>
                </a:path>
              </a:pathLst>
            </a:custGeom>
            <a:solidFill>
              <a:srgbClr val="687765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1600" y="6572250"/>
            <a:ext cx="485775" cy="557212"/>
            <a:chOff x="0" y="0"/>
            <a:chExt cx="647700" cy="7429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7700" cy="742950"/>
            </a:xfrm>
            <a:custGeom>
              <a:avLst/>
              <a:gdLst/>
              <a:ahLst/>
              <a:cxnLst/>
              <a:rect r="r" b="b" t="t" l="l"/>
              <a:pathLst>
                <a:path h="74295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7171" t="0" r="-9717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477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5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71725" y="6329362"/>
            <a:ext cx="5786438" cy="385762"/>
            <a:chOff x="0" y="0"/>
            <a:chExt cx="7715250" cy="5143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715250" cy="514350"/>
            </a:xfrm>
            <a:custGeom>
              <a:avLst/>
              <a:gdLst/>
              <a:ahLst/>
              <a:cxnLst/>
              <a:rect r="r" b="b" t="t" l="l"/>
              <a:pathLst>
                <a:path h="514350" w="7715250">
                  <a:moveTo>
                    <a:pt x="0" y="0"/>
                  </a:moveTo>
                  <a:lnTo>
                    <a:pt x="7715250" y="0"/>
                  </a:lnTo>
                  <a:lnTo>
                    <a:pt x="7715250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771525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68776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CRÉDITO NO BRASIL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371725" y="6757988"/>
            <a:ext cx="5929312" cy="1085850"/>
            <a:chOff x="0" y="0"/>
            <a:chExt cx="7905750" cy="1447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9057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398" r="0" b="-5639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7905750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Uma reflexão sócio-jurídica: consumo de crédito no Brasil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rot="12360">
            <a:off x="2360990" y="7967662"/>
            <a:ext cx="5950782" cy="0"/>
          </a:xfrm>
          <a:prstGeom prst="line">
            <a:avLst/>
          </a:prstGeom>
          <a:ln cap="rnd" w="9525">
            <a:solidFill>
              <a:srgbClr val="E8E1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2371725" y="8086725"/>
            <a:ext cx="5929312" cy="428625"/>
            <a:chOff x="0" y="0"/>
            <a:chExt cx="7905750" cy="5715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905750" cy="571500"/>
            </a:xfrm>
            <a:custGeom>
              <a:avLst/>
              <a:gdLst/>
              <a:ahLst/>
              <a:cxnLst/>
              <a:rect r="r" b="b" t="t" l="l"/>
              <a:pathLst>
                <a:path h="5715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7905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414544"/>
                  </a:solidFill>
                  <a:latin typeface="Arimo"/>
                  <a:ea typeface="Arimo"/>
                  <a:cs typeface="Arimo"/>
                  <a:sym typeface="Arimo"/>
                </a:rPr>
                <a:t>Ensaio | Anna Taddei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40453" y="5997178"/>
            <a:ext cx="7965281" cy="2721769"/>
            <a:chOff x="0" y="0"/>
            <a:chExt cx="10620375" cy="362902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20375" cy="3629025"/>
            </a:xfrm>
            <a:custGeom>
              <a:avLst/>
              <a:gdLst/>
              <a:ahLst/>
              <a:cxnLst/>
              <a:rect r="r" b="b" t="t" l="l"/>
              <a:pathLst>
                <a:path h="3629025" w="10620375">
                  <a:moveTo>
                    <a:pt x="0" y="154432"/>
                  </a:moveTo>
                  <a:cubicBezTo>
                    <a:pt x="0" y="69088"/>
                    <a:pt x="69088" y="0"/>
                    <a:pt x="154432" y="0"/>
                  </a:cubicBezTo>
                  <a:lnTo>
                    <a:pt x="10465943" y="0"/>
                  </a:lnTo>
                  <a:cubicBezTo>
                    <a:pt x="10551287" y="0"/>
                    <a:pt x="10620375" y="69088"/>
                    <a:pt x="10620375" y="154432"/>
                  </a:cubicBezTo>
                  <a:lnTo>
                    <a:pt x="10620375" y="3474593"/>
                  </a:lnTo>
                  <a:cubicBezTo>
                    <a:pt x="10620375" y="3559937"/>
                    <a:pt x="10551287" y="3629025"/>
                    <a:pt x="10465943" y="3629025"/>
                  </a:cubicBezTo>
                  <a:lnTo>
                    <a:pt x="154432" y="3629025"/>
                  </a:lnTo>
                  <a:cubicBezTo>
                    <a:pt x="69088" y="3629025"/>
                    <a:pt x="0" y="3559937"/>
                    <a:pt x="0" y="3474593"/>
                  </a:cubicBezTo>
                  <a:close/>
                </a:path>
              </a:pathLst>
            </a:custGeom>
            <a:solidFill>
              <a:srgbClr val="FBF8F0"/>
            </a:solidFill>
            <a:ln w="35720" cap="sq">
              <a:solidFill>
                <a:srgbClr val="554286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672638" y="6415088"/>
            <a:ext cx="885825" cy="885825"/>
            <a:chOff x="0" y="0"/>
            <a:chExt cx="1181100" cy="11811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811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181100">
                  <a:moveTo>
                    <a:pt x="0" y="590550"/>
                  </a:moveTo>
                  <a:cubicBezTo>
                    <a:pt x="0" y="264414"/>
                    <a:pt x="264414" y="0"/>
                    <a:pt x="590550" y="0"/>
                  </a:cubicBezTo>
                  <a:cubicBezTo>
                    <a:pt x="916686" y="0"/>
                    <a:pt x="1181100" y="264414"/>
                    <a:pt x="1181100" y="590550"/>
                  </a:cubicBezTo>
                  <a:cubicBezTo>
                    <a:pt x="1181100" y="916686"/>
                    <a:pt x="916686" y="1181100"/>
                    <a:pt x="590550" y="1181100"/>
                  </a:cubicBezTo>
                  <a:cubicBezTo>
                    <a:pt x="264414" y="1181100"/>
                    <a:pt x="0" y="916686"/>
                    <a:pt x="0" y="590550"/>
                  </a:cubicBezTo>
                  <a:close/>
                </a:path>
              </a:pathLst>
            </a:custGeom>
            <a:solidFill>
              <a:srgbClr val="55428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872662" y="6572250"/>
            <a:ext cx="485775" cy="557212"/>
            <a:chOff x="0" y="0"/>
            <a:chExt cx="647700" cy="7429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7700" cy="742950"/>
            </a:xfrm>
            <a:custGeom>
              <a:avLst/>
              <a:gdLst/>
              <a:ahLst/>
              <a:cxnLst/>
              <a:rect r="r" b="b" t="t" l="l"/>
              <a:pathLst>
                <a:path h="74295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7171" t="0" r="-97171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477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587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872788" y="6329362"/>
            <a:ext cx="5786438" cy="385762"/>
            <a:chOff x="0" y="0"/>
            <a:chExt cx="7715250" cy="5143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715250" cy="514350"/>
            </a:xfrm>
            <a:custGeom>
              <a:avLst/>
              <a:gdLst/>
              <a:ahLst/>
              <a:cxnLst/>
              <a:rect r="r" b="b" t="t" l="l"/>
              <a:pathLst>
                <a:path h="514350" w="7715250">
                  <a:moveTo>
                    <a:pt x="0" y="0"/>
                  </a:moveTo>
                  <a:lnTo>
                    <a:pt x="7715250" y="0"/>
                  </a:lnTo>
                  <a:lnTo>
                    <a:pt x="7715250" y="514350"/>
                  </a:lnTo>
                  <a:lnTo>
                    <a:pt x="0" y="5143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771525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55428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CONSUMO CONSCIENTE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872788" y="6757988"/>
            <a:ext cx="5929312" cy="1085850"/>
            <a:chOff x="0" y="0"/>
            <a:chExt cx="7905750" cy="1447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905750" cy="1447800"/>
            </a:xfrm>
            <a:custGeom>
              <a:avLst/>
              <a:gdLst/>
              <a:ahLst/>
              <a:cxnLst/>
              <a:rect r="r" b="b" t="t" l="l"/>
              <a:pathLst>
                <a:path h="14478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1447800"/>
                  </a:lnTo>
                  <a:lnTo>
                    <a:pt x="0" y="1447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398" r="0" b="-5639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7905750" cy="1457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20242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“Menos é mais”: minimalismo como prática de consumo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 rot="12360">
            <a:off x="10862053" y="7967662"/>
            <a:ext cx="5950782" cy="0"/>
          </a:xfrm>
          <a:prstGeom prst="line">
            <a:avLst/>
          </a:prstGeom>
          <a:ln cap="rnd" w="9525">
            <a:solidFill>
              <a:srgbClr val="E8E1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2" id="72"/>
          <p:cNvGrpSpPr/>
          <p:nvPr/>
        </p:nvGrpSpPr>
        <p:grpSpPr>
          <a:xfrm rot="0">
            <a:off x="10872788" y="8086725"/>
            <a:ext cx="5929312" cy="428625"/>
            <a:chOff x="0" y="0"/>
            <a:chExt cx="7905750" cy="5715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905750" cy="571500"/>
            </a:xfrm>
            <a:custGeom>
              <a:avLst/>
              <a:gdLst/>
              <a:ahLst/>
              <a:cxnLst/>
              <a:rect r="r" b="b" t="t" l="l"/>
              <a:pathLst>
                <a:path h="5715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7905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7"/>
                </a:lnSpc>
              </a:pPr>
              <a:r>
                <a:rPr lang="en-US" sz="1406">
                  <a:solidFill>
                    <a:srgbClr val="414544"/>
                  </a:solidFill>
                  <a:latin typeface="Arimo"/>
                  <a:ea typeface="Arimo"/>
                  <a:cs typeface="Arimo"/>
                  <a:sym typeface="Arimo"/>
                </a:rPr>
                <a:t>Estudo netnográfico | Juliana Vieira Borges e Naldeir dos Santos Vieira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57250" y="9444038"/>
            <a:ext cx="2000250" cy="114300"/>
            <a:chOff x="0" y="0"/>
            <a:chExt cx="2667000" cy="152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667000" cy="152400"/>
            </a:xfrm>
            <a:custGeom>
              <a:avLst/>
              <a:gdLst/>
              <a:ahLst/>
              <a:cxnLst/>
              <a:rect r="r" b="b" t="t" l="l"/>
              <a:pathLst>
                <a:path h="152400" w="2667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590800" y="0"/>
                  </a:lnTo>
                  <a:cubicBezTo>
                    <a:pt x="2632837" y="0"/>
                    <a:pt x="2667000" y="34163"/>
                    <a:pt x="2667000" y="76200"/>
                  </a:cubicBezTo>
                  <a:cubicBezTo>
                    <a:pt x="2667000" y="118237"/>
                    <a:pt x="2632837" y="152400"/>
                    <a:pt x="2590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6D55B5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3000375" y="9358312"/>
            <a:ext cx="285750" cy="285750"/>
            <a:chOff x="0" y="0"/>
            <a:chExt cx="381000" cy="381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cubicBezTo>
                    <a:pt x="295656" y="0"/>
                    <a:pt x="381000" y="85344"/>
                    <a:pt x="381000" y="190500"/>
                  </a:cubicBezTo>
                  <a:cubicBezTo>
                    <a:pt x="381000" y="295656"/>
                    <a:pt x="295656" y="381000"/>
                    <a:pt x="190500" y="381000"/>
                  </a:cubicBezTo>
                  <a:cubicBezTo>
                    <a:pt x="85344" y="381000"/>
                    <a:pt x="0" y="295656"/>
                    <a:pt x="0" y="190500"/>
                  </a:cubicBezTo>
                  <a:close/>
                </a:path>
              </a:pathLst>
            </a:custGeom>
            <a:solidFill>
              <a:srgbClr val="B79538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DAHV1V0Ca6A</dc:identifier>
  <dcterms:modified xsi:type="dcterms:W3CDTF">2011-08-01T06:04:30Z</dcterms:modified>
  <cp:revision>1</cp:revision>
  <dc:title>Resposta: EDA</dc:title>
</cp:coreProperties>
</file>