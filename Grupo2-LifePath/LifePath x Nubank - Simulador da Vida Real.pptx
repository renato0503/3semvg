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9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312313-F42E-4670-A18D-DB955B1F42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3360" y="2759040"/>
            <a:ext cx="96184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7EE031-95D2-4AE5-B964-23127A3467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96184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F2F4DF-AD5A-47BA-88A3-49BCEBC1A4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51C62D-63BA-4A0C-8DC6-603AADC8CA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1C933D-69A1-45CA-A06C-EABD36D5CA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97240" y="692640"/>
            <a:ext cx="7340760" cy="181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4B3BFC-3A7F-4B5D-BFB9-4D4DDE1000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336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F9B5CF-98FD-4DC3-A051-74C23169FD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53212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FCA14E-490D-4E96-9436-3E7FB9059D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3360" y="3944160"/>
            <a:ext cx="96184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991950-9F58-4FA6-87CE-E1CF0C94DA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96184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3360" y="3944160"/>
            <a:ext cx="96184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210FF6-26E3-479B-A2D2-FC15CCE968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336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53212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068520-964B-4FF1-90B8-6D80049BB8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55600" y="275904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107840" y="275904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3360" y="394416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55600" y="394416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107840" y="394416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64ECE1-FF3A-4C5B-954E-B1C7940781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AD7AAF-F362-4CE7-B348-851879A305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603360" y="2759040"/>
            <a:ext cx="96184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80C0D-8C22-4EA0-907D-F390E2ED34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96184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9A2EDB-58DA-4E8A-A1E5-50D9A034C6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620840-333E-460E-9F51-6ED710EF56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824721-DE96-48BA-BD99-F34A129695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ubTitle"/>
          </p:nvPr>
        </p:nvSpPr>
        <p:spPr>
          <a:xfrm>
            <a:off x="597240" y="692640"/>
            <a:ext cx="7340760" cy="181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55BC3D-F6FD-4204-BCC8-47AE362344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0336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CD209-2E82-47BC-81C1-D0A5E617CC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553212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20FEC-8313-4FA4-BE9C-D6A24EF7BF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3360" y="3944160"/>
            <a:ext cx="96184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7F893C-CEBE-4F48-84C7-9B027C2046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96184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03360" y="3944160"/>
            <a:ext cx="96184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B9577C-F6B0-4B20-9867-B420660923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532120" y="275904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60336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/>
          </p:nvPr>
        </p:nvSpPr>
        <p:spPr>
          <a:xfrm>
            <a:off x="5532120" y="3944160"/>
            <a:ext cx="46936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B2BBCC-1ED4-4045-A965-D8693D979F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1800" spc="-1" strike="noStrike"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3360" y="275904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3855600" y="275904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107840" y="275904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/>
          </p:nvPr>
        </p:nvSpPr>
        <p:spPr>
          <a:xfrm>
            <a:off x="603360" y="394416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/>
          </p:nvPr>
        </p:nvSpPr>
        <p:spPr>
          <a:xfrm>
            <a:off x="3855600" y="394416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102" name="PlaceHolder 7"/>
          <p:cNvSpPr>
            <a:spLocks noGrp="1"/>
          </p:cNvSpPr>
          <p:nvPr>
            <p:ph/>
          </p:nvPr>
        </p:nvSpPr>
        <p:spPr>
          <a:xfrm>
            <a:off x="7107840" y="3944160"/>
            <a:ext cx="3097080" cy="108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FBF77-5398-465A-ADF5-8F8EFB73EE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400" spc="-1" strike="noStrike">
                <a:latin typeface="Calibri"/>
              </a:rPr>
              <a:t>Clique </a:t>
            </a:r>
            <a:r>
              <a:rPr b="0" lang="pt-BR" sz="2400" spc="-1" strike="noStrike">
                <a:latin typeface="Calibri"/>
              </a:rPr>
              <a:t>para </a:t>
            </a:r>
            <a:r>
              <a:rPr b="0" lang="pt-BR" sz="2400" spc="-1" strike="noStrike">
                <a:latin typeface="Calibri"/>
              </a:rPr>
              <a:t>editar </a:t>
            </a:r>
            <a:r>
              <a:rPr b="0" lang="pt-BR" sz="2400" spc="-1" strike="noStrike">
                <a:latin typeface="Calibri"/>
              </a:rPr>
              <a:t>o </a:t>
            </a:r>
            <a:r>
              <a:rPr b="0" lang="pt-BR" sz="2400" spc="-1" strike="noStrike">
                <a:latin typeface="Calibri"/>
              </a:rPr>
              <a:t>forma</a:t>
            </a:r>
            <a:r>
              <a:rPr b="0" lang="pt-BR" sz="2400" spc="-1" strike="noStrike">
                <a:latin typeface="Calibri"/>
              </a:rPr>
              <a:t>to do </a:t>
            </a:r>
            <a:r>
              <a:rPr b="0" lang="pt-BR" sz="2400" spc="-1" strike="noStrike">
                <a:latin typeface="Calibri"/>
              </a:rPr>
              <a:t>texto </a:t>
            </a:r>
            <a:r>
              <a:rPr b="0" lang="pt-BR" sz="2400" spc="-1" strike="noStrike">
                <a:latin typeface="Calibri"/>
              </a:rPr>
              <a:t>do </a:t>
            </a:r>
            <a:r>
              <a:rPr b="0" lang="pt-BR" sz="2400" spc="-1" strike="noStrike">
                <a:latin typeface="Calibri"/>
              </a:rPr>
              <a:t>título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3360" y="2759040"/>
            <a:ext cx="9618480" cy="22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Clique para editar o formato do texto da estrutura de tópicos</a:t>
            </a:r>
            <a:endParaRPr b="0" lang="pt-BR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Calibri"/>
              </a:rPr>
              <a:t>2.º nível da estrutura de tópicos</a:t>
            </a:r>
            <a:endParaRPr b="0" lang="pt-BR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3.º nível da estrutura de tópicos</a:t>
            </a:r>
            <a:endParaRPr b="0" lang="pt-BR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Calibri"/>
              </a:rPr>
              <a:t>4.º nível da estrutura de tópicos</a:t>
            </a:r>
            <a:endParaRPr b="0" lang="pt-BR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5.º nível da estrutura de tópicos</a:t>
            </a:r>
            <a:endParaRPr b="0" lang="pt-BR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6.º nível da estrutura de tópicos</a:t>
            </a:r>
            <a:endParaRPr b="0" lang="pt-BR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7.º nível da estrutura de tópicos</a:t>
            </a:r>
            <a:endParaRPr b="0" lang="pt-BR" sz="1800" spc="-1" strike="noStrike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pt-B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6AA4C8-E183-49C4-858E-7687FB107CA5}" type="slidenum">
              <a:rPr b="0" lang="pt-BR" sz="1400" spc="-1" strike="noStrike">
                <a:solidFill>
                  <a:srgbClr val="b2b2b2"/>
                </a:solidFill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 object 16"/>
          <p:cNvSpPr/>
          <p:nvPr/>
        </p:nvSpPr>
        <p:spPr>
          <a:xfrm>
            <a:off x="611280" y="1543680"/>
            <a:ext cx="5392080" cy="2008800"/>
          </a:xfrm>
          <a:custGeom>
            <a:avLst/>
            <a:gdLst/>
            <a:ahLst/>
            <a:rect l="l" t="t" r="r" b="b"/>
            <a:pathLst>
              <a:path w="5392420" h="2009139">
                <a:moveTo>
                  <a:pt x="5258562" y="0"/>
                </a:moveTo>
                <a:lnTo>
                  <a:pt x="133388" y="0"/>
                </a:lnTo>
                <a:lnTo>
                  <a:pt x="91230" y="6797"/>
                </a:lnTo>
                <a:lnTo>
                  <a:pt x="54614" y="25725"/>
                </a:lnTo>
                <a:lnTo>
                  <a:pt x="25738" y="54589"/>
                </a:lnTo>
                <a:lnTo>
                  <a:pt x="6801" y="91196"/>
                </a:lnTo>
                <a:lnTo>
                  <a:pt x="0" y="133350"/>
                </a:lnTo>
                <a:lnTo>
                  <a:pt x="0" y="1875282"/>
                </a:lnTo>
                <a:lnTo>
                  <a:pt x="6801" y="1917435"/>
                </a:lnTo>
                <a:lnTo>
                  <a:pt x="25738" y="1954042"/>
                </a:lnTo>
                <a:lnTo>
                  <a:pt x="54614" y="1982906"/>
                </a:lnTo>
                <a:lnTo>
                  <a:pt x="91230" y="2001834"/>
                </a:lnTo>
                <a:lnTo>
                  <a:pt x="133388" y="2008632"/>
                </a:lnTo>
                <a:lnTo>
                  <a:pt x="5258562" y="2008632"/>
                </a:lnTo>
                <a:lnTo>
                  <a:pt x="5300715" y="2001834"/>
                </a:lnTo>
                <a:lnTo>
                  <a:pt x="5337322" y="1982906"/>
                </a:lnTo>
                <a:lnTo>
                  <a:pt x="5366186" y="1954042"/>
                </a:lnTo>
                <a:lnTo>
                  <a:pt x="5385114" y="1917435"/>
                </a:lnTo>
                <a:lnTo>
                  <a:pt x="5391912" y="1875282"/>
                </a:lnTo>
                <a:lnTo>
                  <a:pt x="5391912" y="133350"/>
                </a:lnTo>
                <a:lnTo>
                  <a:pt x="5385114" y="91196"/>
                </a:lnTo>
                <a:lnTo>
                  <a:pt x="5366186" y="54589"/>
                </a:lnTo>
                <a:lnTo>
                  <a:pt x="5337322" y="25725"/>
                </a:lnTo>
                <a:lnTo>
                  <a:pt x="5300715" y="6797"/>
                </a:lnTo>
                <a:lnTo>
                  <a:pt x="5258562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bg object 17"/>
          <p:cNvSpPr/>
          <p:nvPr/>
        </p:nvSpPr>
        <p:spPr>
          <a:xfrm>
            <a:off x="611280" y="1543680"/>
            <a:ext cx="5392080" cy="2008800"/>
          </a:xfrm>
          <a:custGeom>
            <a:avLst/>
            <a:gdLst/>
            <a:ahLst/>
            <a:rect l="l" t="t" r="r" b="b"/>
            <a:pathLst>
              <a:path w="5392420" h="2009139">
                <a:moveTo>
                  <a:pt x="0" y="133350"/>
                </a:moveTo>
                <a:lnTo>
                  <a:pt x="6801" y="91196"/>
                </a:lnTo>
                <a:lnTo>
                  <a:pt x="25738" y="54589"/>
                </a:lnTo>
                <a:lnTo>
                  <a:pt x="54614" y="25725"/>
                </a:lnTo>
                <a:lnTo>
                  <a:pt x="91230" y="6797"/>
                </a:lnTo>
                <a:lnTo>
                  <a:pt x="133388" y="0"/>
                </a:lnTo>
                <a:lnTo>
                  <a:pt x="5258562" y="0"/>
                </a:lnTo>
                <a:lnTo>
                  <a:pt x="5300715" y="6797"/>
                </a:lnTo>
                <a:lnTo>
                  <a:pt x="5337322" y="25725"/>
                </a:lnTo>
                <a:lnTo>
                  <a:pt x="5366186" y="54589"/>
                </a:lnTo>
                <a:lnTo>
                  <a:pt x="5385114" y="91196"/>
                </a:lnTo>
                <a:lnTo>
                  <a:pt x="5391912" y="133350"/>
                </a:lnTo>
                <a:lnTo>
                  <a:pt x="5391912" y="1875282"/>
                </a:lnTo>
                <a:lnTo>
                  <a:pt x="5385114" y="1917435"/>
                </a:lnTo>
                <a:lnTo>
                  <a:pt x="5366186" y="1954042"/>
                </a:lnTo>
                <a:lnTo>
                  <a:pt x="5337322" y="1982906"/>
                </a:lnTo>
                <a:lnTo>
                  <a:pt x="5300715" y="2001834"/>
                </a:lnTo>
                <a:lnTo>
                  <a:pt x="5258562" y="2008632"/>
                </a:lnTo>
                <a:lnTo>
                  <a:pt x="133388" y="2008632"/>
                </a:lnTo>
                <a:lnTo>
                  <a:pt x="91230" y="2001834"/>
                </a:lnTo>
                <a:lnTo>
                  <a:pt x="54614" y="1982906"/>
                </a:lnTo>
                <a:lnTo>
                  <a:pt x="25738" y="1954042"/>
                </a:lnTo>
                <a:lnTo>
                  <a:pt x="6801" y="1917435"/>
                </a:lnTo>
                <a:lnTo>
                  <a:pt x="0" y="1875282"/>
                </a:lnTo>
                <a:lnTo>
                  <a:pt x="0" y="133350"/>
                </a:lnTo>
                <a:close/>
              </a:path>
            </a:pathLst>
          </a:custGeom>
          <a:noFill/>
          <a:ln w="9144">
            <a:solidFill>
              <a:srgbClr val="e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bg object 18"/>
          <p:cNvSpPr/>
          <p:nvPr/>
        </p:nvSpPr>
        <p:spPr>
          <a:xfrm>
            <a:off x="6192000" y="1543680"/>
            <a:ext cx="5392080" cy="2008800"/>
          </a:xfrm>
          <a:custGeom>
            <a:avLst/>
            <a:gdLst/>
            <a:ahLst/>
            <a:rect l="l" t="t" r="r" b="b"/>
            <a:pathLst>
              <a:path w="5392420" h="2009139">
                <a:moveTo>
                  <a:pt x="5258562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1875282"/>
                </a:lnTo>
                <a:lnTo>
                  <a:pt x="6797" y="1917435"/>
                </a:lnTo>
                <a:lnTo>
                  <a:pt x="25725" y="1954042"/>
                </a:lnTo>
                <a:lnTo>
                  <a:pt x="54589" y="1982906"/>
                </a:lnTo>
                <a:lnTo>
                  <a:pt x="91196" y="2001834"/>
                </a:lnTo>
                <a:lnTo>
                  <a:pt x="133350" y="2008632"/>
                </a:lnTo>
                <a:lnTo>
                  <a:pt x="5258562" y="2008632"/>
                </a:lnTo>
                <a:lnTo>
                  <a:pt x="5300715" y="2001834"/>
                </a:lnTo>
                <a:lnTo>
                  <a:pt x="5337322" y="1982906"/>
                </a:lnTo>
                <a:lnTo>
                  <a:pt x="5366186" y="1954042"/>
                </a:lnTo>
                <a:lnTo>
                  <a:pt x="5385114" y="1917435"/>
                </a:lnTo>
                <a:lnTo>
                  <a:pt x="5391912" y="1875282"/>
                </a:lnTo>
                <a:lnTo>
                  <a:pt x="5391912" y="133350"/>
                </a:lnTo>
                <a:lnTo>
                  <a:pt x="5385114" y="91196"/>
                </a:lnTo>
                <a:lnTo>
                  <a:pt x="5366186" y="54589"/>
                </a:lnTo>
                <a:lnTo>
                  <a:pt x="5337322" y="25725"/>
                </a:lnTo>
                <a:lnTo>
                  <a:pt x="5300715" y="6797"/>
                </a:lnTo>
                <a:lnTo>
                  <a:pt x="5258562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bg object 19"/>
          <p:cNvSpPr/>
          <p:nvPr/>
        </p:nvSpPr>
        <p:spPr>
          <a:xfrm>
            <a:off x="6192000" y="1543680"/>
            <a:ext cx="5392080" cy="2008800"/>
          </a:xfrm>
          <a:custGeom>
            <a:avLst/>
            <a:gdLst/>
            <a:ahLst/>
            <a:rect l="l" t="t" r="r" b="b"/>
            <a:pathLst>
              <a:path w="5392420" h="2009139">
                <a:moveTo>
                  <a:pt x="0" y="133350"/>
                </a:moveTo>
                <a:lnTo>
                  <a:pt x="6797" y="91196"/>
                </a:lnTo>
                <a:lnTo>
                  <a:pt x="25725" y="54589"/>
                </a:lnTo>
                <a:lnTo>
                  <a:pt x="54589" y="25725"/>
                </a:lnTo>
                <a:lnTo>
                  <a:pt x="91196" y="6797"/>
                </a:lnTo>
                <a:lnTo>
                  <a:pt x="133350" y="0"/>
                </a:lnTo>
                <a:lnTo>
                  <a:pt x="5258562" y="0"/>
                </a:lnTo>
                <a:lnTo>
                  <a:pt x="5300715" y="6797"/>
                </a:lnTo>
                <a:lnTo>
                  <a:pt x="5337322" y="25725"/>
                </a:lnTo>
                <a:lnTo>
                  <a:pt x="5366186" y="54589"/>
                </a:lnTo>
                <a:lnTo>
                  <a:pt x="5385114" y="91196"/>
                </a:lnTo>
                <a:lnTo>
                  <a:pt x="5391912" y="133350"/>
                </a:lnTo>
                <a:lnTo>
                  <a:pt x="5391912" y="1875282"/>
                </a:lnTo>
                <a:lnTo>
                  <a:pt x="5385114" y="1917435"/>
                </a:lnTo>
                <a:lnTo>
                  <a:pt x="5366186" y="1954042"/>
                </a:lnTo>
                <a:lnTo>
                  <a:pt x="5337322" y="1982906"/>
                </a:lnTo>
                <a:lnTo>
                  <a:pt x="5300715" y="2001834"/>
                </a:lnTo>
                <a:lnTo>
                  <a:pt x="5258562" y="2008632"/>
                </a:lnTo>
                <a:lnTo>
                  <a:pt x="133350" y="2008632"/>
                </a:lnTo>
                <a:lnTo>
                  <a:pt x="91196" y="2001834"/>
                </a:lnTo>
                <a:lnTo>
                  <a:pt x="54589" y="1982906"/>
                </a:lnTo>
                <a:lnTo>
                  <a:pt x="25725" y="1954042"/>
                </a:lnTo>
                <a:lnTo>
                  <a:pt x="6797" y="1917435"/>
                </a:lnTo>
                <a:lnTo>
                  <a:pt x="0" y="1875282"/>
                </a:lnTo>
                <a:lnTo>
                  <a:pt x="0" y="133350"/>
                </a:lnTo>
                <a:close/>
              </a:path>
            </a:pathLst>
          </a:custGeom>
          <a:noFill/>
          <a:ln w="9144">
            <a:solidFill>
              <a:srgbClr val="e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bg object 20"/>
          <p:cNvSpPr/>
          <p:nvPr/>
        </p:nvSpPr>
        <p:spPr>
          <a:xfrm>
            <a:off x="611280" y="4286880"/>
            <a:ext cx="5392080" cy="1785960"/>
          </a:xfrm>
          <a:custGeom>
            <a:avLst/>
            <a:gdLst/>
            <a:ahLst/>
            <a:rect l="l" t="t" r="r" b="b"/>
            <a:pathLst>
              <a:path w="5392420" h="1786254">
                <a:moveTo>
                  <a:pt x="5258435" y="0"/>
                </a:moveTo>
                <a:lnTo>
                  <a:pt x="133438" y="0"/>
                </a:lnTo>
                <a:lnTo>
                  <a:pt x="91261" y="6798"/>
                </a:lnTo>
                <a:lnTo>
                  <a:pt x="54630" y="25733"/>
                </a:lnTo>
                <a:lnTo>
                  <a:pt x="25745" y="54617"/>
                </a:lnTo>
                <a:lnTo>
                  <a:pt x="6802" y="91261"/>
                </a:lnTo>
                <a:lnTo>
                  <a:pt x="0" y="133476"/>
                </a:lnTo>
                <a:lnTo>
                  <a:pt x="0" y="1652689"/>
                </a:lnTo>
                <a:lnTo>
                  <a:pt x="6802" y="1694866"/>
                </a:lnTo>
                <a:lnTo>
                  <a:pt x="25745" y="1731497"/>
                </a:lnTo>
                <a:lnTo>
                  <a:pt x="54630" y="1760382"/>
                </a:lnTo>
                <a:lnTo>
                  <a:pt x="91261" y="1779325"/>
                </a:lnTo>
                <a:lnTo>
                  <a:pt x="133438" y="1786127"/>
                </a:lnTo>
                <a:lnTo>
                  <a:pt x="5258435" y="1786127"/>
                </a:lnTo>
                <a:lnTo>
                  <a:pt x="5300650" y="1779325"/>
                </a:lnTo>
                <a:lnTo>
                  <a:pt x="5337294" y="1760382"/>
                </a:lnTo>
                <a:lnTo>
                  <a:pt x="5366178" y="1731497"/>
                </a:lnTo>
                <a:lnTo>
                  <a:pt x="5385113" y="1694866"/>
                </a:lnTo>
                <a:lnTo>
                  <a:pt x="5391912" y="1652689"/>
                </a:lnTo>
                <a:lnTo>
                  <a:pt x="5391912" y="133476"/>
                </a:lnTo>
                <a:lnTo>
                  <a:pt x="5385113" y="91261"/>
                </a:lnTo>
                <a:lnTo>
                  <a:pt x="5366178" y="54617"/>
                </a:lnTo>
                <a:lnTo>
                  <a:pt x="5337294" y="25733"/>
                </a:lnTo>
                <a:lnTo>
                  <a:pt x="5300650" y="6798"/>
                </a:lnTo>
                <a:lnTo>
                  <a:pt x="5258435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bg object 21"/>
          <p:cNvSpPr/>
          <p:nvPr/>
        </p:nvSpPr>
        <p:spPr>
          <a:xfrm>
            <a:off x="611280" y="4286880"/>
            <a:ext cx="5392080" cy="1785960"/>
          </a:xfrm>
          <a:custGeom>
            <a:avLst/>
            <a:gdLst/>
            <a:ahLst/>
            <a:rect l="l" t="t" r="r" b="b"/>
            <a:pathLst>
              <a:path w="5392420" h="1786254">
                <a:moveTo>
                  <a:pt x="0" y="133476"/>
                </a:moveTo>
                <a:lnTo>
                  <a:pt x="6802" y="91261"/>
                </a:lnTo>
                <a:lnTo>
                  <a:pt x="25745" y="54617"/>
                </a:lnTo>
                <a:lnTo>
                  <a:pt x="54630" y="25733"/>
                </a:lnTo>
                <a:lnTo>
                  <a:pt x="91261" y="6798"/>
                </a:lnTo>
                <a:lnTo>
                  <a:pt x="133438" y="0"/>
                </a:lnTo>
                <a:lnTo>
                  <a:pt x="5258435" y="0"/>
                </a:lnTo>
                <a:lnTo>
                  <a:pt x="5300650" y="6798"/>
                </a:lnTo>
                <a:lnTo>
                  <a:pt x="5337294" y="25733"/>
                </a:lnTo>
                <a:lnTo>
                  <a:pt x="5366178" y="54617"/>
                </a:lnTo>
                <a:lnTo>
                  <a:pt x="5385113" y="91261"/>
                </a:lnTo>
                <a:lnTo>
                  <a:pt x="5391912" y="133476"/>
                </a:lnTo>
                <a:lnTo>
                  <a:pt x="5391912" y="1652689"/>
                </a:lnTo>
                <a:lnTo>
                  <a:pt x="5385113" y="1694866"/>
                </a:lnTo>
                <a:lnTo>
                  <a:pt x="5366178" y="1731497"/>
                </a:lnTo>
                <a:lnTo>
                  <a:pt x="5337294" y="1760382"/>
                </a:lnTo>
                <a:lnTo>
                  <a:pt x="5300650" y="1779325"/>
                </a:lnTo>
                <a:lnTo>
                  <a:pt x="5258435" y="1786127"/>
                </a:lnTo>
                <a:lnTo>
                  <a:pt x="133438" y="1786127"/>
                </a:lnTo>
                <a:lnTo>
                  <a:pt x="91261" y="1779325"/>
                </a:lnTo>
                <a:lnTo>
                  <a:pt x="54630" y="1760382"/>
                </a:lnTo>
                <a:lnTo>
                  <a:pt x="25745" y="1731497"/>
                </a:lnTo>
                <a:lnTo>
                  <a:pt x="6802" y="1694866"/>
                </a:lnTo>
                <a:lnTo>
                  <a:pt x="0" y="1652689"/>
                </a:lnTo>
                <a:lnTo>
                  <a:pt x="0" y="133476"/>
                </a:lnTo>
                <a:close/>
              </a:path>
            </a:pathLst>
          </a:custGeom>
          <a:noFill/>
          <a:ln w="9144">
            <a:solidFill>
              <a:srgbClr val="e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bg object 22"/>
          <p:cNvSpPr/>
          <p:nvPr/>
        </p:nvSpPr>
        <p:spPr>
          <a:xfrm>
            <a:off x="6192000" y="4177440"/>
            <a:ext cx="5392080" cy="2008800"/>
          </a:xfrm>
          <a:custGeom>
            <a:avLst/>
            <a:gdLst/>
            <a:ahLst/>
            <a:rect l="l" t="t" r="r" b="b"/>
            <a:pathLst>
              <a:path w="5392420" h="2009139">
                <a:moveTo>
                  <a:pt x="5258562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1875231"/>
                </a:lnTo>
                <a:lnTo>
                  <a:pt x="6797" y="1917395"/>
                </a:lnTo>
                <a:lnTo>
                  <a:pt x="25725" y="1954014"/>
                </a:lnTo>
                <a:lnTo>
                  <a:pt x="54589" y="1982892"/>
                </a:lnTo>
                <a:lnTo>
                  <a:pt x="91196" y="2001830"/>
                </a:lnTo>
                <a:lnTo>
                  <a:pt x="133350" y="2008632"/>
                </a:lnTo>
                <a:lnTo>
                  <a:pt x="5258562" y="2008632"/>
                </a:lnTo>
                <a:lnTo>
                  <a:pt x="5300715" y="2001830"/>
                </a:lnTo>
                <a:lnTo>
                  <a:pt x="5337322" y="1982892"/>
                </a:lnTo>
                <a:lnTo>
                  <a:pt x="5366186" y="1954014"/>
                </a:lnTo>
                <a:lnTo>
                  <a:pt x="5385114" y="1917395"/>
                </a:lnTo>
                <a:lnTo>
                  <a:pt x="5391912" y="1875231"/>
                </a:lnTo>
                <a:lnTo>
                  <a:pt x="5391912" y="133350"/>
                </a:lnTo>
                <a:lnTo>
                  <a:pt x="5385114" y="91196"/>
                </a:lnTo>
                <a:lnTo>
                  <a:pt x="5366186" y="54589"/>
                </a:lnTo>
                <a:lnTo>
                  <a:pt x="5337322" y="25725"/>
                </a:lnTo>
                <a:lnTo>
                  <a:pt x="5300715" y="6797"/>
                </a:lnTo>
                <a:lnTo>
                  <a:pt x="5258562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bg object 23"/>
          <p:cNvSpPr/>
          <p:nvPr/>
        </p:nvSpPr>
        <p:spPr>
          <a:xfrm>
            <a:off x="6192000" y="4177440"/>
            <a:ext cx="5392080" cy="2008800"/>
          </a:xfrm>
          <a:custGeom>
            <a:avLst/>
            <a:gdLst/>
            <a:ahLst/>
            <a:rect l="l" t="t" r="r" b="b"/>
            <a:pathLst>
              <a:path w="5392420" h="2009139">
                <a:moveTo>
                  <a:pt x="0" y="133350"/>
                </a:moveTo>
                <a:lnTo>
                  <a:pt x="6797" y="91196"/>
                </a:lnTo>
                <a:lnTo>
                  <a:pt x="25725" y="54589"/>
                </a:lnTo>
                <a:lnTo>
                  <a:pt x="54589" y="25725"/>
                </a:lnTo>
                <a:lnTo>
                  <a:pt x="91196" y="6797"/>
                </a:lnTo>
                <a:lnTo>
                  <a:pt x="133350" y="0"/>
                </a:lnTo>
                <a:lnTo>
                  <a:pt x="5258562" y="0"/>
                </a:lnTo>
                <a:lnTo>
                  <a:pt x="5300715" y="6797"/>
                </a:lnTo>
                <a:lnTo>
                  <a:pt x="5337322" y="25725"/>
                </a:lnTo>
                <a:lnTo>
                  <a:pt x="5366186" y="54589"/>
                </a:lnTo>
                <a:lnTo>
                  <a:pt x="5385114" y="91196"/>
                </a:lnTo>
                <a:lnTo>
                  <a:pt x="5391912" y="133350"/>
                </a:lnTo>
                <a:lnTo>
                  <a:pt x="5391912" y="1875231"/>
                </a:lnTo>
                <a:lnTo>
                  <a:pt x="5385114" y="1917395"/>
                </a:lnTo>
                <a:lnTo>
                  <a:pt x="5366186" y="1954014"/>
                </a:lnTo>
                <a:lnTo>
                  <a:pt x="5337322" y="1982892"/>
                </a:lnTo>
                <a:lnTo>
                  <a:pt x="5300715" y="2001830"/>
                </a:lnTo>
                <a:lnTo>
                  <a:pt x="5258562" y="2008632"/>
                </a:lnTo>
                <a:lnTo>
                  <a:pt x="133350" y="2008632"/>
                </a:lnTo>
                <a:lnTo>
                  <a:pt x="91196" y="2001830"/>
                </a:lnTo>
                <a:lnTo>
                  <a:pt x="54589" y="1982892"/>
                </a:lnTo>
                <a:lnTo>
                  <a:pt x="25725" y="1954014"/>
                </a:lnTo>
                <a:lnTo>
                  <a:pt x="6797" y="1917395"/>
                </a:lnTo>
                <a:lnTo>
                  <a:pt x="0" y="1875231"/>
                </a:lnTo>
                <a:lnTo>
                  <a:pt x="0" y="133350"/>
                </a:lnTo>
                <a:close/>
              </a:path>
            </a:pathLst>
          </a:custGeom>
          <a:noFill/>
          <a:ln w="9144">
            <a:solidFill>
              <a:srgbClr val="ede8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bg object 24"/>
          <p:cNvSpPr/>
          <p:nvPr/>
        </p:nvSpPr>
        <p:spPr>
          <a:xfrm>
            <a:off x="829080" y="1761840"/>
            <a:ext cx="1076040" cy="228240"/>
          </a:xfrm>
          <a:custGeom>
            <a:avLst/>
            <a:gdLst/>
            <a:ahLst/>
            <a:rect l="l" t="t" r="r" b="b"/>
            <a:pathLst>
              <a:path w="1076325" h="228600">
                <a:moveTo>
                  <a:pt x="1018794" y="0"/>
                </a:moveTo>
                <a:lnTo>
                  <a:pt x="57150" y="0"/>
                </a:lnTo>
                <a:lnTo>
                  <a:pt x="34906" y="4482"/>
                </a:lnTo>
                <a:lnTo>
                  <a:pt x="16740" y="16716"/>
                </a:lnTo>
                <a:lnTo>
                  <a:pt x="4491" y="34879"/>
                </a:lnTo>
                <a:lnTo>
                  <a:pt x="0" y="57150"/>
                </a:lnTo>
                <a:lnTo>
                  <a:pt x="0" y="171450"/>
                </a:lnTo>
                <a:lnTo>
                  <a:pt x="4491" y="193720"/>
                </a:lnTo>
                <a:lnTo>
                  <a:pt x="16740" y="211883"/>
                </a:lnTo>
                <a:lnTo>
                  <a:pt x="34906" y="224117"/>
                </a:lnTo>
                <a:lnTo>
                  <a:pt x="57150" y="228600"/>
                </a:lnTo>
                <a:lnTo>
                  <a:pt x="1018794" y="228600"/>
                </a:lnTo>
                <a:lnTo>
                  <a:pt x="1041064" y="224117"/>
                </a:lnTo>
                <a:lnTo>
                  <a:pt x="1059227" y="211883"/>
                </a:lnTo>
                <a:lnTo>
                  <a:pt x="1071461" y="193720"/>
                </a:lnTo>
                <a:lnTo>
                  <a:pt x="1075944" y="171450"/>
                </a:lnTo>
                <a:lnTo>
                  <a:pt x="1075944" y="57150"/>
                </a:lnTo>
                <a:lnTo>
                  <a:pt x="1071461" y="34879"/>
                </a:lnTo>
                <a:lnTo>
                  <a:pt x="1059227" y="16716"/>
                </a:lnTo>
                <a:lnTo>
                  <a:pt x="1041064" y="4482"/>
                </a:lnTo>
                <a:lnTo>
                  <a:pt x="1018794" y="0"/>
                </a:lnTo>
                <a:close/>
              </a:path>
            </a:pathLst>
          </a:custGeom>
          <a:solidFill>
            <a:srgbClr val="fc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bg object 25"/>
          <p:cNvSpPr/>
          <p:nvPr/>
        </p:nvSpPr>
        <p:spPr>
          <a:xfrm>
            <a:off x="6409800" y="1761840"/>
            <a:ext cx="944640" cy="228240"/>
          </a:xfrm>
          <a:custGeom>
            <a:avLst/>
            <a:gdLst/>
            <a:ahLst/>
            <a:rect l="l" t="t" r="r" b="b"/>
            <a:pathLst>
              <a:path w="944879" h="228600">
                <a:moveTo>
                  <a:pt x="887729" y="0"/>
                </a:moveTo>
                <a:lnTo>
                  <a:pt x="57150" y="0"/>
                </a:lnTo>
                <a:lnTo>
                  <a:pt x="34879" y="4482"/>
                </a:lnTo>
                <a:lnTo>
                  <a:pt x="16716" y="16716"/>
                </a:lnTo>
                <a:lnTo>
                  <a:pt x="4482" y="34879"/>
                </a:lnTo>
                <a:lnTo>
                  <a:pt x="0" y="57150"/>
                </a:lnTo>
                <a:lnTo>
                  <a:pt x="0" y="171450"/>
                </a:lnTo>
                <a:lnTo>
                  <a:pt x="4482" y="193720"/>
                </a:lnTo>
                <a:lnTo>
                  <a:pt x="16716" y="211883"/>
                </a:lnTo>
                <a:lnTo>
                  <a:pt x="34879" y="224117"/>
                </a:lnTo>
                <a:lnTo>
                  <a:pt x="57150" y="228600"/>
                </a:lnTo>
                <a:lnTo>
                  <a:pt x="887729" y="228600"/>
                </a:lnTo>
                <a:lnTo>
                  <a:pt x="910000" y="224117"/>
                </a:lnTo>
                <a:lnTo>
                  <a:pt x="928163" y="211883"/>
                </a:lnTo>
                <a:lnTo>
                  <a:pt x="940397" y="193720"/>
                </a:lnTo>
                <a:lnTo>
                  <a:pt x="944879" y="171450"/>
                </a:lnTo>
                <a:lnTo>
                  <a:pt x="944879" y="57150"/>
                </a:lnTo>
                <a:lnTo>
                  <a:pt x="940397" y="34879"/>
                </a:lnTo>
                <a:lnTo>
                  <a:pt x="928163" y="16716"/>
                </a:lnTo>
                <a:lnTo>
                  <a:pt x="910000" y="4482"/>
                </a:lnTo>
                <a:lnTo>
                  <a:pt x="887729" y="0"/>
                </a:lnTo>
                <a:close/>
              </a:path>
            </a:pathLst>
          </a:custGeom>
          <a:solidFill>
            <a:srgbClr val="fc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bg object 26"/>
          <p:cNvSpPr/>
          <p:nvPr/>
        </p:nvSpPr>
        <p:spPr>
          <a:xfrm>
            <a:off x="829080" y="4505040"/>
            <a:ext cx="1648800" cy="228240"/>
          </a:xfrm>
          <a:custGeom>
            <a:avLst/>
            <a:gdLst/>
            <a:ahLst/>
            <a:rect l="l" t="t" r="r" b="b"/>
            <a:pathLst>
              <a:path w="1649095" h="228600">
                <a:moveTo>
                  <a:pt x="1591818" y="0"/>
                </a:moveTo>
                <a:lnTo>
                  <a:pt x="57150" y="0"/>
                </a:lnTo>
                <a:lnTo>
                  <a:pt x="34906" y="4482"/>
                </a:lnTo>
                <a:lnTo>
                  <a:pt x="16740" y="16716"/>
                </a:lnTo>
                <a:lnTo>
                  <a:pt x="4491" y="34879"/>
                </a:lnTo>
                <a:lnTo>
                  <a:pt x="0" y="57149"/>
                </a:lnTo>
                <a:lnTo>
                  <a:pt x="0" y="171449"/>
                </a:lnTo>
                <a:lnTo>
                  <a:pt x="4491" y="193720"/>
                </a:lnTo>
                <a:lnTo>
                  <a:pt x="16740" y="211883"/>
                </a:lnTo>
                <a:lnTo>
                  <a:pt x="34906" y="224117"/>
                </a:lnTo>
                <a:lnTo>
                  <a:pt x="57150" y="228599"/>
                </a:lnTo>
                <a:lnTo>
                  <a:pt x="1591818" y="228599"/>
                </a:lnTo>
                <a:lnTo>
                  <a:pt x="1614088" y="224117"/>
                </a:lnTo>
                <a:lnTo>
                  <a:pt x="1632251" y="211883"/>
                </a:lnTo>
                <a:lnTo>
                  <a:pt x="1644485" y="193720"/>
                </a:lnTo>
                <a:lnTo>
                  <a:pt x="1648968" y="171449"/>
                </a:lnTo>
                <a:lnTo>
                  <a:pt x="1648968" y="57149"/>
                </a:lnTo>
                <a:lnTo>
                  <a:pt x="1644485" y="34879"/>
                </a:lnTo>
                <a:lnTo>
                  <a:pt x="1632251" y="16716"/>
                </a:lnTo>
                <a:lnTo>
                  <a:pt x="1614088" y="4482"/>
                </a:lnTo>
                <a:lnTo>
                  <a:pt x="1591818" y="0"/>
                </a:lnTo>
                <a:close/>
              </a:path>
            </a:pathLst>
          </a:custGeom>
          <a:solidFill>
            <a:srgbClr val="e6ef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bg object 27"/>
          <p:cNvSpPr/>
          <p:nvPr/>
        </p:nvSpPr>
        <p:spPr>
          <a:xfrm>
            <a:off x="6409800" y="4395240"/>
            <a:ext cx="1541880" cy="228240"/>
          </a:xfrm>
          <a:custGeom>
            <a:avLst/>
            <a:gdLst/>
            <a:ahLst/>
            <a:rect l="l" t="t" r="r" b="b"/>
            <a:pathLst>
              <a:path w="1542415" h="228600">
                <a:moveTo>
                  <a:pt x="1485137" y="0"/>
                </a:moveTo>
                <a:lnTo>
                  <a:pt x="57150" y="0"/>
                </a:lnTo>
                <a:lnTo>
                  <a:pt x="34879" y="4482"/>
                </a:lnTo>
                <a:lnTo>
                  <a:pt x="16716" y="16716"/>
                </a:lnTo>
                <a:lnTo>
                  <a:pt x="4482" y="34879"/>
                </a:lnTo>
                <a:lnTo>
                  <a:pt x="0" y="57149"/>
                </a:lnTo>
                <a:lnTo>
                  <a:pt x="0" y="171449"/>
                </a:lnTo>
                <a:lnTo>
                  <a:pt x="4482" y="193720"/>
                </a:lnTo>
                <a:lnTo>
                  <a:pt x="16716" y="211883"/>
                </a:lnTo>
                <a:lnTo>
                  <a:pt x="34879" y="224117"/>
                </a:lnTo>
                <a:lnTo>
                  <a:pt x="57150" y="228599"/>
                </a:lnTo>
                <a:lnTo>
                  <a:pt x="1485137" y="228599"/>
                </a:lnTo>
                <a:lnTo>
                  <a:pt x="1507408" y="224117"/>
                </a:lnTo>
                <a:lnTo>
                  <a:pt x="1525571" y="211883"/>
                </a:lnTo>
                <a:lnTo>
                  <a:pt x="1537805" y="193720"/>
                </a:lnTo>
                <a:lnTo>
                  <a:pt x="1542287" y="171449"/>
                </a:lnTo>
                <a:lnTo>
                  <a:pt x="1542287" y="57149"/>
                </a:lnTo>
                <a:lnTo>
                  <a:pt x="1537805" y="34879"/>
                </a:lnTo>
                <a:lnTo>
                  <a:pt x="1525571" y="16716"/>
                </a:lnTo>
                <a:lnTo>
                  <a:pt x="1507408" y="4482"/>
                </a:lnTo>
                <a:lnTo>
                  <a:pt x="1485137" y="0"/>
                </a:lnTo>
                <a:close/>
              </a:path>
            </a:pathLst>
          </a:custGeom>
          <a:solidFill>
            <a:srgbClr val="fc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bg object 28" descr=""/>
          <p:cNvPicPr/>
          <p:nvPr/>
        </p:nvPicPr>
        <p:blipFill>
          <a:blip r:embed="rId2"/>
          <a:stretch/>
        </p:blipFill>
        <p:spPr>
          <a:xfrm>
            <a:off x="5611320" y="1789200"/>
            <a:ext cx="170280" cy="170280"/>
          </a:xfrm>
          <a:prstGeom prst="rect">
            <a:avLst/>
          </a:prstGeom>
          <a:ln w="0">
            <a:noFill/>
          </a:ln>
        </p:spPr>
      </p:pic>
      <p:pic>
        <p:nvPicPr>
          <p:cNvPr id="54" name="bg object 29" descr=""/>
          <p:cNvPicPr/>
          <p:nvPr/>
        </p:nvPicPr>
        <p:blipFill>
          <a:blip r:embed="rId3"/>
          <a:stretch/>
        </p:blipFill>
        <p:spPr>
          <a:xfrm>
            <a:off x="2295000" y="3188160"/>
            <a:ext cx="115560" cy="112320"/>
          </a:xfrm>
          <a:prstGeom prst="rect">
            <a:avLst/>
          </a:prstGeom>
          <a:ln w="0">
            <a:noFill/>
          </a:ln>
        </p:spPr>
      </p:pic>
      <p:pic>
        <p:nvPicPr>
          <p:cNvPr id="55" name="bg object 30" descr=""/>
          <p:cNvPicPr/>
          <p:nvPr/>
        </p:nvPicPr>
        <p:blipFill>
          <a:blip r:embed="rId4"/>
          <a:stretch/>
        </p:blipFill>
        <p:spPr>
          <a:xfrm>
            <a:off x="11192400" y="1789200"/>
            <a:ext cx="170280" cy="170280"/>
          </a:xfrm>
          <a:prstGeom prst="rect">
            <a:avLst/>
          </a:prstGeom>
          <a:ln w="0">
            <a:noFill/>
          </a:ln>
        </p:spPr>
      </p:pic>
      <p:pic>
        <p:nvPicPr>
          <p:cNvPr id="56" name="bg object 31" descr=""/>
          <p:cNvPicPr/>
          <p:nvPr/>
        </p:nvPicPr>
        <p:blipFill>
          <a:blip r:embed="rId5"/>
          <a:stretch/>
        </p:blipFill>
        <p:spPr>
          <a:xfrm>
            <a:off x="7973640" y="3188160"/>
            <a:ext cx="112320" cy="112320"/>
          </a:xfrm>
          <a:prstGeom prst="rect">
            <a:avLst/>
          </a:prstGeom>
          <a:ln w="0">
            <a:noFill/>
          </a:ln>
        </p:spPr>
      </p:pic>
      <p:pic>
        <p:nvPicPr>
          <p:cNvPr id="57" name="bg object 32" descr=""/>
          <p:cNvPicPr/>
          <p:nvPr/>
        </p:nvPicPr>
        <p:blipFill>
          <a:blip r:embed="rId6"/>
          <a:stretch/>
        </p:blipFill>
        <p:spPr>
          <a:xfrm>
            <a:off x="5611320" y="4535280"/>
            <a:ext cx="170280" cy="170280"/>
          </a:xfrm>
          <a:prstGeom prst="rect">
            <a:avLst/>
          </a:prstGeom>
          <a:ln w="0">
            <a:noFill/>
          </a:ln>
        </p:spPr>
      </p:pic>
      <p:pic>
        <p:nvPicPr>
          <p:cNvPr id="58" name="bg object 33" descr=""/>
          <p:cNvPicPr/>
          <p:nvPr/>
        </p:nvPicPr>
        <p:blipFill>
          <a:blip r:embed="rId7"/>
          <a:stretch/>
        </p:blipFill>
        <p:spPr>
          <a:xfrm>
            <a:off x="2447640" y="5708880"/>
            <a:ext cx="115560" cy="106560"/>
          </a:xfrm>
          <a:prstGeom prst="rect">
            <a:avLst/>
          </a:prstGeom>
          <a:ln w="0">
            <a:noFill/>
          </a:ln>
        </p:spPr>
      </p:pic>
      <p:pic>
        <p:nvPicPr>
          <p:cNvPr id="59" name="bg object 34" descr=""/>
          <p:cNvPicPr/>
          <p:nvPr/>
        </p:nvPicPr>
        <p:blipFill>
          <a:blip r:embed="rId8"/>
          <a:stretch/>
        </p:blipFill>
        <p:spPr>
          <a:xfrm>
            <a:off x="11143440" y="4422600"/>
            <a:ext cx="219240" cy="170280"/>
          </a:xfrm>
          <a:prstGeom prst="rect">
            <a:avLst/>
          </a:prstGeom>
          <a:ln w="0">
            <a:noFill/>
          </a:ln>
        </p:spPr>
      </p:pic>
      <p:pic>
        <p:nvPicPr>
          <p:cNvPr id="60" name="bg object 35" descr=""/>
          <p:cNvPicPr/>
          <p:nvPr/>
        </p:nvPicPr>
        <p:blipFill>
          <a:blip r:embed="rId9"/>
          <a:stretch/>
        </p:blipFill>
        <p:spPr>
          <a:xfrm>
            <a:off x="7449480" y="5821560"/>
            <a:ext cx="112320" cy="11232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3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400" spc="-1" strike="noStrike">
                <a:latin typeface="Calibri"/>
              </a:rPr>
              <a:t>Clique para </a:t>
            </a:r>
            <a:r>
              <a:rPr b="0" lang="pt-BR" sz="2400" spc="-1" strike="noStrike">
                <a:latin typeface="Calibri"/>
              </a:rPr>
              <a:t>editar o </a:t>
            </a:r>
            <a:r>
              <a:rPr b="0" lang="pt-BR" sz="2400" spc="-1" strike="noStrike">
                <a:latin typeface="Calibri"/>
              </a:rPr>
              <a:t>formato do </a:t>
            </a:r>
            <a:r>
              <a:rPr b="0" lang="pt-BR" sz="2400" spc="-1" strike="noStrike">
                <a:latin typeface="Calibri"/>
              </a:rPr>
              <a:t>texto do título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399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Clique para editar o formato do texto da estrutura de tópicos</a:t>
            </a:r>
            <a:endParaRPr b="0" lang="pt-BR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Calibri"/>
              </a:rPr>
              <a:t>2.º nível da estrutura de tópicos</a:t>
            </a:r>
            <a:endParaRPr b="0" lang="pt-BR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3.º nível da estrutura de tópicos</a:t>
            </a:r>
            <a:endParaRPr b="0" lang="pt-BR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Calibri"/>
              </a:rPr>
              <a:t>4.º nível da estrutura de tópicos</a:t>
            </a:r>
            <a:endParaRPr b="0" lang="pt-BR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5.º nível da estrutura de tópicos</a:t>
            </a:r>
            <a:endParaRPr b="0" lang="pt-BR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6.º nível da estrutura de tópicos</a:t>
            </a:r>
            <a:endParaRPr b="0" lang="pt-BR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7.º nível da estrutura de tópicos</a:t>
            </a:r>
            <a:endParaRPr b="0" lang="pt-BR" sz="1800" spc="-1" strike="noStrike"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399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Clique para editar o formato do texto da estrutura de tópicos</a:t>
            </a:r>
            <a:endParaRPr b="0" lang="pt-BR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Calibri"/>
              </a:rPr>
              <a:t>2.º nível da estrutura de tópicos</a:t>
            </a:r>
            <a:endParaRPr b="0" lang="pt-BR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3.º nível da estrutura de tópicos</a:t>
            </a:r>
            <a:endParaRPr b="0" lang="pt-BR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Calibri"/>
              </a:rPr>
              <a:t>4.º nível da estrutura de tópicos</a:t>
            </a:r>
            <a:endParaRPr b="0" lang="pt-BR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5.º nível da estrutura de tópicos</a:t>
            </a:r>
            <a:endParaRPr b="0" lang="pt-BR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6.º nível da estrutura de tópicos</a:t>
            </a:r>
            <a:endParaRPr b="0" lang="pt-BR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Calibri"/>
              </a:rPr>
              <a:t>7.º nível da estrutura de tópicos</a:t>
            </a:r>
            <a:endParaRPr b="0" lang="pt-BR" sz="1800" spc="-1" strike="noStrike"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pt-B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D4F7E2-3BAB-4700-8D69-612B7B91A7C0}" type="slidenum">
              <a:rPr b="0" lang="pt-BR" sz="1400" spc="-1" strike="noStrike">
                <a:solidFill>
                  <a:srgbClr val="b2b2b2"/>
                </a:solidFill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bject 2"/>
          <p:cNvSpPr/>
          <p:nvPr/>
        </p:nvSpPr>
        <p:spPr>
          <a:xfrm>
            <a:off x="-3600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80e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object 3"/>
          <p:cNvSpPr/>
          <p:nvPr/>
        </p:nvSpPr>
        <p:spPr>
          <a:xfrm>
            <a:off x="609480" y="4843440"/>
            <a:ext cx="456840" cy="39600"/>
          </a:xfrm>
          <a:custGeom>
            <a:avLst/>
            <a:gdLst/>
            <a:ahLst/>
            <a:rect l="l" t="t" r="r" b="b"/>
            <a:pathLst>
              <a:path w="457200" h="40004">
                <a:moveTo>
                  <a:pt x="457200" y="0"/>
                </a:moveTo>
                <a:lnTo>
                  <a:pt x="0" y="0"/>
                </a:lnTo>
                <a:lnTo>
                  <a:pt x="0" y="39623"/>
                </a:lnTo>
                <a:lnTo>
                  <a:pt x="457200" y="39623"/>
                </a:lnTo>
                <a:lnTo>
                  <a:pt x="457200" y="0"/>
                </a:lnTo>
                <a:close/>
              </a:path>
            </a:pathLst>
          </a:custGeom>
          <a:solidFill>
            <a:srgbClr val="8209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object 4" descr="image.png"/>
          <p:cNvPicPr/>
          <p:nvPr/>
        </p:nvPicPr>
        <p:blipFill>
          <a:blip r:embed="rId1"/>
          <a:stretch/>
        </p:blipFill>
        <p:spPr>
          <a:xfrm>
            <a:off x="609480" y="1895760"/>
            <a:ext cx="331920" cy="2649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97240" y="2311200"/>
            <a:ext cx="794232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76680" bIns="0" anchor="t">
            <a:noAutofit/>
          </a:bodyPr>
          <a:p>
            <a:pPr marL="12600">
              <a:lnSpc>
                <a:spcPts val="4799"/>
              </a:lnSpc>
              <a:spcBef>
                <a:spcPts val="604"/>
              </a:spcBef>
              <a:buNone/>
            </a:pPr>
            <a:r>
              <a:rPr b="1" lang="pt-BR" sz="4350" spc="-1" strike="noStrike">
                <a:solidFill>
                  <a:srgbClr val="ffffff"/>
                </a:solidFill>
                <a:latin typeface="Arial"/>
              </a:rPr>
              <a:t>LifePath</a:t>
            </a:r>
            <a:r>
              <a:rPr b="1" lang="pt-BR" sz="4350" spc="-1" strike="noStrike">
                <a:solidFill>
                  <a:srgbClr val="ffffff"/>
                </a:solidFill>
                <a:latin typeface="Arial"/>
              </a:rPr>
              <a:t>:</a:t>
            </a:r>
            <a:r>
              <a:rPr b="1" lang="pt-BR" sz="4350" spc="-9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435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1" lang="pt-BR" sz="4350" spc="-100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4350" spc="-1" strike="noStrike">
                <a:solidFill>
                  <a:srgbClr val="ffffff"/>
                </a:solidFill>
                <a:latin typeface="Arial"/>
              </a:rPr>
              <a:t>Simulad</a:t>
            </a:r>
            <a:r>
              <a:rPr b="1" lang="pt-BR" sz="4350" spc="-1" strike="noStrike">
                <a:solidFill>
                  <a:srgbClr val="ffffff"/>
                </a:solidFill>
                <a:latin typeface="Arial"/>
              </a:rPr>
              <a:t>or</a:t>
            </a:r>
            <a:r>
              <a:rPr b="1" lang="pt-BR" sz="4350" spc="-114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4350" spc="-1" strike="noStrike">
                <a:solidFill>
                  <a:srgbClr val="ffffff"/>
                </a:solidFill>
                <a:latin typeface="Arial"/>
              </a:rPr>
              <a:t>da</a:t>
            </a:r>
            <a:r>
              <a:rPr b="1" lang="pt-BR" sz="4350" spc="-9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4350" spc="-21" strike="noStrike">
                <a:solidFill>
                  <a:srgbClr val="ffffff"/>
                </a:solidFill>
                <a:latin typeface="Arial"/>
              </a:rPr>
              <a:t>Vida </a:t>
            </a:r>
            <a:r>
              <a:rPr b="1" lang="pt-BR" sz="4350" spc="-21" strike="noStrike">
                <a:solidFill>
                  <a:srgbClr val="ffffff"/>
                </a:solidFill>
                <a:latin typeface="Arial"/>
              </a:rPr>
              <a:t>Real</a:t>
            </a:r>
            <a:endParaRPr b="0" lang="pt-BR" sz="4350" spc="-1" strike="noStrike">
              <a:latin typeface="Calibri"/>
            </a:endParaRPr>
          </a:p>
        </p:txBody>
      </p:sp>
      <p:sp>
        <p:nvSpPr>
          <p:cNvPr id="107" name="object 6"/>
          <p:cNvSpPr/>
          <p:nvPr/>
        </p:nvSpPr>
        <p:spPr>
          <a:xfrm>
            <a:off x="1045080" y="1912680"/>
            <a:ext cx="230292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1200" spc="-1" strike="noStrike">
                <a:solidFill>
                  <a:srgbClr val="ebd9ff"/>
                </a:solidFill>
                <a:latin typeface="Arial"/>
              </a:rPr>
              <a:t>PROJETO</a:t>
            </a:r>
            <a:r>
              <a:rPr b="1" lang="pt-BR" sz="1200" spc="-86" strike="noStrike">
                <a:solidFill>
                  <a:srgbClr val="ebd9ff"/>
                </a:solidFill>
                <a:latin typeface="Arial"/>
              </a:rPr>
              <a:t> </a:t>
            </a:r>
            <a:r>
              <a:rPr b="1" lang="pt-BR" sz="1200" spc="-12" strike="noStrike">
                <a:solidFill>
                  <a:srgbClr val="ebd9ff"/>
                </a:solidFill>
                <a:latin typeface="Arial"/>
              </a:rPr>
              <a:t>INOVAÇÃO</a:t>
            </a:r>
            <a:r>
              <a:rPr b="1" lang="pt-BR" sz="1200" spc="-35" strike="noStrike">
                <a:solidFill>
                  <a:srgbClr val="ebd9ff"/>
                </a:solidFill>
                <a:latin typeface="Arial"/>
              </a:rPr>
              <a:t> </a:t>
            </a:r>
            <a:r>
              <a:rPr b="1" lang="pt-BR" sz="1200" spc="-12" strike="noStrike">
                <a:solidFill>
                  <a:srgbClr val="ebd9ff"/>
                </a:solidFill>
                <a:latin typeface="Arial"/>
              </a:rPr>
              <a:t>NUBANK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8" name="object 7"/>
          <p:cNvSpPr/>
          <p:nvPr/>
        </p:nvSpPr>
        <p:spPr>
          <a:xfrm>
            <a:off x="597240" y="3753360"/>
            <a:ext cx="6463440" cy="14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12600">
              <a:lnSpc>
                <a:spcPct val="100000"/>
              </a:lnSpc>
              <a:spcBef>
                <a:spcPts val="425"/>
              </a:spcBef>
              <a:buNone/>
            </a:pP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Engajamento</a:t>
            </a:r>
            <a:r>
              <a:rPr b="0" lang="pt-BR" sz="1650" spc="-7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jovem</a:t>
            </a:r>
            <a:r>
              <a:rPr b="0" lang="pt-BR" sz="1650" spc="-26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através</a:t>
            </a:r>
            <a:r>
              <a:rPr b="0" lang="pt-BR" sz="1650" spc="-26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de simulação</a:t>
            </a:r>
            <a:r>
              <a:rPr b="0" lang="pt-BR" sz="1650" spc="-46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gamificada</a:t>
            </a:r>
            <a:r>
              <a:rPr b="0" lang="pt-BR" sz="1650" spc="-21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e</a:t>
            </a:r>
            <a:r>
              <a:rPr b="0" lang="pt-BR" sz="1650" spc="-21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2" strike="noStrike">
                <a:solidFill>
                  <a:srgbClr val="d0c4e8"/>
                </a:solidFill>
                <a:latin typeface="Arial MT"/>
              </a:rPr>
              <a:t>recompensas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26"/>
              </a:spcBef>
              <a:buNone/>
            </a:pP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convertidas</a:t>
            </a:r>
            <a:r>
              <a:rPr b="0" lang="pt-BR" sz="1650" spc="-55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em</a:t>
            </a:r>
            <a:r>
              <a:rPr b="0" lang="pt-BR" sz="1650" spc="-52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descontos</a:t>
            </a:r>
            <a:r>
              <a:rPr b="0" lang="pt-BR" sz="1650" spc="-55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para</a:t>
            </a:r>
            <a:r>
              <a:rPr b="0" lang="pt-BR" sz="1650" spc="-46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" strike="noStrike">
                <a:solidFill>
                  <a:srgbClr val="d0c4e8"/>
                </a:solidFill>
                <a:latin typeface="Arial MT"/>
              </a:rPr>
              <a:t>metas</a:t>
            </a:r>
            <a:r>
              <a:rPr b="0" lang="pt-BR" sz="1650" spc="-7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650" spc="-12" strike="noStrike">
                <a:solidFill>
                  <a:srgbClr val="d0c4e8"/>
                </a:solidFill>
                <a:latin typeface="Arial MT"/>
              </a:rPr>
              <a:t>reais.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35"/>
              </a:spcBef>
              <a:buNone/>
            </a:pPr>
            <a:endParaRPr b="0" lang="pt-BR" sz="1650" spc="-1" strike="noStrike">
              <a:latin typeface="Arial"/>
            </a:endParaRPr>
          </a:p>
          <a:p>
            <a:pPr marL="622440">
              <a:lnSpc>
                <a:spcPct val="100000"/>
              </a:lnSpc>
              <a:spcBef>
                <a:spcPts val="6"/>
              </a:spcBef>
              <a:buNone/>
            </a:pPr>
            <a:r>
              <a:rPr b="0" lang="pt-BR" sz="1200" spc="-1" strike="noStrike">
                <a:solidFill>
                  <a:srgbClr val="a294c4"/>
                </a:solidFill>
                <a:latin typeface="Arial MT"/>
              </a:rPr>
              <a:t>Educação</a:t>
            </a:r>
            <a:r>
              <a:rPr b="0" lang="pt-BR" sz="1200" spc="-41" strike="noStrike">
                <a:solidFill>
                  <a:srgbClr val="a294c4"/>
                </a:solidFill>
                <a:latin typeface="Arial MT"/>
              </a:rPr>
              <a:t> </a:t>
            </a:r>
            <a:r>
              <a:rPr b="0" lang="pt-BR" sz="1200" spc="-1" strike="noStrike">
                <a:solidFill>
                  <a:srgbClr val="a294c4"/>
                </a:solidFill>
                <a:latin typeface="Arial MT"/>
              </a:rPr>
              <a:t>Financeira</a:t>
            </a:r>
            <a:r>
              <a:rPr b="0" lang="pt-BR" sz="1200" spc="-60" strike="noStrike">
                <a:solidFill>
                  <a:srgbClr val="a294c4"/>
                </a:solidFill>
                <a:latin typeface="Arial MT"/>
              </a:rPr>
              <a:t> </a:t>
            </a:r>
            <a:r>
              <a:rPr b="0" lang="pt-BR" sz="1200" spc="-1" strike="noStrike">
                <a:solidFill>
                  <a:srgbClr val="a294c4"/>
                </a:solidFill>
                <a:latin typeface="Arial MT"/>
              </a:rPr>
              <a:t>&amp; Fidelização</a:t>
            </a:r>
            <a:r>
              <a:rPr b="0" lang="pt-BR" sz="1200" spc="-66" strike="noStrike">
                <a:solidFill>
                  <a:srgbClr val="a294c4"/>
                </a:solidFill>
                <a:latin typeface="Arial MT"/>
              </a:rPr>
              <a:t> </a:t>
            </a:r>
            <a:r>
              <a:rPr b="0" lang="pt-BR" sz="1200" spc="-1" strike="noStrike">
                <a:solidFill>
                  <a:srgbClr val="a294c4"/>
                </a:solidFill>
                <a:latin typeface="Arial MT"/>
              </a:rPr>
              <a:t>de</a:t>
            </a:r>
            <a:r>
              <a:rPr b="0" lang="pt-BR" sz="1200" spc="-12" strike="noStrike">
                <a:solidFill>
                  <a:srgbClr val="a294c4"/>
                </a:solidFill>
                <a:latin typeface="Arial MT"/>
              </a:rPr>
              <a:t> Clientes</a:t>
            </a:r>
            <a:endParaRPr b="0" lang="pt-BR" sz="1200" spc="-1" strike="noStrike">
              <a:latin typeface="Arial"/>
            </a:endParaRPr>
          </a:p>
        </p:txBody>
      </p:sp>
      <p:pic>
        <p:nvPicPr>
          <p:cNvPr id="109" name="Imagem 2" descr=""/>
          <p:cNvPicPr/>
          <p:nvPr/>
        </p:nvPicPr>
        <p:blipFill>
          <a:blip r:embed="rId2"/>
          <a:stretch/>
        </p:blipFill>
        <p:spPr>
          <a:xfrm>
            <a:off x="4077720" y="192600"/>
            <a:ext cx="4036320" cy="1088280"/>
          </a:xfrm>
          <a:prstGeom prst="rect">
            <a:avLst/>
          </a:prstGeom>
          <a:ln w="0">
            <a:noFill/>
          </a:ln>
        </p:spPr>
      </p:pic>
      <p:sp>
        <p:nvSpPr>
          <p:cNvPr id="110" name="object 1"/>
          <p:cNvSpPr/>
          <p:nvPr/>
        </p:nvSpPr>
        <p:spPr>
          <a:xfrm>
            <a:off x="540000" y="5730120"/>
            <a:ext cx="738000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1200" spc="-1" strike="noStrike">
                <a:solidFill>
                  <a:srgbClr val="ebd9ff"/>
                </a:solidFill>
                <a:latin typeface="Arial"/>
              </a:rPr>
              <a:t>ALUNAS: IZABELLI, MARIA ELOISE, </a:t>
            </a:r>
            <a:r>
              <a:rPr b="1" lang="pt-BR" sz="1200" spc="-1" strike="noStrike">
                <a:solidFill>
                  <a:srgbClr val="ebd9ff"/>
                </a:solidFill>
                <a:latin typeface="Arial"/>
              </a:rPr>
              <a:t>NICOLLI E TALITA</a:t>
            </a:r>
            <a:endParaRPr b="0" lang="pt-B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1200" spc="-1" strike="noStrike">
                <a:solidFill>
                  <a:srgbClr val="ebd9ff"/>
                </a:solidFill>
                <a:latin typeface="Arial"/>
              </a:rPr>
              <a:t>DOCENTE: RENATO ROSA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object 2"/>
          <p:cNvSpPr/>
          <p:nvPr/>
        </p:nvSpPr>
        <p:spPr>
          <a:xfrm>
            <a:off x="597240" y="441720"/>
            <a:ext cx="18342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CONTEXTO</a:t>
            </a:r>
            <a:r>
              <a:rPr b="1" lang="pt-BR" sz="1100" spc="4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DE</a:t>
            </a:r>
            <a:r>
              <a:rPr b="1" lang="pt-BR" sz="1100" spc="103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2" strike="noStrike">
                <a:solidFill>
                  <a:srgbClr val="8209d1"/>
                </a:solidFill>
                <a:latin typeface="Arial"/>
              </a:rPr>
              <a:t>MERCADO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O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Desafio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Financeiro</a:t>
            </a:r>
            <a:r>
              <a:rPr b="1" lang="pt-BR" sz="2400" spc="-8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da</a:t>
            </a:r>
            <a:r>
              <a:rPr b="1" lang="pt-BR" sz="2400" spc="-5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Juventude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em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Dados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13" name="object 4"/>
          <p:cNvSpPr/>
          <p:nvPr/>
        </p:nvSpPr>
        <p:spPr>
          <a:xfrm>
            <a:off x="816120" y="1784160"/>
            <a:ext cx="5312520" cy="15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0800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pt-BR" sz="950" spc="-1" strike="noStrike">
                <a:solidFill>
                  <a:srgbClr val="c4170c"/>
                </a:solidFill>
                <a:latin typeface="Arial"/>
              </a:rPr>
              <a:t>G1</a:t>
            </a:r>
            <a:r>
              <a:rPr b="1" lang="pt-BR" sz="950" spc="38" strike="noStrike">
                <a:solidFill>
                  <a:srgbClr val="c4170c"/>
                </a:solidFill>
                <a:latin typeface="Arial"/>
              </a:rPr>
              <a:t> </a:t>
            </a:r>
            <a:r>
              <a:rPr b="1" lang="pt-BR" sz="950" spc="-12" strike="noStrike">
                <a:solidFill>
                  <a:srgbClr val="c4170c"/>
                </a:solidFill>
                <a:latin typeface="Arial"/>
              </a:rPr>
              <a:t>ECONOMIA</a:t>
            </a:r>
            <a:endParaRPr b="0" lang="pt-BR" sz="950" spc="-1" strike="noStrike"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"/>
              </a:spcBef>
              <a:buNone/>
            </a:pPr>
            <a:endParaRPr b="0" lang="pt-BR" sz="95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19%</a:t>
            </a:r>
            <a:r>
              <a:rPr b="1" lang="pt-BR" sz="1300" spc="-4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dos</a:t>
            </a:r>
            <a:r>
              <a:rPr b="1" lang="pt-BR" sz="1300" spc="-2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Jovens</a:t>
            </a:r>
            <a:r>
              <a:rPr b="1" lang="pt-BR" sz="130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1300" spc="-41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18</a:t>
            </a:r>
            <a:r>
              <a:rPr b="1" lang="pt-BR" sz="130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a</a:t>
            </a:r>
            <a:r>
              <a:rPr b="1" lang="pt-BR" sz="1300" spc="-6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34</a:t>
            </a:r>
            <a:r>
              <a:rPr b="1" lang="pt-BR" sz="1300" spc="-9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Anos</a:t>
            </a:r>
            <a:r>
              <a:rPr b="1" lang="pt-BR" sz="1300" spc="1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Enfrentam</a:t>
            </a:r>
            <a:r>
              <a:rPr b="1" lang="pt-BR" sz="1300" spc="-4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" strike="noStrike">
                <a:solidFill>
                  <a:srgbClr val="111111"/>
                </a:solidFill>
                <a:latin typeface="Arial"/>
              </a:rPr>
              <a:t>Inadimplência</a:t>
            </a:r>
            <a:r>
              <a:rPr b="1" lang="pt-BR" sz="130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00" spc="-12" strike="noStrike">
                <a:solidFill>
                  <a:srgbClr val="111111"/>
                </a:solidFill>
                <a:latin typeface="Arial"/>
              </a:rPr>
              <a:t>Grave</a:t>
            </a:r>
            <a:endParaRPr b="0" lang="pt-BR" sz="13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04"/>
              </a:spcBef>
              <a:buNone/>
            </a:pPr>
            <a:endParaRPr b="0" lang="pt-BR" sz="1350" spc="-1" strike="noStrike">
              <a:latin typeface="Arial"/>
            </a:endParaRPr>
          </a:p>
          <a:p>
            <a:pPr marL="12600">
              <a:lnSpc>
                <a:spcPct val="121000"/>
              </a:lnSpc>
              <a:buNone/>
            </a:pP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Estudo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indica</a:t>
            </a:r>
            <a:r>
              <a:rPr b="0" lang="pt-BR" sz="1100" spc="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que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os</a:t>
            </a:r>
            <a:r>
              <a:rPr b="0" lang="pt-BR" sz="1100" spc="6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jovens</a:t>
            </a:r>
            <a:r>
              <a:rPr b="0" lang="pt-BR" sz="1100" spc="4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lideram</a:t>
            </a:r>
            <a:r>
              <a:rPr b="0" lang="pt-BR" sz="1100" spc="7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o</a:t>
            </a:r>
            <a:r>
              <a:rPr b="0" lang="pt-BR" sz="1100" spc="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índice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100" spc="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atrasos</a:t>
            </a:r>
            <a:r>
              <a:rPr b="0" lang="pt-BR" sz="1100" spc="3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100" spc="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pagamento</a:t>
            </a:r>
            <a:r>
              <a:rPr b="0" lang="pt-BR" sz="1100" spc="7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26" strike="noStrike">
                <a:solidFill>
                  <a:srgbClr val="545454"/>
                </a:solidFill>
                <a:latin typeface="Arial MT"/>
              </a:rPr>
              <a:t>em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todas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as</a:t>
            </a:r>
            <a:r>
              <a:rPr b="0" lang="pt-BR" sz="1100" spc="3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faixas</a:t>
            </a:r>
            <a:r>
              <a:rPr b="0" lang="pt-BR" sz="1100" spc="5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100" spc="3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2" strike="noStrike">
                <a:solidFill>
                  <a:srgbClr val="545454"/>
                </a:solidFill>
                <a:latin typeface="Arial MT"/>
              </a:rPr>
              <a:t>renda.</a:t>
            </a:r>
            <a:endParaRPr b="0" lang="pt-BR" sz="1100" spc="-1" strike="noStrike">
              <a:latin typeface="Arial"/>
            </a:endParaRPr>
          </a:p>
          <a:p>
            <a:pPr marL="184320">
              <a:lnSpc>
                <a:spcPct val="100000"/>
              </a:lnSpc>
              <a:spcBef>
                <a:spcPts val="1205"/>
              </a:spcBef>
              <a:buNone/>
            </a:pPr>
            <a:endParaRPr b="0" lang="pt-BR" sz="1050" spc="-1" strike="noStrike">
              <a:latin typeface="Arial"/>
            </a:endParaRPr>
          </a:p>
        </p:txBody>
      </p:sp>
      <p:sp>
        <p:nvSpPr>
          <p:cNvPr id="114" name="object 5"/>
          <p:cNvSpPr/>
          <p:nvPr/>
        </p:nvSpPr>
        <p:spPr>
          <a:xfrm>
            <a:off x="6271560" y="2117520"/>
            <a:ext cx="533412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buNone/>
            </a:pP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Endividamento</a:t>
            </a:r>
            <a:r>
              <a:rPr b="1" lang="pt-BR" sz="1350" spc="-1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Prematuro</a:t>
            </a:r>
            <a:r>
              <a:rPr b="1" lang="pt-BR" sz="1350" spc="-3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Compromete</a:t>
            </a:r>
            <a:r>
              <a:rPr b="1" lang="pt-BR" sz="1350" spc="-3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Formação</a:t>
            </a:r>
            <a:r>
              <a:rPr b="1" lang="pt-BR" sz="1350" spc="-1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135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Patrimônio</a:t>
            </a:r>
            <a:endParaRPr b="0" lang="pt-BR" sz="13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04"/>
              </a:spcBef>
              <a:buNone/>
            </a:pPr>
            <a:endParaRPr b="0" lang="pt-BR" sz="1350" spc="-1" strike="noStrike">
              <a:latin typeface="Arial"/>
            </a:endParaRPr>
          </a:p>
          <a:p>
            <a:pPr marL="12600">
              <a:lnSpc>
                <a:spcPct val="121000"/>
              </a:lnSpc>
              <a:spcBef>
                <a:spcPts val="6"/>
              </a:spcBef>
              <a:buNone/>
            </a:pP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Uso</a:t>
            </a:r>
            <a:r>
              <a:rPr b="0" lang="pt-BR" sz="1100" spc="2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inadequado</a:t>
            </a:r>
            <a:r>
              <a:rPr b="0" lang="pt-BR" sz="1100" spc="8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do</a:t>
            </a:r>
            <a:r>
              <a:rPr b="0" lang="pt-BR" sz="1100" spc="5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crédito</a:t>
            </a:r>
            <a:r>
              <a:rPr b="0" lang="pt-BR" sz="1100" spc="6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reduz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o</a:t>
            </a:r>
            <a:r>
              <a:rPr b="0" lang="pt-BR" sz="1100" spc="6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planejamento</a:t>
            </a:r>
            <a:r>
              <a:rPr b="0" lang="pt-BR" sz="1100" spc="11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financeiro</a:t>
            </a:r>
            <a:r>
              <a:rPr b="0" lang="pt-BR" sz="1100" spc="8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100" spc="6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capacidade</a:t>
            </a:r>
            <a:r>
              <a:rPr b="0" lang="pt-BR" sz="1100" spc="24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26" strike="noStrike">
                <a:solidFill>
                  <a:srgbClr val="545454"/>
                </a:solidFill>
                <a:latin typeface="Arial MT"/>
              </a:rPr>
              <a:t>de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investimento</a:t>
            </a:r>
            <a:r>
              <a:rPr b="0" lang="pt-BR" sz="1100" spc="10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2" strike="noStrike">
                <a:solidFill>
                  <a:srgbClr val="545454"/>
                </a:solidFill>
                <a:latin typeface="Arial MT"/>
              </a:rPr>
              <a:t>futuro.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15" name="object 6"/>
          <p:cNvSpPr/>
          <p:nvPr/>
        </p:nvSpPr>
        <p:spPr>
          <a:xfrm>
            <a:off x="6567480" y="3787200"/>
            <a:ext cx="15325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Ver</a:t>
            </a:r>
            <a:r>
              <a:rPr b="1" lang="pt-BR" sz="1050" spc="-1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reportagem</a:t>
            </a:r>
            <a:r>
              <a:rPr b="1" lang="pt-BR" sz="1050" spc="-3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na</a:t>
            </a:r>
            <a:r>
              <a:rPr b="1" lang="pt-BR" sz="1050" spc="-4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26" strike="noStrike">
                <a:solidFill>
                  <a:srgbClr val="8209d1"/>
                </a:solidFill>
                <a:latin typeface="Arial"/>
              </a:rPr>
              <a:t>CNN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116" name="object 7"/>
          <p:cNvSpPr/>
          <p:nvPr/>
        </p:nvSpPr>
        <p:spPr>
          <a:xfrm>
            <a:off x="816120" y="4530240"/>
            <a:ext cx="49716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08000">
              <a:lnSpc>
                <a:spcPct val="100000"/>
              </a:lnSpc>
              <a:spcBef>
                <a:spcPts val="136"/>
              </a:spcBef>
              <a:buNone/>
            </a:pPr>
            <a:r>
              <a:rPr b="1" lang="pt-BR" sz="950" spc="-1" strike="noStrike">
                <a:solidFill>
                  <a:srgbClr val="004080"/>
                </a:solidFill>
                <a:latin typeface="Arial"/>
              </a:rPr>
              <a:t>IBGE</a:t>
            </a:r>
            <a:r>
              <a:rPr b="1" lang="pt-BR" sz="950" spc="29" strike="noStrike">
                <a:solidFill>
                  <a:srgbClr val="004080"/>
                </a:solidFill>
                <a:latin typeface="Arial"/>
              </a:rPr>
              <a:t> </a:t>
            </a:r>
            <a:r>
              <a:rPr b="1" lang="pt-BR" sz="950" spc="-1" strike="noStrike">
                <a:solidFill>
                  <a:srgbClr val="004080"/>
                </a:solidFill>
                <a:latin typeface="Arial"/>
              </a:rPr>
              <a:t>/</a:t>
            </a:r>
            <a:r>
              <a:rPr b="1" lang="pt-BR" sz="950" spc="29" strike="noStrike">
                <a:solidFill>
                  <a:srgbClr val="004080"/>
                </a:solidFill>
                <a:latin typeface="Arial"/>
              </a:rPr>
              <a:t> </a:t>
            </a:r>
            <a:r>
              <a:rPr b="1" lang="pt-BR" sz="950" spc="-1" strike="noStrike">
                <a:solidFill>
                  <a:srgbClr val="004080"/>
                </a:solidFill>
                <a:latin typeface="Arial"/>
              </a:rPr>
              <a:t>PNAD</a:t>
            </a:r>
            <a:r>
              <a:rPr b="1" lang="pt-BR" sz="950" spc="49" strike="noStrike">
                <a:solidFill>
                  <a:srgbClr val="004080"/>
                </a:solidFill>
                <a:latin typeface="Arial"/>
              </a:rPr>
              <a:t> </a:t>
            </a:r>
            <a:r>
              <a:rPr b="1" lang="pt-BR" sz="950" spc="-12" strike="noStrike">
                <a:solidFill>
                  <a:srgbClr val="004080"/>
                </a:solidFill>
                <a:latin typeface="Arial"/>
              </a:rPr>
              <a:t>CONTÍNUA</a:t>
            </a:r>
            <a:endParaRPr b="0" lang="pt-BR" sz="950" spc="-1" strike="noStrike">
              <a:latin typeface="Arial"/>
            </a:endParaRPr>
          </a:p>
          <a:p>
            <a:pPr marL="108000">
              <a:lnSpc>
                <a:spcPct val="100000"/>
              </a:lnSpc>
              <a:buNone/>
            </a:pPr>
            <a:endParaRPr b="0" lang="pt-BR" sz="95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Desafios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na</a:t>
            </a:r>
            <a:r>
              <a:rPr b="1" lang="pt-BR" sz="1350" spc="-2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Inserção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e</a:t>
            </a:r>
            <a:r>
              <a:rPr b="1" lang="pt-BR" sz="135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Estabilidade</a:t>
            </a:r>
            <a:r>
              <a:rPr b="1" lang="pt-BR" sz="1350" spc="-7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no</a:t>
            </a:r>
            <a:r>
              <a:rPr b="1" lang="pt-BR" sz="135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Mercado</a:t>
            </a:r>
            <a:r>
              <a:rPr b="1" lang="pt-BR" sz="1350" spc="-7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135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Trabalho</a:t>
            </a:r>
            <a:endParaRPr b="0" lang="pt-BR" sz="1350" spc="-1" strike="noStrike">
              <a:latin typeface="Arial"/>
            </a:endParaRPr>
          </a:p>
          <a:p>
            <a:pPr marL="12600">
              <a:lnSpc>
                <a:spcPct val="121000"/>
              </a:lnSpc>
              <a:spcBef>
                <a:spcPts val="706"/>
              </a:spcBef>
              <a:buNone/>
            </a:pP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Dados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100" spc="9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ocupação</a:t>
            </a:r>
            <a:r>
              <a:rPr b="0" lang="pt-BR" sz="1100" spc="3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100" spc="7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renda</a:t>
            </a:r>
            <a:r>
              <a:rPr b="0" lang="pt-BR" sz="1100" spc="6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destacam</a:t>
            </a:r>
            <a:r>
              <a:rPr b="0" lang="pt-BR" sz="1100" spc="3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a</a:t>
            </a:r>
            <a:r>
              <a:rPr b="0" lang="pt-BR" sz="1100" spc="6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necessidade</a:t>
            </a:r>
            <a:r>
              <a:rPr b="0" lang="pt-BR" sz="1100" spc="3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100" spc="6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orientação</a:t>
            </a:r>
            <a:r>
              <a:rPr b="0" lang="pt-BR" sz="1100" spc="6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para</a:t>
            </a:r>
            <a:r>
              <a:rPr b="0" lang="pt-BR" sz="1100" spc="4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52" strike="noStrike">
                <a:solidFill>
                  <a:srgbClr val="545454"/>
                </a:solidFill>
                <a:latin typeface="Arial MT"/>
              </a:rPr>
              <a:t>a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gestão</a:t>
            </a:r>
            <a:r>
              <a:rPr b="0" lang="pt-BR" sz="1100" spc="4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do</a:t>
            </a:r>
            <a:r>
              <a:rPr b="0" lang="pt-BR" sz="1100" spc="4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primeiro</a:t>
            </a:r>
            <a:r>
              <a:rPr b="0" lang="pt-BR" sz="1100" spc="7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2" strike="noStrike">
                <a:solidFill>
                  <a:srgbClr val="545454"/>
                </a:solidFill>
                <a:latin typeface="Arial MT"/>
              </a:rPr>
              <a:t>salário.</a:t>
            </a:r>
            <a:endParaRPr b="0" lang="pt-BR" sz="1100" spc="-1" strike="noStrike">
              <a:latin typeface="Arial"/>
            </a:endParaRPr>
          </a:p>
          <a:p>
            <a:pPr marL="184320">
              <a:lnSpc>
                <a:spcPct val="100000"/>
              </a:lnSpc>
              <a:spcBef>
                <a:spcPts val="1199"/>
              </a:spcBef>
              <a:buNone/>
            </a:pPr>
            <a:endParaRPr b="0" lang="pt-BR" sz="1050" spc="-1" strike="noStrike">
              <a:latin typeface="Arial"/>
            </a:endParaRPr>
          </a:p>
        </p:txBody>
      </p:sp>
      <p:sp>
        <p:nvSpPr>
          <p:cNvPr id="117" name="object 8"/>
          <p:cNvSpPr/>
          <p:nvPr/>
        </p:nvSpPr>
        <p:spPr>
          <a:xfrm>
            <a:off x="6399000" y="4707360"/>
            <a:ext cx="51890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Da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Ostentação</a:t>
            </a:r>
            <a:r>
              <a:rPr b="1" lang="pt-BR" sz="1350" spc="-3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ao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 Endividamento:</a:t>
            </a:r>
            <a:r>
              <a:rPr b="1" lang="pt-BR" sz="1350" spc="-41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A</a:t>
            </a:r>
            <a:r>
              <a:rPr b="1" lang="pt-BR" sz="1350" spc="-8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Nova</a:t>
            </a:r>
            <a:r>
              <a:rPr b="1" lang="pt-BR" sz="1350" spc="-5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Abertura</a:t>
            </a:r>
            <a:r>
              <a:rPr b="1" lang="pt-BR" sz="1350" spc="18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111111"/>
                </a:solidFill>
                <a:latin typeface="Arial"/>
              </a:rPr>
              <a:t>dos</a:t>
            </a:r>
            <a:r>
              <a:rPr b="1" lang="pt-BR" sz="1350" spc="-12" strike="noStrike">
                <a:solidFill>
                  <a:srgbClr val="111111"/>
                </a:solidFill>
                <a:latin typeface="Arial"/>
              </a:rPr>
              <a:t> Jovens</a:t>
            </a:r>
            <a:endParaRPr b="0" lang="pt-BR" sz="13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04"/>
              </a:spcBef>
              <a:buNone/>
            </a:pPr>
            <a:endParaRPr b="0" lang="pt-BR" sz="1350" spc="-1" strike="noStrike">
              <a:latin typeface="Arial"/>
            </a:endParaRPr>
          </a:p>
          <a:p>
            <a:pPr marL="12600">
              <a:lnSpc>
                <a:spcPct val="121000"/>
              </a:lnSpc>
              <a:spcBef>
                <a:spcPts val="6"/>
              </a:spcBef>
              <a:buNone/>
            </a:pP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A</a:t>
            </a:r>
            <a:r>
              <a:rPr b="0" lang="pt-BR" sz="1100" spc="4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Geração</a:t>
            </a:r>
            <a:r>
              <a:rPr b="0" lang="pt-BR" sz="1100" spc="24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Z</a:t>
            </a:r>
            <a:r>
              <a:rPr b="0" lang="pt-BR" sz="1100" spc="6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busca</a:t>
            </a:r>
            <a:r>
              <a:rPr b="0" lang="pt-BR" sz="1100" spc="24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educação</a:t>
            </a:r>
            <a:r>
              <a:rPr b="0" lang="pt-BR" sz="1100" spc="2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financeira</a:t>
            </a:r>
            <a:r>
              <a:rPr b="0" lang="pt-BR" sz="1100" spc="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em</a:t>
            </a:r>
            <a:r>
              <a:rPr b="0" lang="pt-BR" sz="1100" spc="5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ambientes</a:t>
            </a:r>
            <a:r>
              <a:rPr b="0" lang="pt-BR" sz="1100" spc="94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digitais</a:t>
            </a:r>
            <a:r>
              <a:rPr b="0" lang="pt-BR" sz="1100" spc="103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100" spc="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2" strike="noStrike">
                <a:solidFill>
                  <a:srgbClr val="545454"/>
                </a:solidFill>
                <a:latin typeface="Arial MT"/>
              </a:rPr>
              <a:t>transparentes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para</a:t>
            </a:r>
            <a:r>
              <a:rPr b="0" lang="pt-BR" sz="1100" spc="58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" strike="noStrike">
                <a:solidFill>
                  <a:srgbClr val="545454"/>
                </a:solidFill>
                <a:latin typeface="Arial MT"/>
              </a:rPr>
              <a:t>organizar</a:t>
            </a:r>
            <a:r>
              <a:rPr b="0" lang="pt-BR" sz="1100" spc="7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100" spc="-12" strike="noStrike">
                <a:solidFill>
                  <a:srgbClr val="545454"/>
                </a:solidFill>
                <a:latin typeface="Arial MT"/>
              </a:rPr>
              <a:t>contas.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18" name="object 9"/>
          <p:cNvSpPr/>
          <p:nvPr/>
        </p:nvSpPr>
        <p:spPr>
          <a:xfrm>
            <a:off x="6570720" y="5785200"/>
            <a:ext cx="10530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Ler</a:t>
            </a:r>
            <a:r>
              <a:rPr b="1" lang="pt-BR" sz="1050" spc="-1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artigo</a:t>
            </a:r>
            <a:r>
              <a:rPr b="1" lang="pt-BR" sz="1050" spc="-7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no</a:t>
            </a:r>
            <a:r>
              <a:rPr b="1" lang="pt-BR" sz="1050" spc="-3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26" strike="noStrike">
                <a:solidFill>
                  <a:srgbClr val="8209d1"/>
                </a:solidFill>
                <a:latin typeface="Arial"/>
              </a:rPr>
              <a:t>G1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119" name="object 10"/>
          <p:cNvSpPr/>
          <p:nvPr/>
        </p:nvSpPr>
        <p:spPr>
          <a:xfrm>
            <a:off x="6494400" y="1784160"/>
            <a:ext cx="7812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1" lang="pt-BR" sz="950" spc="-1" strike="noStrike">
                <a:solidFill>
                  <a:srgbClr val="cc0000"/>
                </a:solidFill>
                <a:latin typeface="Arial"/>
              </a:rPr>
              <a:t>CNN</a:t>
            </a:r>
            <a:r>
              <a:rPr b="1" lang="pt-BR" sz="950" spc="29" strike="noStrike">
                <a:solidFill>
                  <a:srgbClr val="cc0000"/>
                </a:solidFill>
                <a:latin typeface="Arial"/>
              </a:rPr>
              <a:t> </a:t>
            </a:r>
            <a:r>
              <a:rPr b="1" lang="pt-BR" sz="950" spc="-12" strike="noStrike">
                <a:solidFill>
                  <a:srgbClr val="cc0000"/>
                </a:solidFill>
                <a:latin typeface="Arial"/>
              </a:rPr>
              <a:t>BRASIL</a:t>
            </a:r>
            <a:endParaRPr b="0" lang="pt-BR" sz="950" spc="-1" strike="noStrike">
              <a:latin typeface="Arial"/>
            </a:endParaRPr>
          </a:p>
        </p:txBody>
      </p:sp>
      <p:sp>
        <p:nvSpPr>
          <p:cNvPr id="120" name="object 11"/>
          <p:cNvSpPr/>
          <p:nvPr/>
        </p:nvSpPr>
        <p:spPr>
          <a:xfrm>
            <a:off x="6494400" y="4418640"/>
            <a:ext cx="13996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  <a:buNone/>
            </a:pPr>
            <a:r>
              <a:rPr b="1" lang="pt-BR" sz="950" spc="-1" strike="noStrike">
                <a:solidFill>
                  <a:srgbClr val="c4170c"/>
                </a:solidFill>
                <a:latin typeface="Arial"/>
              </a:rPr>
              <a:t>G1</a:t>
            </a:r>
            <a:r>
              <a:rPr b="1" lang="pt-BR" sz="950" spc="49" strike="noStrike">
                <a:solidFill>
                  <a:srgbClr val="c4170c"/>
                </a:solidFill>
                <a:latin typeface="Arial"/>
              </a:rPr>
              <a:t> </a:t>
            </a:r>
            <a:r>
              <a:rPr b="1" lang="pt-BR" sz="950" spc="-12" strike="noStrike">
                <a:solidFill>
                  <a:srgbClr val="c4170c"/>
                </a:solidFill>
                <a:latin typeface="Arial"/>
              </a:rPr>
              <a:t>COMPORTAMENTO</a:t>
            </a:r>
            <a:endParaRPr b="0" lang="pt-BR" sz="950" spc="-1" strike="noStrike">
              <a:latin typeface="Arial"/>
            </a:endParaRPr>
          </a:p>
        </p:txBody>
      </p:sp>
      <p:pic>
        <p:nvPicPr>
          <p:cNvPr id="121" name="Imagem 1" descr=""/>
          <p:cNvPicPr/>
          <p:nvPr/>
        </p:nvPicPr>
        <p:blipFill>
          <a:blip r:embed="rId1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  <p:sp>
        <p:nvSpPr>
          <p:cNvPr id="122" name="object 19"/>
          <p:cNvSpPr/>
          <p:nvPr/>
        </p:nvSpPr>
        <p:spPr>
          <a:xfrm>
            <a:off x="1080000" y="3088080"/>
            <a:ext cx="1980000" cy="331920"/>
          </a:xfrm>
          <a:custGeom>
            <a:avLst/>
            <a:gdLst/>
            <a:ahLst/>
            <a:rect l="l" t="t" r="r" b="b"/>
            <a:pathLst>
              <a:path w="3505200" h="2667000">
                <a:moveTo>
                  <a:pt x="3352800" y="0"/>
                </a:moveTo>
                <a:lnTo>
                  <a:pt x="152400" y="0"/>
                </a:lnTo>
                <a:lnTo>
                  <a:pt x="104226" y="7766"/>
                </a:lnTo>
                <a:lnTo>
                  <a:pt x="62391" y="29394"/>
                </a:lnTo>
                <a:lnTo>
                  <a:pt x="29402" y="62380"/>
                </a:lnTo>
                <a:lnTo>
                  <a:pt x="7768" y="104217"/>
                </a:lnTo>
                <a:lnTo>
                  <a:pt x="0" y="152400"/>
                </a:lnTo>
                <a:lnTo>
                  <a:pt x="0" y="2514600"/>
                </a:lnTo>
                <a:lnTo>
                  <a:pt x="7768" y="2562782"/>
                </a:lnTo>
                <a:lnTo>
                  <a:pt x="29402" y="2604619"/>
                </a:lnTo>
                <a:lnTo>
                  <a:pt x="62391" y="2637605"/>
                </a:lnTo>
                <a:lnTo>
                  <a:pt x="104226" y="2659233"/>
                </a:lnTo>
                <a:lnTo>
                  <a:pt x="152400" y="2667000"/>
                </a:lnTo>
                <a:lnTo>
                  <a:pt x="3352800" y="2667000"/>
                </a:lnTo>
                <a:lnTo>
                  <a:pt x="3400982" y="2659233"/>
                </a:lnTo>
                <a:lnTo>
                  <a:pt x="3442819" y="2637605"/>
                </a:lnTo>
                <a:lnTo>
                  <a:pt x="3475805" y="2604619"/>
                </a:lnTo>
                <a:lnTo>
                  <a:pt x="3497433" y="2562782"/>
                </a:lnTo>
                <a:lnTo>
                  <a:pt x="3505200" y="2514600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object 20"/>
          <p:cNvSpPr/>
          <p:nvPr/>
        </p:nvSpPr>
        <p:spPr>
          <a:xfrm>
            <a:off x="7020000" y="3088080"/>
            <a:ext cx="1980000" cy="331920"/>
          </a:xfrm>
          <a:custGeom>
            <a:avLst/>
            <a:gdLst/>
            <a:ahLst/>
            <a:rect l="l" t="t" r="r" b="b"/>
            <a:pathLst>
              <a:path w="3505200" h="2667000">
                <a:moveTo>
                  <a:pt x="3352800" y="0"/>
                </a:moveTo>
                <a:lnTo>
                  <a:pt x="152400" y="0"/>
                </a:lnTo>
                <a:lnTo>
                  <a:pt x="104226" y="7766"/>
                </a:lnTo>
                <a:lnTo>
                  <a:pt x="62391" y="29394"/>
                </a:lnTo>
                <a:lnTo>
                  <a:pt x="29402" y="62380"/>
                </a:lnTo>
                <a:lnTo>
                  <a:pt x="7768" y="104217"/>
                </a:lnTo>
                <a:lnTo>
                  <a:pt x="0" y="152400"/>
                </a:lnTo>
                <a:lnTo>
                  <a:pt x="0" y="2514600"/>
                </a:lnTo>
                <a:lnTo>
                  <a:pt x="7768" y="2562782"/>
                </a:lnTo>
                <a:lnTo>
                  <a:pt x="29402" y="2604619"/>
                </a:lnTo>
                <a:lnTo>
                  <a:pt x="62391" y="2637605"/>
                </a:lnTo>
                <a:lnTo>
                  <a:pt x="104226" y="2659233"/>
                </a:lnTo>
                <a:lnTo>
                  <a:pt x="152400" y="2667000"/>
                </a:lnTo>
                <a:lnTo>
                  <a:pt x="3352800" y="2667000"/>
                </a:lnTo>
                <a:lnTo>
                  <a:pt x="3400982" y="2659233"/>
                </a:lnTo>
                <a:lnTo>
                  <a:pt x="3442819" y="2637605"/>
                </a:lnTo>
                <a:lnTo>
                  <a:pt x="3475805" y="2604619"/>
                </a:lnTo>
                <a:lnTo>
                  <a:pt x="3497433" y="2562782"/>
                </a:lnTo>
                <a:lnTo>
                  <a:pt x="3505200" y="2514600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object 21"/>
          <p:cNvSpPr/>
          <p:nvPr/>
        </p:nvSpPr>
        <p:spPr>
          <a:xfrm>
            <a:off x="1260000" y="5608080"/>
            <a:ext cx="1980000" cy="331920"/>
          </a:xfrm>
          <a:custGeom>
            <a:avLst/>
            <a:gdLst/>
            <a:ahLst/>
            <a:rect l="l" t="t" r="r" b="b"/>
            <a:pathLst>
              <a:path w="3505200" h="2667000">
                <a:moveTo>
                  <a:pt x="3352800" y="0"/>
                </a:moveTo>
                <a:lnTo>
                  <a:pt x="152400" y="0"/>
                </a:lnTo>
                <a:lnTo>
                  <a:pt x="104226" y="7766"/>
                </a:lnTo>
                <a:lnTo>
                  <a:pt x="62391" y="29394"/>
                </a:lnTo>
                <a:lnTo>
                  <a:pt x="29402" y="62380"/>
                </a:lnTo>
                <a:lnTo>
                  <a:pt x="7768" y="104217"/>
                </a:lnTo>
                <a:lnTo>
                  <a:pt x="0" y="152400"/>
                </a:lnTo>
                <a:lnTo>
                  <a:pt x="0" y="2514600"/>
                </a:lnTo>
                <a:lnTo>
                  <a:pt x="7768" y="2562782"/>
                </a:lnTo>
                <a:lnTo>
                  <a:pt x="29402" y="2604619"/>
                </a:lnTo>
                <a:lnTo>
                  <a:pt x="62391" y="2637605"/>
                </a:lnTo>
                <a:lnTo>
                  <a:pt x="104226" y="2659233"/>
                </a:lnTo>
                <a:lnTo>
                  <a:pt x="152400" y="2667000"/>
                </a:lnTo>
                <a:lnTo>
                  <a:pt x="3352800" y="2667000"/>
                </a:lnTo>
                <a:lnTo>
                  <a:pt x="3400982" y="2659233"/>
                </a:lnTo>
                <a:lnTo>
                  <a:pt x="3442819" y="2637605"/>
                </a:lnTo>
                <a:lnTo>
                  <a:pt x="3475805" y="2604619"/>
                </a:lnTo>
                <a:lnTo>
                  <a:pt x="3497433" y="2562782"/>
                </a:lnTo>
                <a:lnTo>
                  <a:pt x="3505200" y="2514600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object 24"/>
          <p:cNvSpPr/>
          <p:nvPr/>
        </p:nvSpPr>
        <p:spPr>
          <a:xfrm>
            <a:off x="6480000" y="5760000"/>
            <a:ext cx="1980000" cy="331920"/>
          </a:xfrm>
          <a:custGeom>
            <a:avLst/>
            <a:gdLst/>
            <a:ahLst/>
            <a:rect l="l" t="t" r="r" b="b"/>
            <a:pathLst>
              <a:path w="3505200" h="2667000">
                <a:moveTo>
                  <a:pt x="3352800" y="0"/>
                </a:moveTo>
                <a:lnTo>
                  <a:pt x="152400" y="0"/>
                </a:lnTo>
                <a:lnTo>
                  <a:pt x="104226" y="7766"/>
                </a:lnTo>
                <a:lnTo>
                  <a:pt x="62391" y="29394"/>
                </a:lnTo>
                <a:lnTo>
                  <a:pt x="29402" y="62380"/>
                </a:lnTo>
                <a:lnTo>
                  <a:pt x="7768" y="104217"/>
                </a:lnTo>
                <a:lnTo>
                  <a:pt x="0" y="152400"/>
                </a:lnTo>
                <a:lnTo>
                  <a:pt x="0" y="2514600"/>
                </a:lnTo>
                <a:lnTo>
                  <a:pt x="7768" y="2562782"/>
                </a:lnTo>
                <a:lnTo>
                  <a:pt x="29402" y="2604619"/>
                </a:lnTo>
                <a:lnTo>
                  <a:pt x="62391" y="2637605"/>
                </a:lnTo>
                <a:lnTo>
                  <a:pt x="104226" y="2659233"/>
                </a:lnTo>
                <a:lnTo>
                  <a:pt x="152400" y="2667000"/>
                </a:lnTo>
                <a:lnTo>
                  <a:pt x="3352800" y="2667000"/>
                </a:lnTo>
                <a:lnTo>
                  <a:pt x="3400982" y="2659233"/>
                </a:lnTo>
                <a:lnTo>
                  <a:pt x="3442819" y="2637605"/>
                </a:lnTo>
                <a:lnTo>
                  <a:pt x="3475805" y="2604619"/>
                </a:lnTo>
                <a:lnTo>
                  <a:pt x="3497433" y="2562782"/>
                </a:lnTo>
                <a:lnTo>
                  <a:pt x="3505200" y="2514600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2"/>
          <p:cNvSpPr/>
          <p:nvPr/>
        </p:nvSpPr>
        <p:spPr>
          <a:xfrm>
            <a:off x="609480" y="2554200"/>
            <a:ext cx="4790520" cy="1249200"/>
          </a:xfrm>
          <a:custGeom>
            <a:avLst/>
            <a:gdLst/>
            <a:ahLst/>
            <a:rect l="l" t="t" r="r" b="b"/>
            <a:pathLst>
              <a:path w="5257800" h="1249679">
                <a:moveTo>
                  <a:pt x="5143627" y="0"/>
                </a:moveTo>
                <a:lnTo>
                  <a:pt x="114147" y="0"/>
                </a:lnTo>
                <a:lnTo>
                  <a:pt x="69715" y="8963"/>
                </a:lnTo>
                <a:lnTo>
                  <a:pt x="33432" y="33416"/>
                </a:lnTo>
                <a:lnTo>
                  <a:pt x="8970" y="69705"/>
                </a:lnTo>
                <a:lnTo>
                  <a:pt x="0" y="114173"/>
                </a:lnTo>
                <a:lnTo>
                  <a:pt x="0" y="1135507"/>
                </a:lnTo>
                <a:lnTo>
                  <a:pt x="8970" y="1179974"/>
                </a:lnTo>
                <a:lnTo>
                  <a:pt x="33432" y="1216263"/>
                </a:lnTo>
                <a:lnTo>
                  <a:pt x="69715" y="1240716"/>
                </a:lnTo>
                <a:lnTo>
                  <a:pt x="114147" y="1249680"/>
                </a:lnTo>
                <a:lnTo>
                  <a:pt x="5143627" y="1249680"/>
                </a:lnTo>
                <a:lnTo>
                  <a:pt x="5188094" y="1240716"/>
                </a:lnTo>
                <a:lnTo>
                  <a:pt x="5224383" y="1216263"/>
                </a:lnTo>
                <a:lnTo>
                  <a:pt x="5248836" y="1179974"/>
                </a:lnTo>
                <a:lnTo>
                  <a:pt x="5257800" y="1135507"/>
                </a:lnTo>
                <a:lnTo>
                  <a:pt x="5257800" y="114173"/>
                </a:lnTo>
                <a:lnTo>
                  <a:pt x="5248836" y="69705"/>
                </a:lnTo>
                <a:lnTo>
                  <a:pt x="5224383" y="33416"/>
                </a:lnTo>
                <a:lnTo>
                  <a:pt x="5188094" y="8963"/>
                </a:lnTo>
                <a:lnTo>
                  <a:pt x="5143627" y="0"/>
                </a:lnTo>
                <a:close/>
              </a:path>
            </a:pathLst>
          </a:custGeom>
          <a:solidFill>
            <a:srgbClr val="f8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object 3"/>
          <p:cNvSpPr/>
          <p:nvPr/>
        </p:nvSpPr>
        <p:spPr>
          <a:xfrm>
            <a:off x="609480" y="3996000"/>
            <a:ext cx="4790520" cy="1249200"/>
          </a:xfrm>
          <a:custGeom>
            <a:avLst/>
            <a:gdLst/>
            <a:ahLst/>
            <a:rect l="l" t="t" r="r" b="b"/>
            <a:pathLst>
              <a:path w="5257800" h="1249679">
                <a:moveTo>
                  <a:pt x="5143627" y="0"/>
                </a:moveTo>
                <a:lnTo>
                  <a:pt x="114147" y="0"/>
                </a:lnTo>
                <a:lnTo>
                  <a:pt x="69715" y="8963"/>
                </a:lnTo>
                <a:lnTo>
                  <a:pt x="33432" y="33416"/>
                </a:lnTo>
                <a:lnTo>
                  <a:pt x="8970" y="69705"/>
                </a:lnTo>
                <a:lnTo>
                  <a:pt x="0" y="114173"/>
                </a:lnTo>
                <a:lnTo>
                  <a:pt x="0" y="1135507"/>
                </a:lnTo>
                <a:lnTo>
                  <a:pt x="8970" y="1179974"/>
                </a:lnTo>
                <a:lnTo>
                  <a:pt x="33432" y="1216263"/>
                </a:lnTo>
                <a:lnTo>
                  <a:pt x="69715" y="1240716"/>
                </a:lnTo>
                <a:lnTo>
                  <a:pt x="114147" y="1249680"/>
                </a:lnTo>
                <a:lnTo>
                  <a:pt x="5143627" y="1249680"/>
                </a:lnTo>
                <a:lnTo>
                  <a:pt x="5188094" y="1240716"/>
                </a:lnTo>
                <a:lnTo>
                  <a:pt x="5224383" y="1216263"/>
                </a:lnTo>
                <a:lnTo>
                  <a:pt x="5248836" y="1179974"/>
                </a:lnTo>
                <a:lnTo>
                  <a:pt x="5257800" y="1135507"/>
                </a:lnTo>
                <a:lnTo>
                  <a:pt x="5257800" y="114173"/>
                </a:lnTo>
                <a:lnTo>
                  <a:pt x="5248836" y="69705"/>
                </a:lnTo>
                <a:lnTo>
                  <a:pt x="5224383" y="33416"/>
                </a:lnTo>
                <a:lnTo>
                  <a:pt x="5188094" y="8963"/>
                </a:lnTo>
                <a:lnTo>
                  <a:pt x="5143627" y="0"/>
                </a:lnTo>
                <a:close/>
              </a:path>
            </a:pathLst>
          </a:custGeom>
          <a:solidFill>
            <a:srgbClr val="f8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object 5"/>
          <p:cNvSpPr/>
          <p:nvPr/>
        </p:nvSpPr>
        <p:spPr>
          <a:xfrm>
            <a:off x="597240" y="441720"/>
            <a:ext cx="1008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VISÃO</a:t>
            </a:r>
            <a:r>
              <a:rPr b="1" lang="pt-BR" sz="1100" spc="5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2" strike="noStrike">
                <a:solidFill>
                  <a:srgbClr val="8209d1"/>
                </a:solidFill>
                <a:latin typeface="Arial"/>
              </a:rPr>
              <a:t>GERAL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Educação</a:t>
            </a:r>
            <a:r>
              <a:rPr b="1" lang="pt-BR" sz="2400" spc="-10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Financeira</a:t>
            </a:r>
            <a:r>
              <a:rPr b="1" lang="pt-BR" sz="2400" spc="-16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Através</a:t>
            </a:r>
            <a:r>
              <a:rPr b="1" lang="pt-BR" sz="2400" spc="43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2400" spc="-6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Escolhas</a:t>
            </a:r>
            <a:r>
              <a:rPr b="1" lang="pt-BR" sz="2400" spc="-8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Reais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30" name="object 7"/>
          <p:cNvSpPr/>
          <p:nvPr/>
        </p:nvSpPr>
        <p:spPr>
          <a:xfrm>
            <a:off x="825840" y="2652840"/>
            <a:ext cx="424980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360" bIns="0" anchor="t">
            <a:spAutoFit/>
          </a:bodyPr>
          <a:p>
            <a:pPr marL="12600">
              <a:lnSpc>
                <a:spcPct val="100000"/>
              </a:lnSpc>
              <a:spcBef>
                <a:spcPts val="995"/>
              </a:spcBef>
              <a:buNone/>
            </a:pPr>
            <a:r>
              <a:rPr b="1" lang="pt-BR" sz="1500" spc="-1" strike="noStrike">
                <a:solidFill>
                  <a:srgbClr val="8209d1"/>
                </a:solidFill>
                <a:latin typeface="Arial"/>
              </a:rPr>
              <a:t>Simulação</a:t>
            </a:r>
            <a:r>
              <a:rPr b="1" lang="pt-BR" sz="1500" spc="-7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8209d1"/>
                </a:solidFill>
                <a:latin typeface="Arial"/>
              </a:rPr>
              <a:t>Dinâmica</a:t>
            </a:r>
            <a:r>
              <a:rPr b="1" lang="pt-BR" sz="1500" spc="-66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8209d1"/>
                </a:solidFill>
                <a:latin typeface="Arial"/>
              </a:rPr>
              <a:t>Sem</a:t>
            </a:r>
            <a:r>
              <a:rPr b="1" lang="pt-BR" sz="1500" spc="-4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500" spc="-12" strike="noStrike">
                <a:solidFill>
                  <a:srgbClr val="8209d1"/>
                </a:solidFill>
                <a:latin typeface="Arial"/>
              </a:rPr>
              <a:t>Riscos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80"/>
              </a:spcBef>
              <a:buNone/>
            </a:pP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Ambiente</a:t>
            </a:r>
            <a:r>
              <a:rPr b="0" lang="pt-BR" sz="1350" spc="-41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seguro</a:t>
            </a:r>
            <a:r>
              <a:rPr b="0" lang="pt-BR" sz="1350" spc="-12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para</a:t>
            </a:r>
            <a:r>
              <a:rPr b="0" lang="pt-BR" sz="1350" spc="-3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vivenciar</a:t>
            </a:r>
            <a:r>
              <a:rPr b="0" lang="pt-BR" sz="1350" spc="-92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o</a:t>
            </a:r>
            <a:r>
              <a:rPr b="0" lang="pt-BR" sz="1350" spc="-3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impacto</a:t>
            </a:r>
            <a:r>
              <a:rPr b="0" lang="pt-BR" sz="1350" spc="-3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financeiro</a:t>
            </a:r>
            <a:r>
              <a:rPr b="0" lang="pt-BR" sz="1350" spc="-5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26" strike="noStrike">
                <a:solidFill>
                  <a:srgbClr val="444444"/>
                </a:solidFill>
                <a:latin typeface="Arial MT"/>
              </a:rPr>
              <a:t>de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decisões</a:t>
            </a:r>
            <a:r>
              <a:rPr b="0" lang="pt-BR" sz="1350" spc="-41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444444"/>
                </a:solidFill>
                <a:latin typeface="Arial MT"/>
              </a:rPr>
              <a:t>diárias.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31" name="object 8"/>
          <p:cNvSpPr/>
          <p:nvPr/>
        </p:nvSpPr>
        <p:spPr>
          <a:xfrm>
            <a:off x="825840" y="4095720"/>
            <a:ext cx="4430520" cy="8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5640" bIns="0" anchor="t">
            <a:spAutoFit/>
          </a:bodyPr>
          <a:p>
            <a:pPr marL="12600">
              <a:lnSpc>
                <a:spcPct val="100000"/>
              </a:lnSpc>
              <a:spcBef>
                <a:spcPts val="989"/>
              </a:spcBef>
              <a:buNone/>
            </a:pPr>
            <a:r>
              <a:rPr b="1" lang="pt-BR" sz="1500" spc="-1" strike="noStrike">
                <a:solidFill>
                  <a:srgbClr val="8209d1"/>
                </a:solidFill>
                <a:latin typeface="Arial"/>
              </a:rPr>
              <a:t>Pontuação</a:t>
            </a:r>
            <a:r>
              <a:rPr b="1" lang="pt-BR" sz="1500" spc="-5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8209d1"/>
                </a:solidFill>
                <a:latin typeface="Arial"/>
              </a:rPr>
              <a:t>Convertida</a:t>
            </a:r>
            <a:r>
              <a:rPr b="1" lang="pt-BR" sz="1500" spc="-4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8209d1"/>
                </a:solidFill>
                <a:latin typeface="Arial"/>
              </a:rPr>
              <a:t>em</a:t>
            </a:r>
            <a:r>
              <a:rPr b="1" lang="pt-BR" sz="1500" spc="-1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500" spc="-12" strike="noStrike">
                <a:solidFill>
                  <a:srgbClr val="8209d1"/>
                </a:solidFill>
                <a:latin typeface="Arial"/>
              </a:rPr>
              <a:t>Benefícios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ct val="118000"/>
              </a:lnSpc>
              <a:spcBef>
                <a:spcPts val="479"/>
              </a:spcBef>
              <a:buNone/>
            </a:pP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Pontos</a:t>
            </a:r>
            <a:r>
              <a:rPr b="0" lang="pt-BR" sz="1350" spc="-3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acumulados</a:t>
            </a:r>
            <a:r>
              <a:rPr b="0" lang="pt-BR" sz="1350" spc="-1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geram</a:t>
            </a:r>
            <a:r>
              <a:rPr b="0" lang="pt-BR" sz="1350" spc="-46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cupons</a:t>
            </a:r>
            <a:r>
              <a:rPr b="0" lang="pt-BR" sz="1350" spc="-32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e</a:t>
            </a:r>
            <a:r>
              <a:rPr b="0" lang="pt-BR" sz="1350" spc="-5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descontos</a:t>
            </a:r>
            <a:r>
              <a:rPr b="0" lang="pt-BR" sz="1350" spc="-32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diretos</a:t>
            </a:r>
            <a:r>
              <a:rPr b="0" lang="pt-BR" sz="1350" spc="-75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26" strike="noStrike">
                <a:solidFill>
                  <a:srgbClr val="444444"/>
                </a:solidFill>
                <a:latin typeface="Arial MT"/>
              </a:rPr>
              <a:t>no </a:t>
            </a:r>
            <a:r>
              <a:rPr b="0" lang="pt-BR" sz="1350" spc="-1" strike="noStrike">
                <a:solidFill>
                  <a:srgbClr val="444444"/>
                </a:solidFill>
                <a:latin typeface="Arial MT"/>
              </a:rPr>
              <a:t>ecossistema</a:t>
            </a:r>
            <a:r>
              <a:rPr b="0" lang="pt-BR" sz="1350" spc="-72" strike="noStrike">
                <a:solidFill>
                  <a:srgbClr val="444444"/>
                </a:solidFill>
                <a:latin typeface="Arial MT"/>
              </a:rPr>
              <a:t> </a:t>
            </a:r>
            <a:r>
              <a:rPr b="0" lang="pt-BR" sz="1350" spc="-26" strike="noStrike">
                <a:solidFill>
                  <a:srgbClr val="444444"/>
                </a:solidFill>
                <a:latin typeface="Arial MT"/>
              </a:rPr>
              <a:t>Nu.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132" name="Imagem 3" descr=""/>
          <p:cNvPicPr/>
          <p:nvPr/>
        </p:nvPicPr>
        <p:blipFill>
          <a:blip r:embed="rId1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5580000" y="1800000"/>
            <a:ext cx="6203520" cy="413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bject 2"/>
          <p:cNvSpPr/>
          <p:nvPr/>
        </p:nvSpPr>
        <p:spPr>
          <a:xfrm>
            <a:off x="609480" y="2548080"/>
            <a:ext cx="3504960" cy="2666520"/>
          </a:xfrm>
          <a:custGeom>
            <a:avLst/>
            <a:gdLst/>
            <a:ahLst/>
            <a:rect l="l" t="t" r="r" b="b"/>
            <a:pathLst>
              <a:path w="3505200" h="2667000">
                <a:moveTo>
                  <a:pt x="3352800" y="0"/>
                </a:moveTo>
                <a:lnTo>
                  <a:pt x="152400" y="0"/>
                </a:lnTo>
                <a:lnTo>
                  <a:pt x="104226" y="7766"/>
                </a:lnTo>
                <a:lnTo>
                  <a:pt x="62391" y="29394"/>
                </a:lnTo>
                <a:lnTo>
                  <a:pt x="29402" y="62380"/>
                </a:lnTo>
                <a:lnTo>
                  <a:pt x="7768" y="104217"/>
                </a:lnTo>
                <a:lnTo>
                  <a:pt x="0" y="152400"/>
                </a:lnTo>
                <a:lnTo>
                  <a:pt x="0" y="2514600"/>
                </a:lnTo>
                <a:lnTo>
                  <a:pt x="7768" y="2562782"/>
                </a:lnTo>
                <a:lnTo>
                  <a:pt x="29402" y="2604619"/>
                </a:lnTo>
                <a:lnTo>
                  <a:pt x="62391" y="2637605"/>
                </a:lnTo>
                <a:lnTo>
                  <a:pt x="104226" y="2659233"/>
                </a:lnTo>
                <a:lnTo>
                  <a:pt x="152400" y="2667000"/>
                </a:lnTo>
                <a:lnTo>
                  <a:pt x="3352800" y="2667000"/>
                </a:lnTo>
                <a:lnTo>
                  <a:pt x="3400982" y="2659233"/>
                </a:lnTo>
                <a:lnTo>
                  <a:pt x="3442819" y="2637605"/>
                </a:lnTo>
                <a:lnTo>
                  <a:pt x="3475805" y="2604619"/>
                </a:lnTo>
                <a:lnTo>
                  <a:pt x="3497433" y="2562782"/>
                </a:lnTo>
                <a:lnTo>
                  <a:pt x="3505200" y="2514600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object 3"/>
          <p:cNvSpPr/>
          <p:nvPr/>
        </p:nvSpPr>
        <p:spPr>
          <a:xfrm>
            <a:off x="4343400" y="2548080"/>
            <a:ext cx="3504960" cy="2666520"/>
          </a:xfrm>
          <a:custGeom>
            <a:avLst/>
            <a:gdLst/>
            <a:ahLst/>
            <a:rect l="l" t="t" r="r" b="b"/>
            <a:pathLst>
              <a:path w="3505200" h="2667000">
                <a:moveTo>
                  <a:pt x="3352800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2514600"/>
                </a:lnTo>
                <a:lnTo>
                  <a:pt x="7766" y="2562782"/>
                </a:lnTo>
                <a:lnTo>
                  <a:pt x="29394" y="2604619"/>
                </a:lnTo>
                <a:lnTo>
                  <a:pt x="62380" y="2637605"/>
                </a:lnTo>
                <a:lnTo>
                  <a:pt x="104217" y="2659233"/>
                </a:lnTo>
                <a:lnTo>
                  <a:pt x="152400" y="2667000"/>
                </a:lnTo>
                <a:lnTo>
                  <a:pt x="3352800" y="2667000"/>
                </a:lnTo>
                <a:lnTo>
                  <a:pt x="3400982" y="2659233"/>
                </a:lnTo>
                <a:lnTo>
                  <a:pt x="3442819" y="2637605"/>
                </a:lnTo>
                <a:lnTo>
                  <a:pt x="3475805" y="2604619"/>
                </a:lnTo>
                <a:lnTo>
                  <a:pt x="3497433" y="2562782"/>
                </a:lnTo>
                <a:lnTo>
                  <a:pt x="3505200" y="2514600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object 4"/>
          <p:cNvSpPr/>
          <p:nvPr/>
        </p:nvSpPr>
        <p:spPr>
          <a:xfrm>
            <a:off x="8077320" y="2657880"/>
            <a:ext cx="3504960" cy="2447640"/>
          </a:xfrm>
          <a:custGeom>
            <a:avLst/>
            <a:gdLst/>
            <a:ahLst/>
            <a:rect l="l" t="t" r="r" b="b"/>
            <a:pathLst>
              <a:path w="3505200" h="2447925">
                <a:moveTo>
                  <a:pt x="3352800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2295144"/>
                </a:lnTo>
                <a:lnTo>
                  <a:pt x="7766" y="2343326"/>
                </a:lnTo>
                <a:lnTo>
                  <a:pt x="29394" y="2385163"/>
                </a:lnTo>
                <a:lnTo>
                  <a:pt x="62380" y="2418149"/>
                </a:lnTo>
                <a:lnTo>
                  <a:pt x="104217" y="2439777"/>
                </a:lnTo>
                <a:lnTo>
                  <a:pt x="152400" y="2447544"/>
                </a:lnTo>
                <a:lnTo>
                  <a:pt x="3352800" y="2447544"/>
                </a:lnTo>
                <a:lnTo>
                  <a:pt x="3400982" y="2439777"/>
                </a:lnTo>
                <a:lnTo>
                  <a:pt x="3442819" y="2418149"/>
                </a:lnTo>
                <a:lnTo>
                  <a:pt x="3475805" y="2385163"/>
                </a:lnTo>
                <a:lnTo>
                  <a:pt x="3497433" y="2343326"/>
                </a:lnTo>
                <a:lnTo>
                  <a:pt x="3505200" y="2295144"/>
                </a:lnTo>
                <a:lnTo>
                  <a:pt x="3505200" y="152400"/>
                </a:lnTo>
                <a:lnTo>
                  <a:pt x="3497433" y="104217"/>
                </a:lnTo>
                <a:lnTo>
                  <a:pt x="3475805" y="62380"/>
                </a:lnTo>
                <a:lnTo>
                  <a:pt x="3442819" y="29394"/>
                </a:lnTo>
                <a:lnTo>
                  <a:pt x="3400982" y="7766"/>
                </a:lnTo>
                <a:lnTo>
                  <a:pt x="33528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7" name="object 5" descr="image.png"/>
          <p:cNvPicPr/>
          <p:nvPr/>
        </p:nvPicPr>
        <p:blipFill>
          <a:blip r:embed="rId1"/>
          <a:stretch/>
        </p:blipFill>
        <p:spPr>
          <a:xfrm>
            <a:off x="914400" y="285300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38" name="object 6" descr="image.png"/>
          <p:cNvPicPr/>
          <p:nvPr/>
        </p:nvPicPr>
        <p:blipFill>
          <a:blip r:embed="rId2"/>
          <a:stretch/>
        </p:blipFill>
        <p:spPr>
          <a:xfrm>
            <a:off x="4648320" y="285300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39" name="object 7" descr="image.png"/>
          <p:cNvPicPr/>
          <p:nvPr/>
        </p:nvPicPr>
        <p:blipFill>
          <a:blip r:embed="rId3"/>
          <a:stretch/>
        </p:blipFill>
        <p:spPr>
          <a:xfrm>
            <a:off x="8381880" y="296280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40" name="object 8" descr="image.png"/>
          <p:cNvPicPr/>
          <p:nvPr/>
        </p:nvPicPr>
        <p:blipFill>
          <a:blip r:embed="rId4"/>
          <a:stretch/>
        </p:blipFill>
        <p:spPr>
          <a:xfrm>
            <a:off x="1039320" y="2977920"/>
            <a:ext cx="207000" cy="207000"/>
          </a:xfrm>
          <a:prstGeom prst="rect">
            <a:avLst/>
          </a:prstGeom>
          <a:ln w="0">
            <a:noFill/>
          </a:ln>
        </p:spPr>
      </p:pic>
      <p:pic>
        <p:nvPicPr>
          <p:cNvPr id="141" name="object 9" descr="image.png"/>
          <p:cNvPicPr/>
          <p:nvPr/>
        </p:nvPicPr>
        <p:blipFill>
          <a:blip r:embed="rId5"/>
          <a:stretch/>
        </p:blipFill>
        <p:spPr>
          <a:xfrm>
            <a:off x="4773240" y="2977920"/>
            <a:ext cx="207000" cy="207000"/>
          </a:xfrm>
          <a:prstGeom prst="rect">
            <a:avLst/>
          </a:prstGeom>
          <a:ln w="0">
            <a:noFill/>
          </a:ln>
        </p:spPr>
      </p:pic>
      <p:pic>
        <p:nvPicPr>
          <p:cNvPr id="142" name="object 10" descr="image.png"/>
          <p:cNvPicPr/>
          <p:nvPr/>
        </p:nvPicPr>
        <p:blipFill>
          <a:blip r:embed="rId6"/>
          <a:stretch/>
        </p:blipFill>
        <p:spPr>
          <a:xfrm>
            <a:off x="8506800" y="3087720"/>
            <a:ext cx="207000" cy="207000"/>
          </a:xfrm>
          <a:prstGeom prst="rect">
            <a:avLst/>
          </a:prstGeom>
          <a:ln w="0">
            <a:noFill/>
          </a:ln>
        </p:spPr>
      </p:pic>
      <p:sp>
        <p:nvSpPr>
          <p:cNvPr id="143" name="object 11"/>
          <p:cNvSpPr/>
          <p:nvPr/>
        </p:nvSpPr>
        <p:spPr>
          <a:xfrm>
            <a:off x="597240" y="441720"/>
            <a:ext cx="1490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MECÂNICA</a:t>
            </a:r>
            <a:r>
              <a:rPr b="1" lang="pt-BR" sz="1100" spc="63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DE</a:t>
            </a:r>
            <a:r>
              <a:rPr b="1" lang="pt-BR" sz="1100" spc="38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21" strike="noStrike">
                <a:solidFill>
                  <a:srgbClr val="8209d1"/>
                </a:solidFill>
                <a:latin typeface="Arial"/>
              </a:rPr>
              <a:t>JOGO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Os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21" strike="noStrike">
                <a:solidFill>
                  <a:srgbClr val="111111"/>
                </a:solidFill>
                <a:latin typeface="Arial"/>
              </a:rPr>
              <a:t>Três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Medidores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Vitais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da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Simulação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45" name="object 13"/>
          <p:cNvSpPr/>
          <p:nvPr/>
        </p:nvSpPr>
        <p:spPr>
          <a:xfrm>
            <a:off x="902160" y="3483360"/>
            <a:ext cx="2585520" cy="8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1. </a:t>
            </a:r>
            <a:r>
              <a:rPr b="1" lang="pt-BR" sz="1650" spc="-12" strike="noStrike">
                <a:solidFill>
                  <a:srgbClr val="111111"/>
                </a:solidFill>
                <a:latin typeface="Arial"/>
              </a:rPr>
              <a:t>Finanças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ts val="1610"/>
              </a:lnSpc>
              <a:spcBef>
                <a:spcPts val="1094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Saldo</a:t>
            </a:r>
            <a:r>
              <a:rPr b="0" lang="pt-BR" sz="1350" spc="-1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disponível</a:t>
            </a:r>
            <a:r>
              <a:rPr b="0" lang="pt-BR" sz="1350" spc="-60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350" spc="-5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capacidade</a:t>
            </a:r>
            <a:r>
              <a:rPr b="0" lang="pt-BR" sz="1350" spc="-3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de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crédito.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46" name="object 14"/>
          <p:cNvSpPr/>
          <p:nvPr/>
        </p:nvSpPr>
        <p:spPr>
          <a:xfrm>
            <a:off x="902160" y="4458600"/>
            <a:ext cx="23072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800" bIns="0" anchor="t">
            <a:spAutoFit/>
          </a:bodyPr>
          <a:p>
            <a:pPr marL="12600">
              <a:lnSpc>
                <a:spcPts val="1610"/>
              </a:lnSpc>
              <a:spcBef>
                <a:spcPts val="156"/>
              </a:spcBef>
              <a:buNone/>
            </a:pP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Foco:</a:t>
            </a:r>
            <a:r>
              <a:rPr b="1" lang="pt-BR" sz="1350" spc="-4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Gestão</a:t>
            </a:r>
            <a:r>
              <a:rPr b="1" lang="pt-BR" sz="1350" spc="-7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consciente</a:t>
            </a:r>
            <a:r>
              <a:rPr b="1" lang="pt-BR" sz="1350" spc="-46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26" strike="noStrike">
                <a:solidFill>
                  <a:srgbClr val="8209d1"/>
                </a:solidFill>
                <a:latin typeface="Arial"/>
              </a:rPr>
              <a:t>de </a:t>
            </a:r>
            <a:r>
              <a:rPr b="1" lang="pt-BR" sz="1350" spc="-12" strike="noStrike">
                <a:solidFill>
                  <a:srgbClr val="8209d1"/>
                </a:solidFill>
                <a:latin typeface="Arial"/>
              </a:rPr>
              <a:t>orçamento.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47" name="object 15"/>
          <p:cNvSpPr/>
          <p:nvPr/>
        </p:nvSpPr>
        <p:spPr>
          <a:xfrm>
            <a:off x="4636800" y="3483360"/>
            <a:ext cx="2328120" cy="8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2.</a:t>
            </a:r>
            <a:r>
              <a:rPr b="1" lang="pt-BR" sz="1650" spc="24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650" spc="-12" strike="noStrike">
                <a:solidFill>
                  <a:srgbClr val="111111"/>
                </a:solidFill>
                <a:latin typeface="Arial"/>
              </a:rPr>
              <a:t>Bem-</a:t>
            </a:r>
            <a:r>
              <a:rPr b="1" lang="pt-BR" sz="1650" spc="-21" strike="noStrike">
                <a:solidFill>
                  <a:srgbClr val="111111"/>
                </a:solidFill>
                <a:latin typeface="Arial"/>
              </a:rPr>
              <a:t>Estar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ts val="1610"/>
              </a:lnSpc>
              <a:spcBef>
                <a:spcPts val="1094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Nível</a:t>
            </a:r>
            <a:r>
              <a:rPr b="0" lang="pt-BR" sz="1350" spc="-5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lazer,</a:t>
            </a:r>
            <a:r>
              <a:rPr b="0" lang="pt-BR" sz="1350" spc="9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saúde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mental</a:t>
            </a:r>
            <a:r>
              <a:rPr b="0" lang="pt-BR" sz="1350" spc="-5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52" strike="noStrike">
                <a:solidFill>
                  <a:srgbClr val="545454"/>
                </a:solidFill>
                <a:latin typeface="Arial MT"/>
              </a:rPr>
              <a:t>e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descanso.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48" name="object 16"/>
          <p:cNvSpPr/>
          <p:nvPr/>
        </p:nvSpPr>
        <p:spPr>
          <a:xfrm>
            <a:off x="4636800" y="4458600"/>
            <a:ext cx="2351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800" bIns="0" anchor="t">
            <a:spAutoFit/>
          </a:bodyPr>
          <a:p>
            <a:pPr marL="12600">
              <a:lnSpc>
                <a:spcPts val="1610"/>
              </a:lnSpc>
              <a:spcBef>
                <a:spcPts val="156"/>
              </a:spcBef>
              <a:buNone/>
            </a:pP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Foco:</a:t>
            </a:r>
            <a:r>
              <a:rPr b="1" lang="pt-BR" sz="1350" spc="-3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Prevenção</a:t>
            </a:r>
            <a:r>
              <a:rPr b="1" lang="pt-BR" sz="1350" spc="-26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do</a:t>
            </a:r>
            <a:r>
              <a:rPr b="1" lang="pt-BR" sz="1350" spc="-66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2" strike="noStrike">
                <a:solidFill>
                  <a:srgbClr val="8209d1"/>
                </a:solidFill>
                <a:latin typeface="Arial"/>
              </a:rPr>
              <a:t>burnout financeiro.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49" name="object 17"/>
          <p:cNvSpPr/>
          <p:nvPr/>
        </p:nvSpPr>
        <p:spPr>
          <a:xfrm>
            <a:off x="8371440" y="3593160"/>
            <a:ext cx="261324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3. </a:t>
            </a:r>
            <a:r>
              <a:rPr b="1" lang="pt-BR" sz="1650" spc="-12" strike="noStrike">
                <a:solidFill>
                  <a:srgbClr val="111111"/>
                </a:solidFill>
                <a:latin typeface="Arial"/>
              </a:rPr>
              <a:t>Carreira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29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Qualificações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valor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mercado.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50" name="object 18"/>
          <p:cNvSpPr/>
          <p:nvPr/>
        </p:nvSpPr>
        <p:spPr>
          <a:xfrm>
            <a:off x="8371440" y="4348440"/>
            <a:ext cx="251244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ts val="1613"/>
              </a:lnSpc>
              <a:spcBef>
                <a:spcPts val="96"/>
              </a:spcBef>
              <a:buNone/>
            </a:pP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Foco:</a:t>
            </a:r>
            <a:r>
              <a:rPr b="1" lang="pt-BR" sz="1350" spc="-97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Aumento</a:t>
            </a:r>
            <a:r>
              <a:rPr b="1" lang="pt-BR" sz="1350" spc="-7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1" strike="noStrike">
                <a:solidFill>
                  <a:srgbClr val="8209d1"/>
                </a:solidFill>
                <a:latin typeface="Arial"/>
              </a:rPr>
              <a:t>sustentável</a:t>
            </a:r>
            <a:r>
              <a:rPr b="1" lang="pt-BR" sz="1350" spc="-66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350" spc="-26" strike="noStrike">
                <a:solidFill>
                  <a:srgbClr val="8209d1"/>
                </a:solidFill>
                <a:latin typeface="Arial"/>
              </a:rPr>
              <a:t>de</a:t>
            </a:r>
            <a:endParaRPr b="0" lang="pt-BR" sz="1350" spc="-1" strike="noStrike">
              <a:latin typeface="Arial"/>
            </a:endParaRPr>
          </a:p>
          <a:p>
            <a:pPr marL="12600">
              <a:lnSpc>
                <a:spcPts val="1613"/>
              </a:lnSpc>
              <a:buNone/>
            </a:pPr>
            <a:r>
              <a:rPr b="1" lang="pt-BR" sz="1350" spc="-12" strike="noStrike">
                <a:solidFill>
                  <a:srgbClr val="8209d1"/>
                </a:solidFill>
                <a:latin typeface="Arial"/>
              </a:rPr>
              <a:t>renda.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151" name="Imagem 4" descr=""/>
          <p:cNvPicPr/>
          <p:nvPr/>
        </p:nvPicPr>
        <p:blipFill>
          <a:blip r:embed="rId7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object 2" descr="image.png"/>
          <p:cNvPicPr/>
          <p:nvPr/>
        </p:nvPicPr>
        <p:blipFill>
          <a:blip r:embed="rId1"/>
          <a:stretch/>
        </p:blipFill>
        <p:spPr>
          <a:xfrm>
            <a:off x="609480" y="2682720"/>
            <a:ext cx="5333760" cy="1703160"/>
          </a:xfrm>
          <a:prstGeom prst="rect">
            <a:avLst/>
          </a:prstGeom>
          <a:ln w="0">
            <a:noFill/>
          </a:ln>
        </p:spPr>
      </p:pic>
      <p:pic>
        <p:nvPicPr>
          <p:cNvPr id="153" name="object 3" descr="image.png"/>
          <p:cNvPicPr/>
          <p:nvPr/>
        </p:nvPicPr>
        <p:blipFill>
          <a:blip r:embed="rId2"/>
          <a:stretch/>
        </p:blipFill>
        <p:spPr>
          <a:xfrm>
            <a:off x="6248520" y="2682720"/>
            <a:ext cx="5333760" cy="1703160"/>
          </a:xfrm>
          <a:prstGeom prst="rect">
            <a:avLst/>
          </a:prstGeom>
          <a:ln w="0">
            <a:noFill/>
          </a:ln>
        </p:spPr>
      </p:pic>
      <p:sp>
        <p:nvSpPr>
          <p:cNvPr id="154" name="object 4"/>
          <p:cNvSpPr/>
          <p:nvPr/>
        </p:nvSpPr>
        <p:spPr>
          <a:xfrm>
            <a:off x="597240" y="441720"/>
            <a:ext cx="1437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SISTEMA</a:t>
            </a:r>
            <a:r>
              <a:rPr b="1" lang="pt-BR" sz="1100" spc="24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DE</a:t>
            </a:r>
            <a:r>
              <a:rPr b="1" lang="pt-BR" sz="1100" spc="49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21" strike="noStrike">
                <a:solidFill>
                  <a:srgbClr val="8209d1"/>
                </a:solidFill>
                <a:latin typeface="Arial"/>
              </a:rPr>
              <a:t>METAS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Metas</a:t>
            </a:r>
            <a:r>
              <a:rPr b="1" lang="pt-BR" sz="2400" spc="-6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Iniciais</a:t>
            </a:r>
            <a:r>
              <a:rPr b="1" lang="pt-BR" sz="2400" spc="-8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Transformadas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em</a:t>
            </a:r>
            <a:r>
              <a:rPr b="1" lang="pt-BR" sz="2400" spc="-7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Descontos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Reais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56" name="object 6"/>
          <p:cNvSpPr/>
          <p:nvPr/>
        </p:nvSpPr>
        <p:spPr>
          <a:xfrm>
            <a:off x="597240" y="4483800"/>
            <a:ext cx="3442680" cy="79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720" bIns="0" anchor="t">
            <a:spAutoFit/>
          </a:bodyPr>
          <a:p>
            <a:pPr marL="12600">
              <a:lnSpc>
                <a:spcPct val="100000"/>
              </a:lnSpc>
              <a:spcBef>
                <a:spcPts val="714"/>
              </a:spcBef>
              <a:buNone/>
            </a:pP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Meta:</a:t>
            </a:r>
            <a:r>
              <a:rPr b="1" lang="pt-BR" sz="1500" spc="-3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Equipamento</a:t>
            </a:r>
            <a:r>
              <a:rPr b="1" lang="pt-BR" sz="1500" spc="-6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1500" spc="-12" strike="noStrike">
                <a:solidFill>
                  <a:srgbClr val="111111"/>
                </a:solidFill>
                <a:latin typeface="Arial"/>
              </a:rPr>
              <a:t> Trabalho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Desconto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na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compra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do</a:t>
            </a:r>
            <a:r>
              <a:rPr b="0" lang="pt-BR" sz="1350" spc="-1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notebook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estudo.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57" name="object 7"/>
          <p:cNvSpPr/>
          <p:nvPr/>
        </p:nvSpPr>
        <p:spPr>
          <a:xfrm>
            <a:off x="6237360" y="4483800"/>
            <a:ext cx="3461040" cy="79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720" bIns="0" anchor="t">
            <a:spAutoFit/>
          </a:bodyPr>
          <a:p>
            <a:pPr marL="12600">
              <a:lnSpc>
                <a:spcPct val="100000"/>
              </a:lnSpc>
              <a:spcBef>
                <a:spcPts val="714"/>
              </a:spcBef>
              <a:buNone/>
            </a:pP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Meta:</a:t>
            </a:r>
            <a:r>
              <a:rPr b="1" lang="pt-BR" sz="1500" spc="-3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Experiências</a:t>
            </a:r>
            <a:r>
              <a:rPr b="1" lang="pt-BR" sz="1500" spc="-8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e</a:t>
            </a:r>
            <a:r>
              <a:rPr b="1" lang="pt-BR" sz="1500" spc="-12" strike="noStrike">
                <a:solidFill>
                  <a:srgbClr val="111111"/>
                </a:solidFill>
                <a:latin typeface="Arial"/>
              </a:rPr>
              <a:t> Viagens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Cashback</a:t>
            </a:r>
            <a:r>
              <a:rPr b="0" lang="pt-BR" sz="1350" spc="-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especial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350" spc="-7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passagens</a:t>
            </a:r>
            <a:r>
              <a:rPr b="0" lang="pt-BR" sz="1350" spc="-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com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pontos.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158" name="Imagem 5" descr=""/>
          <p:cNvPicPr/>
          <p:nvPr/>
        </p:nvPicPr>
        <p:blipFill>
          <a:blip r:embed="rId3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bject 2"/>
          <p:cNvSpPr/>
          <p:nvPr/>
        </p:nvSpPr>
        <p:spPr>
          <a:xfrm>
            <a:off x="609480" y="3048120"/>
            <a:ext cx="3529440" cy="1743480"/>
          </a:xfrm>
          <a:custGeom>
            <a:avLst/>
            <a:gdLst/>
            <a:ahLst/>
            <a:rect l="l" t="t" r="r" b="b"/>
            <a:pathLst>
              <a:path w="3529965" h="1743710">
                <a:moveTo>
                  <a:pt x="3377184" y="0"/>
                </a:moveTo>
                <a:lnTo>
                  <a:pt x="152425" y="0"/>
                </a:lnTo>
                <a:lnTo>
                  <a:pt x="104249" y="7766"/>
                </a:lnTo>
                <a:lnTo>
                  <a:pt x="62407" y="29394"/>
                </a:lnTo>
                <a:lnTo>
                  <a:pt x="29411" y="62380"/>
                </a:lnTo>
                <a:lnTo>
                  <a:pt x="7771" y="104217"/>
                </a:lnTo>
                <a:lnTo>
                  <a:pt x="0" y="152400"/>
                </a:lnTo>
                <a:lnTo>
                  <a:pt x="0" y="1591056"/>
                </a:lnTo>
                <a:lnTo>
                  <a:pt x="7771" y="1639238"/>
                </a:lnTo>
                <a:lnTo>
                  <a:pt x="29411" y="1681075"/>
                </a:lnTo>
                <a:lnTo>
                  <a:pt x="62407" y="1714061"/>
                </a:lnTo>
                <a:lnTo>
                  <a:pt x="104249" y="1735689"/>
                </a:lnTo>
                <a:lnTo>
                  <a:pt x="152425" y="1743456"/>
                </a:lnTo>
                <a:lnTo>
                  <a:pt x="3377184" y="1743456"/>
                </a:lnTo>
                <a:lnTo>
                  <a:pt x="3425366" y="1735689"/>
                </a:lnTo>
                <a:lnTo>
                  <a:pt x="3467203" y="1714061"/>
                </a:lnTo>
                <a:lnTo>
                  <a:pt x="3500189" y="1681075"/>
                </a:lnTo>
                <a:lnTo>
                  <a:pt x="3521817" y="1639238"/>
                </a:lnTo>
                <a:lnTo>
                  <a:pt x="3529584" y="1591056"/>
                </a:lnTo>
                <a:lnTo>
                  <a:pt x="3529584" y="152400"/>
                </a:lnTo>
                <a:lnTo>
                  <a:pt x="3521817" y="104217"/>
                </a:lnTo>
                <a:lnTo>
                  <a:pt x="3500189" y="62380"/>
                </a:lnTo>
                <a:lnTo>
                  <a:pt x="3467203" y="29394"/>
                </a:lnTo>
                <a:lnTo>
                  <a:pt x="3425366" y="7766"/>
                </a:lnTo>
                <a:lnTo>
                  <a:pt x="3377184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object 3"/>
          <p:cNvSpPr/>
          <p:nvPr/>
        </p:nvSpPr>
        <p:spPr>
          <a:xfrm>
            <a:off x="4331160" y="3048120"/>
            <a:ext cx="3529440" cy="1743480"/>
          </a:xfrm>
          <a:custGeom>
            <a:avLst/>
            <a:gdLst/>
            <a:ahLst/>
            <a:rect l="l" t="t" r="r" b="b"/>
            <a:pathLst>
              <a:path w="3529965" h="1743710">
                <a:moveTo>
                  <a:pt x="3377184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1591056"/>
                </a:lnTo>
                <a:lnTo>
                  <a:pt x="7766" y="1639238"/>
                </a:lnTo>
                <a:lnTo>
                  <a:pt x="29394" y="1681075"/>
                </a:lnTo>
                <a:lnTo>
                  <a:pt x="62380" y="1714061"/>
                </a:lnTo>
                <a:lnTo>
                  <a:pt x="104217" y="1735689"/>
                </a:lnTo>
                <a:lnTo>
                  <a:pt x="152400" y="1743456"/>
                </a:lnTo>
                <a:lnTo>
                  <a:pt x="3377184" y="1743456"/>
                </a:lnTo>
                <a:lnTo>
                  <a:pt x="3425366" y="1735689"/>
                </a:lnTo>
                <a:lnTo>
                  <a:pt x="3467203" y="1714061"/>
                </a:lnTo>
                <a:lnTo>
                  <a:pt x="3500189" y="1681075"/>
                </a:lnTo>
                <a:lnTo>
                  <a:pt x="3521817" y="1639238"/>
                </a:lnTo>
                <a:lnTo>
                  <a:pt x="3529584" y="1591056"/>
                </a:lnTo>
                <a:lnTo>
                  <a:pt x="3529584" y="152400"/>
                </a:lnTo>
                <a:lnTo>
                  <a:pt x="3521817" y="104217"/>
                </a:lnTo>
                <a:lnTo>
                  <a:pt x="3500189" y="62380"/>
                </a:lnTo>
                <a:lnTo>
                  <a:pt x="3467203" y="29394"/>
                </a:lnTo>
                <a:lnTo>
                  <a:pt x="3425366" y="7766"/>
                </a:lnTo>
                <a:lnTo>
                  <a:pt x="3377184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object 4"/>
          <p:cNvSpPr/>
          <p:nvPr/>
        </p:nvSpPr>
        <p:spPr>
          <a:xfrm>
            <a:off x="8052840" y="3048120"/>
            <a:ext cx="3529440" cy="1743480"/>
          </a:xfrm>
          <a:custGeom>
            <a:avLst/>
            <a:gdLst/>
            <a:ahLst/>
            <a:rect l="l" t="t" r="r" b="b"/>
            <a:pathLst>
              <a:path w="3529965" h="1743710">
                <a:moveTo>
                  <a:pt x="3377183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1591056"/>
                </a:lnTo>
                <a:lnTo>
                  <a:pt x="7766" y="1639238"/>
                </a:lnTo>
                <a:lnTo>
                  <a:pt x="29394" y="1681075"/>
                </a:lnTo>
                <a:lnTo>
                  <a:pt x="62380" y="1714061"/>
                </a:lnTo>
                <a:lnTo>
                  <a:pt x="104217" y="1735689"/>
                </a:lnTo>
                <a:lnTo>
                  <a:pt x="152400" y="1743456"/>
                </a:lnTo>
                <a:lnTo>
                  <a:pt x="3377183" y="1743456"/>
                </a:lnTo>
                <a:lnTo>
                  <a:pt x="3425366" y="1735689"/>
                </a:lnTo>
                <a:lnTo>
                  <a:pt x="3467203" y="1714061"/>
                </a:lnTo>
                <a:lnTo>
                  <a:pt x="3500189" y="1681075"/>
                </a:lnTo>
                <a:lnTo>
                  <a:pt x="3521817" y="1639238"/>
                </a:lnTo>
                <a:lnTo>
                  <a:pt x="3529583" y="1591056"/>
                </a:lnTo>
                <a:lnTo>
                  <a:pt x="3529583" y="152400"/>
                </a:lnTo>
                <a:lnTo>
                  <a:pt x="3521817" y="104217"/>
                </a:lnTo>
                <a:lnTo>
                  <a:pt x="3500189" y="62380"/>
                </a:lnTo>
                <a:lnTo>
                  <a:pt x="3467203" y="29394"/>
                </a:lnTo>
                <a:lnTo>
                  <a:pt x="3425366" y="7766"/>
                </a:lnTo>
                <a:lnTo>
                  <a:pt x="3377183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object 5"/>
          <p:cNvSpPr/>
          <p:nvPr/>
        </p:nvSpPr>
        <p:spPr>
          <a:xfrm>
            <a:off x="877680" y="3316320"/>
            <a:ext cx="685440" cy="283320"/>
          </a:xfrm>
          <a:custGeom>
            <a:avLst/>
            <a:gdLst/>
            <a:ahLst/>
            <a:rect l="l" t="t" r="r" b="b"/>
            <a:pathLst>
              <a:path w="685800" h="283845">
                <a:moveTo>
                  <a:pt x="629157" y="0"/>
                </a:moveTo>
                <a:lnTo>
                  <a:pt x="56692" y="0"/>
                </a:lnTo>
                <a:lnTo>
                  <a:pt x="34627" y="4456"/>
                </a:lnTo>
                <a:lnTo>
                  <a:pt x="16606" y="16605"/>
                </a:lnTo>
                <a:lnTo>
                  <a:pt x="4455" y="34611"/>
                </a:lnTo>
                <a:lnTo>
                  <a:pt x="0" y="56641"/>
                </a:lnTo>
                <a:lnTo>
                  <a:pt x="0" y="226822"/>
                </a:lnTo>
                <a:lnTo>
                  <a:pt x="4455" y="248852"/>
                </a:lnTo>
                <a:lnTo>
                  <a:pt x="16606" y="266858"/>
                </a:lnTo>
                <a:lnTo>
                  <a:pt x="34627" y="279007"/>
                </a:lnTo>
                <a:lnTo>
                  <a:pt x="56692" y="283463"/>
                </a:lnTo>
                <a:lnTo>
                  <a:pt x="629157" y="283463"/>
                </a:lnTo>
                <a:lnTo>
                  <a:pt x="651188" y="279007"/>
                </a:lnTo>
                <a:lnTo>
                  <a:pt x="669194" y="266858"/>
                </a:lnTo>
                <a:lnTo>
                  <a:pt x="681343" y="248852"/>
                </a:lnTo>
                <a:lnTo>
                  <a:pt x="685800" y="226822"/>
                </a:lnTo>
                <a:lnTo>
                  <a:pt x="685800" y="56641"/>
                </a:lnTo>
                <a:lnTo>
                  <a:pt x="681343" y="34611"/>
                </a:lnTo>
                <a:lnTo>
                  <a:pt x="669194" y="16605"/>
                </a:lnTo>
                <a:lnTo>
                  <a:pt x="651188" y="4456"/>
                </a:lnTo>
                <a:lnTo>
                  <a:pt x="629157" y="0"/>
                </a:lnTo>
                <a:close/>
              </a:path>
            </a:pathLst>
          </a:custGeom>
          <a:solidFill>
            <a:srgbClr val="ebd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object 6"/>
          <p:cNvSpPr/>
          <p:nvPr/>
        </p:nvSpPr>
        <p:spPr>
          <a:xfrm>
            <a:off x="4596480" y="3316320"/>
            <a:ext cx="707040" cy="283320"/>
          </a:xfrm>
          <a:custGeom>
            <a:avLst/>
            <a:gdLst/>
            <a:ahLst/>
            <a:rect l="l" t="t" r="r" b="b"/>
            <a:pathLst>
              <a:path w="707389" h="283845">
                <a:moveTo>
                  <a:pt x="650493" y="0"/>
                </a:moveTo>
                <a:lnTo>
                  <a:pt x="56641" y="0"/>
                </a:lnTo>
                <a:lnTo>
                  <a:pt x="34611" y="4456"/>
                </a:lnTo>
                <a:lnTo>
                  <a:pt x="16605" y="16605"/>
                </a:lnTo>
                <a:lnTo>
                  <a:pt x="4456" y="34611"/>
                </a:lnTo>
                <a:lnTo>
                  <a:pt x="0" y="56641"/>
                </a:lnTo>
                <a:lnTo>
                  <a:pt x="0" y="226822"/>
                </a:lnTo>
                <a:lnTo>
                  <a:pt x="4456" y="248852"/>
                </a:lnTo>
                <a:lnTo>
                  <a:pt x="16605" y="266858"/>
                </a:lnTo>
                <a:lnTo>
                  <a:pt x="34611" y="279007"/>
                </a:lnTo>
                <a:lnTo>
                  <a:pt x="56641" y="283463"/>
                </a:lnTo>
                <a:lnTo>
                  <a:pt x="650493" y="283463"/>
                </a:lnTo>
                <a:lnTo>
                  <a:pt x="672524" y="279007"/>
                </a:lnTo>
                <a:lnTo>
                  <a:pt x="690530" y="266858"/>
                </a:lnTo>
                <a:lnTo>
                  <a:pt x="702679" y="248852"/>
                </a:lnTo>
                <a:lnTo>
                  <a:pt x="707136" y="226822"/>
                </a:lnTo>
                <a:lnTo>
                  <a:pt x="707136" y="56641"/>
                </a:lnTo>
                <a:lnTo>
                  <a:pt x="702679" y="34611"/>
                </a:lnTo>
                <a:lnTo>
                  <a:pt x="690530" y="16605"/>
                </a:lnTo>
                <a:lnTo>
                  <a:pt x="672524" y="4456"/>
                </a:lnTo>
                <a:lnTo>
                  <a:pt x="650493" y="0"/>
                </a:lnTo>
                <a:close/>
              </a:path>
            </a:pathLst>
          </a:custGeom>
          <a:solidFill>
            <a:srgbClr val="ebd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object 7"/>
          <p:cNvSpPr/>
          <p:nvPr/>
        </p:nvSpPr>
        <p:spPr>
          <a:xfrm>
            <a:off x="8318160" y="3316320"/>
            <a:ext cx="716040" cy="283320"/>
          </a:xfrm>
          <a:custGeom>
            <a:avLst/>
            <a:gdLst/>
            <a:ahLst/>
            <a:rect l="l" t="t" r="r" b="b"/>
            <a:pathLst>
              <a:path w="716279" h="283845">
                <a:moveTo>
                  <a:pt x="659637" y="0"/>
                </a:moveTo>
                <a:lnTo>
                  <a:pt x="56641" y="0"/>
                </a:lnTo>
                <a:lnTo>
                  <a:pt x="34611" y="4456"/>
                </a:lnTo>
                <a:lnTo>
                  <a:pt x="16605" y="16605"/>
                </a:lnTo>
                <a:lnTo>
                  <a:pt x="4456" y="34611"/>
                </a:lnTo>
                <a:lnTo>
                  <a:pt x="0" y="56641"/>
                </a:lnTo>
                <a:lnTo>
                  <a:pt x="0" y="226822"/>
                </a:lnTo>
                <a:lnTo>
                  <a:pt x="4456" y="248852"/>
                </a:lnTo>
                <a:lnTo>
                  <a:pt x="16605" y="266858"/>
                </a:lnTo>
                <a:lnTo>
                  <a:pt x="34611" y="279007"/>
                </a:lnTo>
                <a:lnTo>
                  <a:pt x="56641" y="283463"/>
                </a:lnTo>
                <a:lnTo>
                  <a:pt x="659637" y="283463"/>
                </a:lnTo>
                <a:lnTo>
                  <a:pt x="681668" y="279007"/>
                </a:lnTo>
                <a:lnTo>
                  <a:pt x="699674" y="266858"/>
                </a:lnTo>
                <a:lnTo>
                  <a:pt x="711823" y="248852"/>
                </a:lnTo>
                <a:lnTo>
                  <a:pt x="716279" y="226822"/>
                </a:lnTo>
                <a:lnTo>
                  <a:pt x="716279" y="56641"/>
                </a:lnTo>
                <a:lnTo>
                  <a:pt x="711823" y="34611"/>
                </a:lnTo>
                <a:lnTo>
                  <a:pt x="699674" y="16605"/>
                </a:lnTo>
                <a:lnTo>
                  <a:pt x="681668" y="4456"/>
                </a:lnTo>
                <a:lnTo>
                  <a:pt x="659637" y="0"/>
                </a:lnTo>
                <a:close/>
              </a:path>
            </a:pathLst>
          </a:custGeom>
          <a:solidFill>
            <a:srgbClr val="ebd9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5" name="object 8" descr="image.png"/>
          <p:cNvPicPr/>
          <p:nvPr/>
        </p:nvPicPr>
        <p:blipFill>
          <a:blip r:embed="rId1"/>
          <a:stretch/>
        </p:blipFill>
        <p:spPr>
          <a:xfrm>
            <a:off x="3636360" y="3362040"/>
            <a:ext cx="237240" cy="191520"/>
          </a:xfrm>
          <a:prstGeom prst="rect">
            <a:avLst/>
          </a:prstGeom>
          <a:ln w="0">
            <a:noFill/>
          </a:ln>
        </p:spPr>
      </p:pic>
      <p:pic>
        <p:nvPicPr>
          <p:cNvPr id="166" name="object 9" descr="image.png"/>
          <p:cNvPicPr/>
          <p:nvPr/>
        </p:nvPicPr>
        <p:blipFill>
          <a:blip r:embed="rId2"/>
          <a:stretch/>
        </p:blipFill>
        <p:spPr>
          <a:xfrm>
            <a:off x="7358040" y="3362040"/>
            <a:ext cx="237240" cy="191520"/>
          </a:xfrm>
          <a:prstGeom prst="rect">
            <a:avLst/>
          </a:prstGeom>
          <a:ln w="0">
            <a:noFill/>
          </a:ln>
        </p:spPr>
      </p:pic>
      <p:pic>
        <p:nvPicPr>
          <p:cNvPr id="167" name="object 10" descr="image.png"/>
          <p:cNvPicPr/>
          <p:nvPr/>
        </p:nvPicPr>
        <p:blipFill>
          <a:blip r:embed="rId3"/>
          <a:stretch/>
        </p:blipFill>
        <p:spPr>
          <a:xfrm>
            <a:off x="11076480" y="3362040"/>
            <a:ext cx="240480" cy="191520"/>
          </a:xfrm>
          <a:prstGeom prst="rect">
            <a:avLst/>
          </a:prstGeom>
          <a:ln w="0">
            <a:noFill/>
          </a:ln>
        </p:spPr>
      </p:pic>
      <p:sp>
        <p:nvSpPr>
          <p:cNvPr id="168" name="object 11"/>
          <p:cNvSpPr/>
          <p:nvPr/>
        </p:nvSpPr>
        <p:spPr>
          <a:xfrm>
            <a:off x="597240" y="441720"/>
            <a:ext cx="1853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EVOLUÇÃO</a:t>
            </a:r>
            <a:r>
              <a:rPr b="1" lang="pt-BR" sz="1100" spc="77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DO</a:t>
            </a:r>
            <a:r>
              <a:rPr b="1" lang="pt-BR" sz="1100" spc="49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2" strike="noStrike">
                <a:solidFill>
                  <a:srgbClr val="8209d1"/>
                </a:solidFill>
                <a:latin typeface="Arial"/>
              </a:rPr>
              <a:t>JOGADOR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Três</a:t>
            </a:r>
            <a:r>
              <a:rPr b="1" lang="pt-BR" sz="2400" spc="-10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Níveis</a:t>
            </a:r>
            <a:r>
              <a:rPr b="1" lang="pt-BR" sz="2400" spc="-9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2400" spc="-16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Acompanhamento</a:t>
            </a:r>
            <a:r>
              <a:rPr b="1" lang="pt-BR" sz="2400" spc="-6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Financeiro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70" name="object 13"/>
          <p:cNvSpPr/>
          <p:nvPr/>
        </p:nvSpPr>
        <p:spPr>
          <a:xfrm>
            <a:off x="864000" y="3615480"/>
            <a:ext cx="2386080" cy="10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920" bIns="0" anchor="t">
            <a:spAutoFit/>
          </a:bodyPr>
          <a:p>
            <a:pPr marL="12600">
              <a:lnSpc>
                <a:spcPct val="100000"/>
              </a:lnSpc>
              <a:spcBef>
                <a:spcPts val="1054"/>
              </a:spcBef>
              <a:buNone/>
            </a:pPr>
            <a:r>
              <a:rPr b="1" lang="pt-BR" sz="1500" spc="-12" strike="noStrike">
                <a:solidFill>
                  <a:srgbClr val="111111"/>
                </a:solidFill>
                <a:latin typeface="Arial"/>
              </a:rPr>
              <a:t>Estagiário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ts val="1610"/>
              </a:lnSpc>
              <a:spcBef>
                <a:spcPts val="893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Gestão</a:t>
            </a:r>
            <a:r>
              <a:rPr b="0" lang="pt-BR" sz="1350" spc="-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transporte,</a:t>
            </a:r>
            <a:r>
              <a:rPr b="0" lang="pt-BR" sz="1350" spc="-5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freelas </a:t>
            </a:r>
            <a:r>
              <a:rPr b="0" lang="pt-BR" sz="1350" spc="-52" strike="noStrike">
                <a:solidFill>
                  <a:srgbClr val="545454"/>
                </a:solidFill>
                <a:latin typeface="Arial MT"/>
              </a:rPr>
              <a:t>e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orçamento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sobrevivência.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71" name="object 14"/>
          <p:cNvSpPr/>
          <p:nvPr/>
        </p:nvSpPr>
        <p:spPr>
          <a:xfrm>
            <a:off x="4585680" y="3615480"/>
            <a:ext cx="3062160" cy="8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920" bIns="0" anchor="t">
            <a:spAutoFit/>
          </a:bodyPr>
          <a:p>
            <a:pPr marL="12600">
              <a:lnSpc>
                <a:spcPct val="100000"/>
              </a:lnSpc>
              <a:spcBef>
                <a:spcPts val="1054"/>
              </a:spcBef>
              <a:buNone/>
            </a:pPr>
            <a:r>
              <a:rPr b="1" lang="pt-BR" sz="1500" spc="-1" strike="noStrike">
                <a:solidFill>
                  <a:srgbClr val="111111"/>
                </a:solidFill>
                <a:latin typeface="Arial"/>
              </a:rPr>
              <a:t>Primeiro</a:t>
            </a:r>
            <a:r>
              <a:rPr b="1" lang="pt-BR" sz="1500" spc="-6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500" spc="-12" strike="noStrike">
                <a:solidFill>
                  <a:srgbClr val="111111"/>
                </a:solidFill>
                <a:latin typeface="Arial"/>
              </a:rPr>
              <a:t>Emprego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ts val="1610"/>
              </a:lnSpc>
              <a:spcBef>
                <a:spcPts val="893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Planejamento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impostos,</a:t>
            </a:r>
            <a:r>
              <a:rPr b="0" lang="pt-BR" sz="1350" spc="-7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benefícios</a:t>
            </a:r>
            <a:r>
              <a:rPr b="0" lang="pt-BR" sz="1350" spc="-6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52" strike="noStrike">
                <a:solidFill>
                  <a:srgbClr val="545454"/>
                </a:solidFill>
                <a:latin typeface="Arial MT"/>
              </a:rPr>
              <a:t>e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reserva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inicial.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72" name="object 15"/>
          <p:cNvSpPr/>
          <p:nvPr/>
        </p:nvSpPr>
        <p:spPr>
          <a:xfrm>
            <a:off x="8308080" y="3615480"/>
            <a:ext cx="2690280" cy="8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920" bIns="0" anchor="t">
            <a:spAutoFit/>
          </a:bodyPr>
          <a:p>
            <a:pPr marL="12600">
              <a:lnSpc>
                <a:spcPct val="100000"/>
              </a:lnSpc>
              <a:spcBef>
                <a:spcPts val="1054"/>
              </a:spcBef>
              <a:buNone/>
            </a:pPr>
            <a:r>
              <a:rPr b="1" lang="pt-BR" sz="1500" spc="-12" strike="noStrike">
                <a:solidFill>
                  <a:srgbClr val="111111"/>
                </a:solidFill>
                <a:latin typeface="Arial"/>
              </a:rPr>
              <a:t>Independência</a:t>
            </a:r>
            <a:endParaRPr b="0" lang="pt-BR" sz="1500" spc="-1" strike="noStrike">
              <a:latin typeface="Arial"/>
            </a:endParaRPr>
          </a:p>
          <a:p>
            <a:pPr marL="12600">
              <a:lnSpc>
                <a:spcPts val="1610"/>
              </a:lnSpc>
              <a:spcBef>
                <a:spcPts val="893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Construção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patrimônio</a:t>
            </a:r>
            <a:r>
              <a:rPr b="0" lang="pt-BR" sz="1350" spc="-60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crédito consciente.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73" name="object 16"/>
          <p:cNvSpPr/>
          <p:nvPr/>
        </p:nvSpPr>
        <p:spPr>
          <a:xfrm>
            <a:off x="978120" y="3357720"/>
            <a:ext cx="52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NÍVEL</a:t>
            </a:r>
            <a:r>
              <a:rPr b="1" lang="pt-BR" sz="1050" spc="-2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52" strike="noStrike">
                <a:solidFill>
                  <a:srgbClr val="8209d1"/>
                </a:solidFill>
                <a:latin typeface="Arial"/>
              </a:rPr>
              <a:t>1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174" name="object 17"/>
          <p:cNvSpPr/>
          <p:nvPr/>
        </p:nvSpPr>
        <p:spPr>
          <a:xfrm>
            <a:off x="4700160" y="3357720"/>
            <a:ext cx="52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NÍVEL</a:t>
            </a:r>
            <a:r>
              <a:rPr b="1" lang="pt-BR" sz="1050" spc="-2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52" strike="noStrike">
                <a:solidFill>
                  <a:srgbClr val="8209d1"/>
                </a:solidFill>
                <a:latin typeface="Arial"/>
              </a:rPr>
              <a:t>2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175" name="object 18"/>
          <p:cNvSpPr/>
          <p:nvPr/>
        </p:nvSpPr>
        <p:spPr>
          <a:xfrm>
            <a:off x="8422560" y="3357720"/>
            <a:ext cx="52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050" spc="-1" strike="noStrike">
                <a:solidFill>
                  <a:srgbClr val="8209d1"/>
                </a:solidFill>
                <a:latin typeface="Arial"/>
              </a:rPr>
              <a:t>NÍVEL</a:t>
            </a:r>
            <a:r>
              <a:rPr b="1" lang="pt-BR" sz="1050" spc="-2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050" spc="-52" strike="noStrike">
                <a:solidFill>
                  <a:srgbClr val="8209d1"/>
                </a:solidFill>
                <a:latin typeface="Arial"/>
              </a:rPr>
              <a:t>3</a:t>
            </a:r>
            <a:endParaRPr b="0" lang="pt-BR" sz="1050" spc="-1" strike="noStrike">
              <a:latin typeface="Arial"/>
            </a:endParaRPr>
          </a:p>
        </p:txBody>
      </p:sp>
      <p:pic>
        <p:nvPicPr>
          <p:cNvPr id="176" name="Imagem 6" descr=""/>
          <p:cNvPicPr/>
          <p:nvPr/>
        </p:nvPicPr>
        <p:blipFill>
          <a:blip r:embed="rId4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bject 2"/>
          <p:cNvSpPr/>
          <p:nvPr/>
        </p:nvSpPr>
        <p:spPr>
          <a:xfrm>
            <a:off x="609480" y="3145680"/>
            <a:ext cx="5333760" cy="1508400"/>
          </a:xfrm>
          <a:custGeom>
            <a:avLst/>
            <a:gdLst/>
            <a:ahLst/>
            <a:rect l="l" t="t" r="r" b="b"/>
            <a:pathLst>
              <a:path w="5334000" h="1508760">
                <a:moveTo>
                  <a:pt x="5181600" y="0"/>
                </a:moveTo>
                <a:lnTo>
                  <a:pt x="152412" y="0"/>
                </a:lnTo>
                <a:lnTo>
                  <a:pt x="104238" y="7766"/>
                </a:lnTo>
                <a:lnTo>
                  <a:pt x="62399" y="29394"/>
                </a:lnTo>
                <a:lnTo>
                  <a:pt x="29406" y="62380"/>
                </a:lnTo>
                <a:lnTo>
                  <a:pt x="7770" y="104217"/>
                </a:lnTo>
                <a:lnTo>
                  <a:pt x="0" y="152400"/>
                </a:lnTo>
                <a:lnTo>
                  <a:pt x="0" y="1356359"/>
                </a:lnTo>
                <a:lnTo>
                  <a:pt x="7770" y="1404542"/>
                </a:lnTo>
                <a:lnTo>
                  <a:pt x="29406" y="1446379"/>
                </a:lnTo>
                <a:lnTo>
                  <a:pt x="62399" y="1479365"/>
                </a:lnTo>
                <a:lnTo>
                  <a:pt x="104238" y="1500993"/>
                </a:lnTo>
                <a:lnTo>
                  <a:pt x="152412" y="1508759"/>
                </a:lnTo>
                <a:lnTo>
                  <a:pt x="5181600" y="1508759"/>
                </a:lnTo>
                <a:lnTo>
                  <a:pt x="5229782" y="1500993"/>
                </a:lnTo>
                <a:lnTo>
                  <a:pt x="5271619" y="1479365"/>
                </a:lnTo>
                <a:lnTo>
                  <a:pt x="5304605" y="1446379"/>
                </a:lnTo>
                <a:lnTo>
                  <a:pt x="5326233" y="1404542"/>
                </a:lnTo>
                <a:lnTo>
                  <a:pt x="5334000" y="1356359"/>
                </a:lnTo>
                <a:lnTo>
                  <a:pt x="5334000" y="152400"/>
                </a:lnTo>
                <a:lnTo>
                  <a:pt x="5326233" y="104217"/>
                </a:lnTo>
                <a:lnTo>
                  <a:pt x="5304605" y="62380"/>
                </a:lnTo>
                <a:lnTo>
                  <a:pt x="5271619" y="29394"/>
                </a:lnTo>
                <a:lnTo>
                  <a:pt x="5229782" y="7766"/>
                </a:lnTo>
                <a:lnTo>
                  <a:pt x="51816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object 3"/>
          <p:cNvSpPr/>
          <p:nvPr/>
        </p:nvSpPr>
        <p:spPr>
          <a:xfrm>
            <a:off x="6248520" y="3145680"/>
            <a:ext cx="5333760" cy="1508400"/>
          </a:xfrm>
          <a:custGeom>
            <a:avLst/>
            <a:gdLst/>
            <a:ahLst/>
            <a:rect l="l" t="t" r="r" b="b"/>
            <a:pathLst>
              <a:path w="5334000" h="1508760">
                <a:moveTo>
                  <a:pt x="5181600" y="0"/>
                </a:moveTo>
                <a:lnTo>
                  <a:pt x="152400" y="0"/>
                </a:lnTo>
                <a:lnTo>
                  <a:pt x="104217" y="7766"/>
                </a:lnTo>
                <a:lnTo>
                  <a:pt x="62380" y="29394"/>
                </a:lnTo>
                <a:lnTo>
                  <a:pt x="29394" y="62380"/>
                </a:lnTo>
                <a:lnTo>
                  <a:pt x="7766" y="104217"/>
                </a:lnTo>
                <a:lnTo>
                  <a:pt x="0" y="152400"/>
                </a:lnTo>
                <a:lnTo>
                  <a:pt x="0" y="1356359"/>
                </a:lnTo>
                <a:lnTo>
                  <a:pt x="7766" y="1404542"/>
                </a:lnTo>
                <a:lnTo>
                  <a:pt x="29394" y="1446379"/>
                </a:lnTo>
                <a:lnTo>
                  <a:pt x="62380" y="1479365"/>
                </a:lnTo>
                <a:lnTo>
                  <a:pt x="104217" y="1500993"/>
                </a:lnTo>
                <a:lnTo>
                  <a:pt x="152400" y="1508759"/>
                </a:lnTo>
                <a:lnTo>
                  <a:pt x="5181600" y="1508759"/>
                </a:lnTo>
                <a:lnTo>
                  <a:pt x="5229782" y="1500993"/>
                </a:lnTo>
                <a:lnTo>
                  <a:pt x="5271619" y="1479365"/>
                </a:lnTo>
                <a:lnTo>
                  <a:pt x="5304605" y="1446379"/>
                </a:lnTo>
                <a:lnTo>
                  <a:pt x="5326233" y="1404542"/>
                </a:lnTo>
                <a:lnTo>
                  <a:pt x="5334000" y="1356359"/>
                </a:lnTo>
                <a:lnTo>
                  <a:pt x="5334000" y="152400"/>
                </a:lnTo>
                <a:lnTo>
                  <a:pt x="5326233" y="104217"/>
                </a:lnTo>
                <a:lnTo>
                  <a:pt x="5304605" y="62380"/>
                </a:lnTo>
                <a:lnTo>
                  <a:pt x="5271619" y="29394"/>
                </a:lnTo>
                <a:lnTo>
                  <a:pt x="5229782" y="7766"/>
                </a:lnTo>
                <a:lnTo>
                  <a:pt x="5181600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9" name="object 4" descr="image.png"/>
          <p:cNvPicPr/>
          <p:nvPr/>
        </p:nvPicPr>
        <p:blipFill>
          <a:blip r:embed="rId1"/>
          <a:stretch/>
        </p:blipFill>
        <p:spPr>
          <a:xfrm>
            <a:off x="914400" y="3468600"/>
            <a:ext cx="200880" cy="228240"/>
          </a:xfrm>
          <a:prstGeom prst="rect">
            <a:avLst/>
          </a:prstGeom>
          <a:ln w="0">
            <a:noFill/>
          </a:ln>
        </p:spPr>
      </p:pic>
      <p:pic>
        <p:nvPicPr>
          <p:cNvPr id="180" name="object 5" descr="image.png"/>
          <p:cNvPicPr/>
          <p:nvPr/>
        </p:nvPicPr>
        <p:blipFill>
          <a:blip r:embed="rId2"/>
          <a:stretch/>
        </p:blipFill>
        <p:spPr>
          <a:xfrm>
            <a:off x="6553080" y="346860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81" name="object 6"/>
          <p:cNvSpPr/>
          <p:nvPr/>
        </p:nvSpPr>
        <p:spPr>
          <a:xfrm>
            <a:off x="597240" y="441720"/>
            <a:ext cx="1608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DINÂMICAS</a:t>
            </a:r>
            <a:r>
              <a:rPr b="1" lang="pt-BR" sz="1100" spc="94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2" strike="noStrike">
                <a:solidFill>
                  <a:srgbClr val="8209d1"/>
                </a:solidFill>
                <a:latin typeface="Arial"/>
              </a:rPr>
              <a:t>PRÁTICAS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Desafios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Reais</a:t>
            </a:r>
            <a:r>
              <a:rPr b="1" lang="pt-BR" sz="2400" spc="-5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&amp;</a:t>
            </a:r>
            <a:r>
              <a:rPr b="1" lang="pt-BR" sz="2400" spc="-41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Nudges</a:t>
            </a:r>
            <a:r>
              <a:rPr b="1" lang="pt-BR" sz="2400" spc="-5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Comportamentais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83" name="object 8"/>
          <p:cNvSpPr/>
          <p:nvPr/>
        </p:nvSpPr>
        <p:spPr>
          <a:xfrm>
            <a:off x="902160" y="3434040"/>
            <a:ext cx="43005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2652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Cartas</a:t>
            </a:r>
            <a:r>
              <a:rPr b="1" lang="pt-BR" sz="1650" spc="-41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de </a:t>
            </a:r>
            <a:r>
              <a:rPr b="1" lang="pt-BR" sz="1650" spc="-12" strike="noStrike">
                <a:solidFill>
                  <a:srgbClr val="111111"/>
                </a:solidFill>
                <a:latin typeface="Arial"/>
              </a:rPr>
              <a:t>Destino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29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Imprevistos</a:t>
            </a:r>
            <a:r>
              <a:rPr b="0" lang="pt-BR" sz="1350" spc="-60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como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pneu</a:t>
            </a:r>
            <a:r>
              <a:rPr b="0" lang="pt-BR" sz="1350" spc="-1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furado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ou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viagem</a:t>
            </a:r>
            <a:r>
              <a:rPr b="0" lang="pt-BR" sz="1350" spc="-5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última</a:t>
            </a:r>
            <a:r>
              <a:rPr b="0" lang="pt-BR" sz="1350" spc="-1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hora</a:t>
            </a:r>
            <a:endParaRPr b="0" lang="pt-BR" sz="13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0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testam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a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reserva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4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emergência.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84" name="object 9"/>
          <p:cNvSpPr/>
          <p:nvPr/>
        </p:nvSpPr>
        <p:spPr>
          <a:xfrm>
            <a:off x="6541920" y="3434040"/>
            <a:ext cx="462384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5568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Automação</a:t>
            </a:r>
            <a:r>
              <a:rPr b="1" lang="pt-BR" sz="1650" spc="-9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1650" spc="-1" strike="noStrike">
                <a:solidFill>
                  <a:srgbClr val="111111"/>
                </a:solidFill>
                <a:latin typeface="Arial"/>
              </a:rPr>
              <a:t>Opt-</a:t>
            </a:r>
            <a:r>
              <a:rPr b="1" lang="pt-BR" sz="1650" spc="-26" strike="noStrike">
                <a:solidFill>
                  <a:srgbClr val="111111"/>
                </a:solidFill>
                <a:latin typeface="Arial"/>
              </a:rPr>
              <a:t>Out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29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Reserva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padrão</a:t>
            </a:r>
            <a:r>
              <a:rPr b="0" lang="pt-BR" sz="1350" spc="-1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10%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da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renda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facilita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a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criação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do</a:t>
            </a:r>
            <a:r>
              <a:rPr b="0" lang="pt-BR" sz="1350" spc="-35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hábito</a:t>
            </a:r>
            <a:endParaRPr b="0" lang="pt-BR" sz="13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0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poupar.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185" name="Imagem 7" descr=""/>
          <p:cNvPicPr/>
          <p:nvPr/>
        </p:nvPicPr>
        <p:blipFill>
          <a:blip r:embed="rId3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" name="object 2"/>
          <p:cNvGraphicFramePr/>
          <p:nvPr/>
        </p:nvGraphicFramePr>
        <p:xfrm>
          <a:off x="641520" y="2759040"/>
          <a:ext cx="9541800" cy="2268000"/>
        </p:xfrm>
        <a:graphic>
          <a:graphicData uri="http://schemas.openxmlformats.org/drawingml/2006/table">
            <a:tbl>
              <a:tblPr/>
              <a:tblGrid>
                <a:gridCol w="2311920"/>
                <a:gridCol w="4152240"/>
                <a:gridCol w="3077640"/>
              </a:tblGrid>
              <a:tr h="340920">
                <a:tc>
                  <a:txBody>
                    <a:bodyPr lIns="0" rIns="0" tIns="0" bIns="0" anchor="t">
                      <a:noAutofit/>
                    </a:bodyPr>
                    <a:p>
                      <a:pPr marL="31680">
                        <a:lnSpc>
                          <a:spcPts val="1324"/>
                        </a:lnSpc>
                        <a:buNone/>
                      </a:pPr>
                      <a:r>
                        <a:rPr b="1" lang="pt-BR" sz="1200" spc="-12" strike="noStrike">
                          <a:solidFill>
                            <a:srgbClr val="8209d1"/>
                          </a:solidFill>
                          <a:latin typeface="Arial"/>
                        </a:rPr>
                        <a:t>ETAPA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15240">
                        <a:lnSpc>
                          <a:spcPts val="1324"/>
                        </a:lnSpc>
                        <a:buNone/>
                      </a:pPr>
                      <a:r>
                        <a:rPr b="1" lang="pt-BR" sz="1200" spc="-1" strike="noStrike">
                          <a:solidFill>
                            <a:srgbClr val="8209d1"/>
                          </a:solidFill>
                          <a:latin typeface="Arial"/>
                        </a:rPr>
                        <a:t>AÇÃO</a:t>
                      </a:r>
                      <a:r>
                        <a:rPr b="1" lang="pt-BR" sz="1200" spc="-21" strike="noStrike">
                          <a:solidFill>
                            <a:srgbClr val="8209d1"/>
                          </a:solidFill>
                          <a:latin typeface="Arial"/>
                        </a:rPr>
                        <a:t> </a:t>
                      </a:r>
                      <a:r>
                        <a:rPr b="1" lang="pt-BR" sz="1200" spc="-12" strike="noStrike">
                          <a:solidFill>
                            <a:srgbClr val="8209d1"/>
                          </a:solidFill>
                          <a:latin typeface="Arial"/>
                        </a:rPr>
                        <a:t>PRÁTICA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852840">
                        <a:lnSpc>
                          <a:spcPts val="1324"/>
                        </a:lnSpc>
                        <a:buNone/>
                      </a:pPr>
                      <a:r>
                        <a:rPr b="1" lang="pt-BR" sz="1200" spc="-12" strike="noStrike">
                          <a:solidFill>
                            <a:srgbClr val="8209d1"/>
                          </a:solidFill>
                          <a:latin typeface="Arial"/>
                        </a:rPr>
                        <a:t>VALIDAÇÃO</a:t>
                      </a:r>
                      <a:endParaRPr b="0" lang="pt-B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0440">
                <a:tc>
                  <a:txBody>
                    <a:bodyPr lIns="0" rIns="0" tIns="15408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1216"/>
                        </a:spcBef>
                        <a:buNone/>
                      </a:pPr>
                      <a:r>
                        <a:rPr b="1" lang="pt-BR" sz="1350" spc="-1" strike="noStrike">
                          <a:solidFill>
                            <a:srgbClr val="111111"/>
                          </a:solidFill>
                          <a:latin typeface="Arial"/>
                        </a:rPr>
                        <a:t>1.</a:t>
                      </a:r>
                      <a:r>
                        <a:rPr b="1" lang="pt-BR" sz="1350" spc="-7" strike="noStrike">
                          <a:solidFill>
                            <a:srgbClr val="111111"/>
                          </a:solidFill>
                          <a:latin typeface="Arial"/>
                        </a:rPr>
                        <a:t> </a:t>
                      </a:r>
                      <a:r>
                        <a:rPr b="1" lang="pt-BR" sz="1350" spc="-12" strike="noStrike">
                          <a:solidFill>
                            <a:srgbClr val="111111"/>
                          </a:solidFill>
                          <a:latin typeface="Arial"/>
                        </a:rPr>
                        <a:t>Diagnóstico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54080" bIns="0" anchor="t">
                      <a:noAutofit/>
                    </a:bodyPr>
                    <a:p>
                      <a:pPr marL="615240">
                        <a:lnSpc>
                          <a:spcPct val="100000"/>
                        </a:lnSpc>
                        <a:spcBef>
                          <a:spcPts val="1216"/>
                        </a:spcBef>
                        <a:buNone/>
                      </a:pPr>
                      <a:r>
                        <a:rPr b="0" lang="pt-BR" sz="1350" spc="-26" strike="noStrike">
                          <a:solidFill>
                            <a:srgbClr val="444444"/>
                          </a:solidFill>
                          <a:latin typeface="Arial MT"/>
                        </a:rPr>
                        <a:t>Teste</a:t>
                      </a:r>
                      <a:r>
                        <a:rPr b="0" lang="pt-BR" sz="1350" spc="-52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gamificado</a:t>
                      </a:r>
                      <a:r>
                        <a:rPr b="0" lang="pt-BR" sz="1350" spc="-32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de</a:t>
                      </a:r>
                      <a:r>
                        <a:rPr b="0" lang="pt-BR" sz="1350" spc="-35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perfil</a:t>
                      </a:r>
                      <a:r>
                        <a:rPr b="0" lang="pt-BR" sz="1350" spc="-55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444444"/>
                          </a:solidFill>
                          <a:latin typeface="Arial MT"/>
                        </a:rPr>
                        <a:t>inicial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54080" bIns="0" anchor="t">
                      <a:noAutofit/>
                    </a:bodyPr>
                    <a:p>
                      <a:pPr marL="852840">
                        <a:lnSpc>
                          <a:spcPct val="100000"/>
                        </a:lnSpc>
                        <a:spcBef>
                          <a:spcPts val="1216"/>
                        </a:spcBef>
                        <a:buNone/>
                      </a:pP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Mapeia</a:t>
                      </a:r>
                      <a:r>
                        <a:rPr b="0" lang="pt-BR" sz="1350" spc="-72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conhecimento</a:t>
                      </a:r>
                      <a:r>
                        <a:rPr b="0" lang="pt-BR" sz="1350" spc="-46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666666"/>
                          </a:solidFill>
                          <a:latin typeface="Arial MT"/>
                        </a:rPr>
                        <a:t>prévio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4680">
                <a:tc>
                  <a:txBody>
                    <a:bodyPr lIns="0" rIns="0" tIns="14832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1" lang="pt-BR" sz="1350" spc="-1" strike="noStrike">
                          <a:solidFill>
                            <a:srgbClr val="111111"/>
                          </a:solidFill>
                          <a:latin typeface="Arial"/>
                        </a:rPr>
                        <a:t>2.</a:t>
                      </a:r>
                      <a:r>
                        <a:rPr b="1" lang="pt-BR" sz="1350" spc="-7" strike="noStrike">
                          <a:solidFill>
                            <a:srgbClr val="111111"/>
                          </a:solidFill>
                          <a:latin typeface="Arial"/>
                        </a:rPr>
                        <a:t> </a:t>
                      </a:r>
                      <a:r>
                        <a:rPr b="1" lang="pt-BR" sz="1350" spc="-12" strike="noStrike">
                          <a:solidFill>
                            <a:srgbClr val="111111"/>
                          </a:solidFill>
                          <a:latin typeface="Arial"/>
                        </a:rPr>
                        <a:t>Simulação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48320" bIns="0" anchor="t">
                      <a:noAutofit/>
                    </a:bodyPr>
                    <a:p>
                      <a:pPr marL="615240">
                        <a:lnSpc>
                          <a:spcPct val="100000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Rodadas</a:t>
                      </a:r>
                      <a:r>
                        <a:rPr b="0" lang="pt-BR" sz="1350" spc="-15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semanais</a:t>
                      </a:r>
                      <a:r>
                        <a:rPr b="0" lang="pt-BR" sz="1350" spc="-46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de</a:t>
                      </a:r>
                      <a:r>
                        <a:rPr b="0" lang="pt-BR" sz="1350" spc="-55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444444"/>
                          </a:solidFill>
                          <a:latin typeface="Arial MT"/>
                        </a:rPr>
                        <a:t>orçamento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48320" bIns="0" anchor="t">
                      <a:noAutofit/>
                    </a:bodyPr>
                    <a:p>
                      <a:pPr marL="852840">
                        <a:lnSpc>
                          <a:spcPct val="100000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Avalia</a:t>
                      </a:r>
                      <a:r>
                        <a:rPr b="0" lang="pt-BR" sz="1350" spc="-41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capacidade</a:t>
                      </a:r>
                      <a:r>
                        <a:rPr b="0" lang="pt-BR" sz="1350" spc="-35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de</a:t>
                      </a:r>
                      <a:r>
                        <a:rPr b="0" lang="pt-BR" sz="1350" spc="-60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666666"/>
                          </a:solidFill>
                          <a:latin typeface="Arial MT"/>
                        </a:rPr>
                        <a:t>gestão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1640">
                <a:tc>
                  <a:txBody>
                    <a:bodyPr lIns="0" rIns="0" tIns="14832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1" lang="pt-BR" sz="1350" spc="-1" strike="noStrike">
                          <a:solidFill>
                            <a:srgbClr val="111111"/>
                          </a:solidFill>
                          <a:latin typeface="Arial"/>
                        </a:rPr>
                        <a:t>3.</a:t>
                      </a:r>
                      <a:r>
                        <a:rPr b="1" lang="pt-BR" sz="1350" spc="-7" strike="noStrike">
                          <a:solidFill>
                            <a:srgbClr val="111111"/>
                          </a:solidFill>
                          <a:latin typeface="Arial"/>
                        </a:rPr>
                        <a:t> </a:t>
                      </a:r>
                      <a:r>
                        <a:rPr b="1" lang="pt-BR" sz="1350" spc="-12" strike="noStrike">
                          <a:solidFill>
                            <a:srgbClr val="111111"/>
                          </a:solidFill>
                          <a:latin typeface="Arial"/>
                        </a:rPr>
                        <a:t>Crédito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48320" bIns="0" anchor="t">
                      <a:noAutofit/>
                    </a:bodyPr>
                    <a:p>
                      <a:pPr marL="615240">
                        <a:lnSpc>
                          <a:spcPct val="100000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Cenários</a:t>
                      </a:r>
                      <a:r>
                        <a:rPr b="0" lang="pt-BR" sz="1350" spc="-21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práticos</a:t>
                      </a:r>
                      <a:r>
                        <a:rPr b="0" lang="pt-BR" sz="1350" spc="-55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de</a:t>
                      </a:r>
                      <a:r>
                        <a:rPr b="0" lang="pt-BR" sz="1350" spc="-41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444444"/>
                          </a:solidFill>
                          <a:latin typeface="Arial MT"/>
                        </a:rPr>
                        <a:t>financiamento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48320" bIns="0" anchor="t">
                      <a:noAutofit/>
                    </a:bodyPr>
                    <a:p>
                      <a:pPr marL="852840">
                        <a:lnSpc>
                          <a:spcPct val="100000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Mede</a:t>
                      </a:r>
                      <a:r>
                        <a:rPr b="0" lang="pt-BR" sz="1350" spc="-46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percepção</a:t>
                      </a:r>
                      <a:r>
                        <a:rPr b="0" lang="pt-BR" sz="1350" spc="-21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de</a:t>
                      </a:r>
                      <a:r>
                        <a:rPr b="0" lang="pt-BR" sz="1350" spc="-21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666666"/>
                          </a:solidFill>
                          <a:latin typeface="Arial MT"/>
                        </a:rPr>
                        <a:t>risco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8920">
                <a:tc>
                  <a:txBody>
                    <a:bodyPr lIns="0" rIns="0" tIns="148320" bIns="0" anchor="t">
                      <a:noAutofit/>
                    </a:bodyPr>
                    <a:p>
                      <a:pPr marL="31680">
                        <a:lnSpc>
                          <a:spcPts val="1536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1" lang="pt-BR" sz="1350" spc="-1" strike="noStrike">
                          <a:solidFill>
                            <a:srgbClr val="111111"/>
                          </a:solidFill>
                          <a:latin typeface="Arial"/>
                        </a:rPr>
                        <a:t>4.</a:t>
                      </a:r>
                      <a:r>
                        <a:rPr b="1" lang="pt-BR" sz="1350" spc="-75" strike="noStrike">
                          <a:solidFill>
                            <a:srgbClr val="111111"/>
                          </a:solidFill>
                          <a:latin typeface="Arial"/>
                        </a:rPr>
                        <a:t> </a:t>
                      </a:r>
                      <a:r>
                        <a:rPr b="1" lang="pt-BR" sz="1350" spc="-12" strike="noStrike">
                          <a:solidFill>
                            <a:srgbClr val="111111"/>
                          </a:solidFill>
                          <a:latin typeface="Arial"/>
                        </a:rPr>
                        <a:t>Acompanhamento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48320" bIns="0" anchor="t">
                      <a:noAutofit/>
                    </a:bodyPr>
                    <a:p>
                      <a:pPr marL="615240">
                        <a:lnSpc>
                          <a:spcPts val="1536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0" lang="pt-BR" sz="1350" spc="-21" strike="noStrike">
                          <a:solidFill>
                            <a:srgbClr val="444444"/>
                          </a:solidFill>
                          <a:latin typeface="Arial MT"/>
                        </a:rPr>
                        <a:t>Check-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ins</a:t>
                      </a:r>
                      <a:r>
                        <a:rPr b="0" lang="pt-BR" sz="1350" spc="18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444444"/>
                          </a:solidFill>
                          <a:latin typeface="Arial MT"/>
                        </a:rPr>
                        <a:t>mensais</a:t>
                      </a:r>
                      <a:r>
                        <a:rPr b="0" lang="pt-BR" sz="1350" spc="-7" strike="noStrike">
                          <a:solidFill>
                            <a:srgbClr val="444444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444444"/>
                          </a:solidFill>
                          <a:latin typeface="Arial MT"/>
                        </a:rPr>
                        <a:t>recorrentes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48320" bIns="0" anchor="t">
                      <a:noAutofit/>
                    </a:bodyPr>
                    <a:p>
                      <a:pPr marL="852840">
                        <a:lnSpc>
                          <a:spcPts val="1536"/>
                        </a:lnSpc>
                        <a:spcBef>
                          <a:spcPts val="1171"/>
                        </a:spcBef>
                        <a:buNone/>
                      </a:pP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Garante</a:t>
                      </a:r>
                      <a:r>
                        <a:rPr b="0" lang="pt-BR" sz="1350" spc="-46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" strike="noStrike">
                          <a:solidFill>
                            <a:srgbClr val="666666"/>
                          </a:solidFill>
                          <a:latin typeface="Arial MT"/>
                        </a:rPr>
                        <a:t>hábito</a:t>
                      </a:r>
                      <a:r>
                        <a:rPr b="0" lang="pt-BR" sz="1350" spc="-46" strike="noStrike">
                          <a:solidFill>
                            <a:srgbClr val="666666"/>
                          </a:solidFill>
                          <a:latin typeface="Arial MT"/>
                        </a:rPr>
                        <a:t> </a:t>
                      </a:r>
                      <a:r>
                        <a:rPr b="0" lang="pt-BR" sz="1350" spc="-12" strike="noStrike">
                          <a:solidFill>
                            <a:srgbClr val="666666"/>
                          </a:solidFill>
                          <a:latin typeface="Arial MT"/>
                        </a:rPr>
                        <a:t>continuado</a:t>
                      </a:r>
                      <a:endParaRPr b="0" lang="pt-BR" sz="135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7" name="object 3"/>
          <p:cNvSpPr/>
          <p:nvPr/>
        </p:nvSpPr>
        <p:spPr>
          <a:xfrm>
            <a:off x="597240" y="441720"/>
            <a:ext cx="14587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APLICAÇÃO</a:t>
            </a:r>
            <a:r>
              <a:rPr b="1" lang="pt-BR" sz="1100" spc="7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1" strike="noStrike">
                <a:solidFill>
                  <a:srgbClr val="8209d1"/>
                </a:solidFill>
                <a:latin typeface="Arial"/>
              </a:rPr>
              <a:t>NO</a:t>
            </a:r>
            <a:r>
              <a:rPr b="1" lang="pt-BR" sz="1100" spc="5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100" spc="-26" strike="noStrike">
                <a:solidFill>
                  <a:srgbClr val="8209d1"/>
                </a:solidFill>
                <a:latin typeface="Arial"/>
              </a:rPr>
              <a:t>APP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Jornada</a:t>
            </a:r>
            <a:r>
              <a:rPr b="1" lang="pt-BR" sz="2400" spc="-41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do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Usuário</a:t>
            </a:r>
            <a:r>
              <a:rPr b="1" lang="pt-BR" sz="2400" spc="-41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em</a:t>
            </a:r>
            <a:r>
              <a:rPr b="1" lang="pt-BR" sz="2400" spc="-2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Quatro</a:t>
            </a:r>
            <a:r>
              <a:rPr b="1" lang="pt-BR" sz="2400" spc="-5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Etapas</a:t>
            </a:r>
            <a:endParaRPr b="0" lang="pt-BR" sz="2400" spc="-1" strike="noStrike">
              <a:latin typeface="Calibri"/>
            </a:endParaRPr>
          </a:p>
        </p:txBody>
      </p:sp>
      <p:pic>
        <p:nvPicPr>
          <p:cNvPr id="189" name="Imagem 8" descr=""/>
          <p:cNvPicPr/>
          <p:nvPr/>
        </p:nvPicPr>
        <p:blipFill>
          <a:blip r:embed="rId1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object 2"/>
          <p:cNvSpPr/>
          <p:nvPr/>
        </p:nvSpPr>
        <p:spPr>
          <a:xfrm>
            <a:off x="609480" y="3203280"/>
            <a:ext cx="3504960" cy="1392840"/>
          </a:xfrm>
          <a:custGeom>
            <a:avLst/>
            <a:gdLst/>
            <a:ahLst/>
            <a:rect l="l" t="t" r="r" b="b"/>
            <a:pathLst>
              <a:path w="3505200" h="1393189">
                <a:moveTo>
                  <a:pt x="3352927" y="0"/>
                </a:moveTo>
                <a:lnTo>
                  <a:pt x="152247" y="0"/>
                </a:lnTo>
                <a:lnTo>
                  <a:pt x="104124" y="7765"/>
                </a:lnTo>
                <a:lnTo>
                  <a:pt x="62330" y="29386"/>
                </a:lnTo>
                <a:lnTo>
                  <a:pt x="29374" y="62352"/>
                </a:lnTo>
                <a:lnTo>
                  <a:pt x="7761" y="104152"/>
                </a:lnTo>
                <a:lnTo>
                  <a:pt x="0" y="152273"/>
                </a:lnTo>
                <a:lnTo>
                  <a:pt x="0" y="1240663"/>
                </a:lnTo>
                <a:lnTo>
                  <a:pt x="7761" y="1288783"/>
                </a:lnTo>
                <a:lnTo>
                  <a:pt x="29374" y="1330583"/>
                </a:lnTo>
                <a:lnTo>
                  <a:pt x="62330" y="1363549"/>
                </a:lnTo>
                <a:lnTo>
                  <a:pt x="104124" y="1385170"/>
                </a:lnTo>
                <a:lnTo>
                  <a:pt x="152247" y="1392935"/>
                </a:lnTo>
                <a:lnTo>
                  <a:pt x="3352927" y="1392935"/>
                </a:lnTo>
                <a:lnTo>
                  <a:pt x="3401047" y="1385170"/>
                </a:lnTo>
                <a:lnTo>
                  <a:pt x="3442847" y="1363549"/>
                </a:lnTo>
                <a:lnTo>
                  <a:pt x="3475813" y="1330583"/>
                </a:lnTo>
                <a:lnTo>
                  <a:pt x="3497434" y="1288783"/>
                </a:lnTo>
                <a:lnTo>
                  <a:pt x="3505200" y="1240663"/>
                </a:lnTo>
                <a:lnTo>
                  <a:pt x="3505200" y="152273"/>
                </a:lnTo>
                <a:lnTo>
                  <a:pt x="3497434" y="104152"/>
                </a:lnTo>
                <a:lnTo>
                  <a:pt x="3475813" y="62352"/>
                </a:lnTo>
                <a:lnTo>
                  <a:pt x="3442847" y="29386"/>
                </a:lnTo>
                <a:lnTo>
                  <a:pt x="3401047" y="7765"/>
                </a:lnTo>
                <a:lnTo>
                  <a:pt x="3352927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object 3"/>
          <p:cNvSpPr/>
          <p:nvPr/>
        </p:nvSpPr>
        <p:spPr>
          <a:xfrm>
            <a:off x="4343400" y="3203280"/>
            <a:ext cx="3504960" cy="1392840"/>
          </a:xfrm>
          <a:custGeom>
            <a:avLst/>
            <a:gdLst/>
            <a:ahLst/>
            <a:rect l="l" t="t" r="r" b="b"/>
            <a:pathLst>
              <a:path w="3505200" h="1393189">
                <a:moveTo>
                  <a:pt x="3352927" y="0"/>
                </a:moveTo>
                <a:lnTo>
                  <a:pt x="152273" y="0"/>
                </a:lnTo>
                <a:lnTo>
                  <a:pt x="104152" y="7765"/>
                </a:lnTo>
                <a:lnTo>
                  <a:pt x="62352" y="29386"/>
                </a:lnTo>
                <a:lnTo>
                  <a:pt x="29386" y="62352"/>
                </a:lnTo>
                <a:lnTo>
                  <a:pt x="7765" y="104152"/>
                </a:lnTo>
                <a:lnTo>
                  <a:pt x="0" y="152273"/>
                </a:lnTo>
                <a:lnTo>
                  <a:pt x="0" y="1240663"/>
                </a:lnTo>
                <a:lnTo>
                  <a:pt x="7765" y="1288783"/>
                </a:lnTo>
                <a:lnTo>
                  <a:pt x="29386" y="1330583"/>
                </a:lnTo>
                <a:lnTo>
                  <a:pt x="62352" y="1363549"/>
                </a:lnTo>
                <a:lnTo>
                  <a:pt x="104152" y="1385170"/>
                </a:lnTo>
                <a:lnTo>
                  <a:pt x="152273" y="1392935"/>
                </a:lnTo>
                <a:lnTo>
                  <a:pt x="3352927" y="1392935"/>
                </a:lnTo>
                <a:lnTo>
                  <a:pt x="3401047" y="1385170"/>
                </a:lnTo>
                <a:lnTo>
                  <a:pt x="3442847" y="1363549"/>
                </a:lnTo>
                <a:lnTo>
                  <a:pt x="3475813" y="1330583"/>
                </a:lnTo>
                <a:lnTo>
                  <a:pt x="3497434" y="1288783"/>
                </a:lnTo>
                <a:lnTo>
                  <a:pt x="3505200" y="1240663"/>
                </a:lnTo>
                <a:lnTo>
                  <a:pt x="3505200" y="152273"/>
                </a:lnTo>
                <a:lnTo>
                  <a:pt x="3497434" y="104152"/>
                </a:lnTo>
                <a:lnTo>
                  <a:pt x="3475813" y="62352"/>
                </a:lnTo>
                <a:lnTo>
                  <a:pt x="3442847" y="29386"/>
                </a:lnTo>
                <a:lnTo>
                  <a:pt x="3401047" y="7765"/>
                </a:lnTo>
                <a:lnTo>
                  <a:pt x="3352927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object 4"/>
          <p:cNvSpPr/>
          <p:nvPr/>
        </p:nvSpPr>
        <p:spPr>
          <a:xfrm>
            <a:off x="8077320" y="3203280"/>
            <a:ext cx="3504960" cy="1392840"/>
          </a:xfrm>
          <a:custGeom>
            <a:avLst/>
            <a:gdLst/>
            <a:ahLst/>
            <a:rect l="l" t="t" r="r" b="b"/>
            <a:pathLst>
              <a:path w="3505200" h="1393189">
                <a:moveTo>
                  <a:pt x="3352927" y="0"/>
                </a:moveTo>
                <a:lnTo>
                  <a:pt x="152273" y="0"/>
                </a:lnTo>
                <a:lnTo>
                  <a:pt x="104152" y="7765"/>
                </a:lnTo>
                <a:lnTo>
                  <a:pt x="62352" y="29386"/>
                </a:lnTo>
                <a:lnTo>
                  <a:pt x="29386" y="62352"/>
                </a:lnTo>
                <a:lnTo>
                  <a:pt x="7765" y="104152"/>
                </a:lnTo>
                <a:lnTo>
                  <a:pt x="0" y="152273"/>
                </a:lnTo>
                <a:lnTo>
                  <a:pt x="0" y="1240663"/>
                </a:lnTo>
                <a:lnTo>
                  <a:pt x="7765" y="1288783"/>
                </a:lnTo>
                <a:lnTo>
                  <a:pt x="29386" y="1330583"/>
                </a:lnTo>
                <a:lnTo>
                  <a:pt x="62352" y="1363549"/>
                </a:lnTo>
                <a:lnTo>
                  <a:pt x="104152" y="1385170"/>
                </a:lnTo>
                <a:lnTo>
                  <a:pt x="152273" y="1392935"/>
                </a:lnTo>
                <a:lnTo>
                  <a:pt x="3352927" y="1392935"/>
                </a:lnTo>
                <a:lnTo>
                  <a:pt x="3401047" y="1385170"/>
                </a:lnTo>
                <a:lnTo>
                  <a:pt x="3442847" y="1363549"/>
                </a:lnTo>
                <a:lnTo>
                  <a:pt x="3475813" y="1330583"/>
                </a:lnTo>
                <a:lnTo>
                  <a:pt x="3497434" y="1288783"/>
                </a:lnTo>
                <a:lnTo>
                  <a:pt x="3505200" y="1240663"/>
                </a:lnTo>
                <a:lnTo>
                  <a:pt x="3505200" y="152273"/>
                </a:lnTo>
                <a:lnTo>
                  <a:pt x="3497434" y="104152"/>
                </a:lnTo>
                <a:lnTo>
                  <a:pt x="3475813" y="62352"/>
                </a:lnTo>
                <a:lnTo>
                  <a:pt x="3442847" y="29386"/>
                </a:lnTo>
                <a:lnTo>
                  <a:pt x="3401047" y="7765"/>
                </a:lnTo>
                <a:lnTo>
                  <a:pt x="3352927" y="0"/>
                </a:lnTo>
                <a:close/>
              </a:path>
            </a:pathLst>
          </a:custGeom>
          <a:solidFill>
            <a:srgbClr val="f9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object 5"/>
          <p:cNvSpPr/>
          <p:nvPr/>
        </p:nvSpPr>
        <p:spPr>
          <a:xfrm>
            <a:off x="597240" y="441720"/>
            <a:ext cx="1130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1100" spc="-12" strike="noStrike">
                <a:solidFill>
                  <a:srgbClr val="8209d1"/>
                </a:solidFill>
                <a:latin typeface="Arial"/>
              </a:rPr>
              <a:t>ENGAJAMENTO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97240" y="692640"/>
            <a:ext cx="73407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Fatores</a:t>
            </a:r>
            <a:r>
              <a:rPr b="1" lang="pt-BR" sz="2400" spc="-46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de</a:t>
            </a:r>
            <a:r>
              <a:rPr b="1" lang="pt-BR" sz="2400" spc="-114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Adesão</a:t>
            </a:r>
            <a:r>
              <a:rPr b="1" lang="pt-BR" sz="2400" spc="12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do</a:t>
            </a:r>
            <a:r>
              <a:rPr b="1" lang="pt-BR" sz="2400" spc="-60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" strike="noStrike">
                <a:solidFill>
                  <a:srgbClr val="111111"/>
                </a:solidFill>
                <a:latin typeface="Arial"/>
              </a:rPr>
              <a:t>Público</a:t>
            </a:r>
            <a:r>
              <a:rPr b="1" lang="pt-BR" sz="2400" spc="-75" strike="noStrike">
                <a:solidFill>
                  <a:srgbClr val="111111"/>
                </a:solidFill>
                <a:latin typeface="Arial"/>
              </a:rPr>
              <a:t> </a:t>
            </a:r>
            <a:r>
              <a:rPr b="1" lang="pt-BR" sz="2400" spc="-12" strike="noStrike">
                <a:solidFill>
                  <a:srgbClr val="111111"/>
                </a:solidFill>
                <a:latin typeface="Arial"/>
              </a:rPr>
              <a:t>Jovem</a:t>
            </a:r>
            <a:endParaRPr b="0" lang="pt-BR" sz="2400" spc="-1" strike="noStrike">
              <a:latin typeface="Calibri"/>
            </a:endParaRPr>
          </a:p>
        </p:txBody>
      </p:sp>
      <p:sp>
        <p:nvSpPr>
          <p:cNvPr id="195" name="object 7"/>
          <p:cNvSpPr/>
          <p:nvPr/>
        </p:nvSpPr>
        <p:spPr>
          <a:xfrm>
            <a:off x="864000" y="3452400"/>
            <a:ext cx="29192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8209d1"/>
                </a:solidFill>
                <a:latin typeface="Arial"/>
              </a:rPr>
              <a:t>Sem</a:t>
            </a:r>
            <a:r>
              <a:rPr b="1" lang="pt-BR" sz="1650" spc="-32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650" spc="-12" strike="noStrike">
                <a:solidFill>
                  <a:srgbClr val="8209d1"/>
                </a:solidFill>
                <a:latin typeface="Arial"/>
              </a:rPr>
              <a:t>Julgamento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18000"/>
              </a:lnSpc>
              <a:spcBef>
                <a:spcPts val="831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Errar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na</a:t>
            </a:r>
            <a:r>
              <a:rPr b="0" lang="pt-BR" sz="1350" spc="-5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simulação</a:t>
            </a:r>
            <a:r>
              <a:rPr b="0" lang="pt-BR" sz="1350" spc="-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reduz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ansiedade</a:t>
            </a:r>
            <a:r>
              <a:rPr b="0" lang="pt-BR" sz="1350" spc="-3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52" strike="noStrike">
                <a:solidFill>
                  <a:srgbClr val="545454"/>
                </a:solidFill>
                <a:latin typeface="Arial MT"/>
              </a:rPr>
              <a:t>e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estimula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o</a:t>
            </a:r>
            <a:r>
              <a:rPr b="0" lang="pt-BR" sz="1350" spc="-60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aprendizado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continuo.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96" name="object 8"/>
          <p:cNvSpPr/>
          <p:nvPr/>
        </p:nvSpPr>
        <p:spPr>
          <a:xfrm>
            <a:off x="4598640" y="3452400"/>
            <a:ext cx="295632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8209d1"/>
                </a:solidFill>
                <a:latin typeface="Arial"/>
              </a:rPr>
              <a:t>Metas</a:t>
            </a:r>
            <a:r>
              <a:rPr b="1" lang="pt-BR" sz="1650" spc="-15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650" spc="-12" strike="noStrike">
                <a:solidFill>
                  <a:srgbClr val="8209d1"/>
                </a:solidFill>
                <a:latin typeface="Arial"/>
              </a:rPr>
              <a:t>Pessoais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18000"/>
              </a:lnSpc>
              <a:spcBef>
                <a:spcPts val="831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Foco</a:t>
            </a:r>
            <a:r>
              <a:rPr b="0" lang="pt-BR" sz="1350" spc="-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em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desejos</a:t>
            </a:r>
            <a:r>
              <a:rPr b="0" lang="pt-BR" sz="1350" spc="-7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reais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do</a:t>
            </a:r>
            <a:r>
              <a:rPr b="0" lang="pt-BR" sz="1350" spc="-2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jovem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como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estudos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e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viagens.</a:t>
            </a:r>
            <a:endParaRPr b="0" lang="pt-BR" sz="1350" spc="-1" strike="noStrike">
              <a:latin typeface="Arial"/>
            </a:endParaRPr>
          </a:p>
        </p:txBody>
      </p:sp>
      <p:sp>
        <p:nvSpPr>
          <p:cNvPr id="197" name="object 9"/>
          <p:cNvSpPr/>
          <p:nvPr/>
        </p:nvSpPr>
        <p:spPr>
          <a:xfrm>
            <a:off x="8333280" y="3452400"/>
            <a:ext cx="307188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buNone/>
            </a:pPr>
            <a:r>
              <a:rPr b="1" lang="pt-BR" sz="1650" spc="-1" strike="noStrike">
                <a:solidFill>
                  <a:srgbClr val="8209d1"/>
                </a:solidFill>
                <a:latin typeface="Arial"/>
              </a:rPr>
              <a:t>Aplicação</a:t>
            </a:r>
            <a:r>
              <a:rPr b="1" lang="pt-BR" sz="1650" spc="-21" strike="noStrike">
                <a:solidFill>
                  <a:srgbClr val="8209d1"/>
                </a:solidFill>
                <a:latin typeface="Arial"/>
              </a:rPr>
              <a:t> </a:t>
            </a:r>
            <a:r>
              <a:rPr b="1" lang="pt-BR" sz="1650" spc="-12" strike="noStrike">
                <a:solidFill>
                  <a:srgbClr val="8209d1"/>
                </a:solidFill>
                <a:latin typeface="Arial"/>
              </a:rPr>
              <a:t>Imediata</a:t>
            </a:r>
            <a:endParaRPr b="0" lang="pt-BR" sz="1650" spc="-1" strike="noStrike">
              <a:latin typeface="Arial"/>
            </a:endParaRPr>
          </a:p>
          <a:p>
            <a:pPr marL="12600">
              <a:lnSpc>
                <a:spcPct val="118000"/>
              </a:lnSpc>
              <a:spcBef>
                <a:spcPts val="831"/>
              </a:spcBef>
              <a:buNone/>
            </a:pP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Acompanha o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momento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de</a:t>
            </a:r>
            <a:r>
              <a:rPr b="0" lang="pt-BR" sz="1350" spc="-46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recebimento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do</a:t>
            </a:r>
            <a:r>
              <a:rPr b="0" lang="pt-BR" sz="1350" spc="-2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" strike="noStrike">
                <a:solidFill>
                  <a:srgbClr val="545454"/>
                </a:solidFill>
                <a:latin typeface="Arial MT"/>
              </a:rPr>
              <a:t>primeiro</a:t>
            </a:r>
            <a:r>
              <a:rPr b="0" lang="pt-BR" sz="1350" spc="-41" strike="noStrike">
                <a:solidFill>
                  <a:srgbClr val="545454"/>
                </a:solidFill>
                <a:latin typeface="Arial MT"/>
              </a:rPr>
              <a:t> </a:t>
            </a:r>
            <a:r>
              <a:rPr b="0" lang="pt-BR" sz="1350" spc="-12" strike="noStrike">
                <a:solidFill>
                  <a:srgbClr val="545454"/>
                </a:solidFill>
                <a:latin typeface="Arial MT"/>
              </a:rPr>
              <a:t>salário.</a:t>
            </a:r>
            <a:endParaRPr b="0" lang="pt-BR" sz="1350" spc="-1" strike="noStrike">
              <a:latin typeface="Arial"/>
            </a:endParaRPr>
          </a:p>
        </p:txBody>
      </p:sp>
      <p:pic>
        <p:nvPicPr>
          <p:cNvPr id="198" name="Imagem 9" descr=""/>
          <p:cNvPicPr/>
          <p:nvPr/>
        </p:nvPicPr>
        <p:blipFill>
          <a:blip r:embed="rId1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80e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object 3"/>
          <p:cNvSpPr/>
          <p:nvPr/>
        </p:nvSpPr>
        <p:spPr>
          <a:xfrm>
            <a:off x="5809320" y="4678560"/>
            <a:ext cx="573120" cy="36360"/>
          </a:xfrm>
          <a:custGeom>
            <a:avLst/>
            <a:gdLst/>
            <a:ahLst/>
            <a:rect l="l" t="t" r="r" b="b"/>
            <a:pathLst>
              <a:path w="573404" h="36829">
                <a:moveTo>
                  <a:pt x="573024" y="0"/>
                </a:moveTo>
                <a:lnTo>
                  <a:pt x="0" y="0"/>
                </a:lnTo>
                <a:lnTo>
                  <a:pt x="0" y="36576"/>
                </a:lnTo>
                <a:lnTo>
                  <a:pt x="573024" y="36576"/>
                </a:lnTo>
                <a:lnTo>
                  <a:pt x="573024" y="0"/>
                </a:lnTo>
                <a:close/>
              </a:path>
            </a:pathLst>
          </a:custGeom>
          <a:solidFill>
            <a:srgbClr val="8209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object 4"/>
          <p:cNvSpPr/>
          <p:nvPr/>
        </p:nvSpPr>
        <p:spPr>
          <a:xfrm>
            <a:off x="5343120" y="2127600"/>
            <a:ext cx="1508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1200" spc="-1" strike="noStrike">
                <a:solidFill>
                  <a:srgbClr val="ebd9ff"/>
                </a:solidFill>
                <a:latin typeface="Arial"/>
              </a:rPr>
              <a:t>PRÓXIMOS</a:t>
            </a:r>
            <a:r>
              <a:rPr b="1" lang="pt-BR" sz="1200" spc="-26" strike="noStrike">
                <a:solidFill>
                  <a:srgbClr val="ebd9ff"/>
                </a:solidFill>
                <a:latin typeface="Arial"/>
              </a:rPr>
              <a:t> </a:t>
            </a:r>
            <a:r>
              <a:rPr b="1" lang="pt-BR" sz="1200" spc="-21" strike="noStrike">
                <a:solidFill>
                  <a:srgbClr val="ebd9ff"/>
                </a:solidFill>
                <a:latin typeface="Arial"/>
              </a:rPr>
              <a:t>PASSOS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778040" y="2467800"/>
            <a:ext cx="8641440" cy="1173240"/>
          </a:xfrm>
          <a:prstGeom prst="rect">
            <a:avLst/>
          </a:prstGeom>
          <a:noFill/>
          <a:ln w="0">
            <a:noFill/>
          </a:ln>
        </p:spPr>
        <p:txBody>
          <a:bodyPr lIns="0" rIns="0" tIns="28080" bIns="0" anchor="t">
            <a:noAutofit/>
          </a:bodyPr>
          <a:p>
            <a:pPr marL="2403000" indent="-2390760">
              <a:lnSpc>
                <a:spcPts val="4300"/>
              </a:lnSpc>
              <a:spcBef>
                <a:spcPts val="221"/>
              </a:spcBef>
              <a:buNone/>
              <a:tabLst>
                <a:tab algn="l" pos="0"/>
              </a:tabLst>
            </a:pPr>
            <a:r>
              <a:rPr b="1" lang="pt-BR" sz="3600" spc="-1" strike="noStrike">
                <a:solidFill>
                  <a:srgbClr val="ffffff"/>
                </a:solidFill>
                <a:latin typeface="Arial"/>
              </a:rPr>
              <a:t>Transformando</a:t>
            </a:r>
            <a:r>
              <a:rPr b="1" lang="pt-BR" sz="3600" spc="-7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3600" spc="-1" strike="noStrike">
                <a:solidFill>
                  <a:srgbClr val="ffffff"/>
                </a:solidFill>
                <a:latin typeface="Arial"/>
              </a:rPr>
              <a:t>Hábitos</a:t>
            </a:r>
            <a:r>
              <a:rPr b="1" lang="pt-BR" sz="3600" spc="-7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3600" spc="-1" strike="noStrike">
                <a:solidFill>
                  <a:srgbClr val="ffffff"/>
                </a:solidFill>
                <a:latin typeface="Arial"/>
              </a:rPr>
              <a:t>Financeiros</a:t>
            </a:r>
            <a:r>
              <a:rPr b="1" lang="pt-BR" sz="3600" spc="-9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3600" spc="-26" strike="noStrike">
                <a:solidFill>
                  <a:srgbClr val="ffffff"/>
                </a:solidFill>
                <a:latin typeface="Arial"/>
              </a:rPr>
              <a:t>em </a:t>
            </a:r>
            <a:r>
              <a:rPr b="1" lang="pt-BR" sz="3600" spc="-1" strike="noStrike">
                <a:solidFill>
                  <a:srgbClr val="ffffff"/>
                </a:solidFill>
                <a:latin typeface="Arial"/>
              </a:rPr>
              <a:t>Conquistas</a:t>
            </a:r>
            <a:r>
              <a:rPr b="1" lang="pt-BR" sz="36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1" lang="pt-BR" sz="3600" spc="-12" strike="noStrike">
                <a:solidFill>
                  <a:srgbClr val="ffffff"/>
                </a:solidFill>
                <a:latin typeface="Arial"/>
              </a:rPr>
              <a:t>Reais</a:t>
            </a:r>
            <a:endParaRPr b="0" lang="pt-BR" sz="3600" spc="-1" strike="noStrike">
              <a:latin typeface="Calibri"/>
            </a:endParaRPr>
          </a:p>
        </p:txBody>
      </p:sp>
      <p:sp>
        <p:nvSpPr>
          <p:cNvPr id="203" name="object 6"/>
          <p:cNvSpPr/>
          <p:nvPr/>
        </p:nvSpPr>
        <p:spPr>
          <a:xfrm>
            <a:off x="2799000" y="3803040"/>
            <a:ext cx="6592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algn="ctr">
              <a:lnSpc>
                <a:spcPct val="100000"/>
              </a:lnSpc>
              <a:spcBef>
                <a:spcPts val="116"/>
              </a:spcBef>
              <a:buNone/>
            </a:pP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Proposta</a:t>
            </a:r>
            <a:r>
              <a:rPr b="0" lang="pt-BR" sz="1500" spc="-60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de</a:t>
            </a:r>
            <a:r>
              <a:rPr b="0" lang="pt-BR" sz="1500" spc="-15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integração</a:t>
            </a:r>
            <a:r>
              <a:rPr b="0" lang="pt-BR" sz="1500" spc="-66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ao</a:t>
            </a:r>
            <a:r>
              <a:rPr b="0" lang="pt-BR" sz="1500" spc="-15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aplicativo</a:t>
            </a:r>
            <a:r>
              <a:rPr b="0" lang="pt-BR" sz="1500" spc="-86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Nubank</a:t>
            </a:r>
            <a:r>
              <a:rPr b="0" lang="pt-BR" sz="1500" spc="-7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para</a:t>
            </a:r>
            <a:r>
              <a:rPr b="0" lang="pt-BR" sz="1500" spc="-41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a</a:t>
            </a:r>
            <a:r>
              <a:rPr b="0" lang="pt-BR" sz="1500" spc="-15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geração</a:t>
            </a:r>
            <a:r>
              <a:rPr b="0" lang="pt-BR" sz="1500" spc="-41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" strike="noStrike">
                <a:solidFill>
                  <a:srgbClr val="d0c4e8"/>
                </a:solidFill>
                <a:latin typeface="Arial MT"/>
              </a:rPr>
              <a:t>de</a:t>
            </a:r>
            <a:r>
              <a:rPr b="0" lang="pt-BR" sz="1500" spc="-15" strike="noStrike">
                <a:solidFill>
                  <a:srgbClr val="d0c4e8"/>
                </a:solidFill>
                <a:latin typeface="Arial MT"/>
              </a:rPr>
              <a:t> </a:t>
            </a:r>
            <a:r>
              <a:rPr b="0" lang="pt-BR" sz="1500" spc="-12" strike="noStrike">
                <a:solidFill>
                  <a:srgbClr val="d0c4e8"/>
                </a:solidFill>
                <a:latin typeface="Arial MT"/>
              </a:rPr>
              <a:t>engajamento</a:t>
            </a:r>
            <a:endParaRPr b="0" lang="pt-BR" sz="1500" spc="-1" strike="noStrike">
              <a:latin typeface="Arial"/>
            </a:endParaRPr>
          </a:p>
          <a:p>
            <a:pPr marL="3240" algn="ctr">
              <a:lnSpc>
                <a:spcPct val="100000"/>
              </a:lnSpc>
              <a:buNone/>
            </a:pPr>
            <a:r>
              <a:rPr b="0" lang="pt-BR" sz="1500" spc="-12" strike="noStrike">
                <a:solidFill>
                  <a:srgbClr val="d0c4e8"/>
                </a:solidFill>
                <a:latin typeface="Arial MT"/>
              </a:rPr>
              <a:t>sustentável.</a:t>
            </a:r>
            <a:endParaRPr b="0" lang="pt-BR" sz="1500" spc="-1" strike="noStrike">
              <a:latin typeface="Arial"/>
            </a:endParaRPr>
          </a:p>
        </p:txBody>
      </p:sp>
      <p:pic>
        <p:nvPicPr>
          <p:cNvPr id="204" name="Imagem 10" descr=""/>
          <p:cNvPicPr/>
          <p:nvPr/>
        </p:nvPicPr>
        <p:blipFill>
          <a:blip r:embed="rId1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79240" y="1224000"/>
            <a:ext cx="11120760" cy="14760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pt-BR" sz="1200" spc="-1" strike="noStrike">
                <a:solidFill>
                  <a:srgbClr val="111111"/>
                </a:solidFill>
                <a:latin typeface="Arial"/>
              </a:rPr>
              <a:t>https://g1.globo.com/economia/noticia/2026/05/04/com-divida-em-alta-recorde-governo-lanca-novo-desenrola-veja-o-raio-x-da-inadimplencia-no-brasil.ghtml</a:t>
            </a:r>
            <a:endParaRPr b="0" lang="pt-BR" sz="1200" spc="-1" strike="noStrike">
              <a:latin typeface="Calibri"/>
            </a:endParaRPr>
          </a:p>
        </p:txBody>
      </p:sp>
      <p:pic>
        <p:nvPicPr>
          <p:cNvPr id="206" name="Imagem 11" descr=""/>
          <p:cNvPicPr/>
          <p:nvPr/>
        </p:nvPicPr>
        <p:blipFill>
          <a:blip r:embed="rId1"/>
          <a:stretch/>
        </p:blipFill>
        <p:spPr>
          <a:xfrm>
            <a:off x="9619920" y="180000"/>
            <a:ext cx="2080080" cy="560880"/>
          </a:xfrm>
          <a:prstGeom prst="rect">
            <a:avLst/>
          </a:prstGeom>
          <a:ln w="0">
            <a:noFill/>
          </a:ln>
        </p:spPr>
      </p:pic>
      <p:sp>
        <p:nvSpPr>
          <p:cNvPr id="207" name="object 22"/>
          <p:cNvSpPr/>
          <p:nvPr/>
        </p:nvSpPr>
        <p:spPr>
          <a:xfrm>
            <a:off x="597240" y="441720"/>
            <a:ext cx="462276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pt-BR" sz="2000" spc="-12" strike="noStrike">
                <a:solidFill>
                  <a:srgbClr val="8209d1"/>
                </a:solidFill>
                <a:latin typeface="Arial"/>
              </a:rPr>
              <a:t>REFERÊNCIAS </a:t>
            </a:r>
            <a:r>
              <a:rPr b="1" lang="pt-BR" sz="2000" spc="-12" strike="noStrike">
                <a:solidFill>
                  <a:srgbClr val="8209d1"/>
                </a:solidFill>
                <a:latin typeface="Arial"/>
              </a:rPr>
              <a:t>BIBLIOGRÁFICAS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2026-09-20T00:06:36Z</dcterms:created>
  <dc:creator/>
  <dc:description/>
  <dc:language>pt-BR</dc:language>
  <cp:lastModifiedBy/>
  <dcterms:modified xsi:type="dcterms:W3CDTF">2026-09-19T20:49:55Z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2026-09-19T00:00:00Z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2026-09-20T00:00:00Z</vt:filetime>
  </property>
  <property fmtid="{D5CDD505-2E9C-101B-9397-08002B2CF9AE}" pid="6" name="PresentationFormat">
    <vt:lpwstr>On-screen Show (4:3)</vt:lpwstr>
  </property>
  <property fmtid="{D5CDD505-2E9C-101B-9397-08002B2CF9AE}" pid="7" name="Producer">
    <vt:lpwstr>www.ilovepdf.com</vt:lpwstr>
  </property>
</Properties>
</file>