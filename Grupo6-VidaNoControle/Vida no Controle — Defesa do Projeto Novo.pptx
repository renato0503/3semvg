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24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Diga em uma frase o que é o projeto: uma plataforma gratuita que transforma o cupom fiscal em orçamento e economia para as famílias de Várzea Grande. Anuncie a estrutura: a dor, o sintoma, a ciência e 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caminho da defesa em 20 segundos. Cada passo usa um tipo de fonte do guia: IBGE, PNAD e Peic na dor; Reuters, Senado e Fecomércio-MT no sintoma; artigos acadêmicos na ciência.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número de abertura da dor. A Peic mede a proporção de famílias com dívidas em cartão, carnê, financiamento e outras modalidades. Em agosto de 2025 o índice era 78,8%. Lembre que a pesquisa é feita nas capitais e no DF, com cerca de 18 mil consumidores.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trajetória: de 78,8% em agosto de 2025 para 82,0% em agosto de 2026. O gráfico usa meses selecionados e um eixo que começa em 77%, então avise a banca disso. Se perguntarem por junho, abra a série completa em pesquisascnc.com.br.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público do projeto: quem tem renda menor e usa o cartão para cobrir o básico. Peça para a banca notar a distância: quase 4 em cada 10 famílias de baixa renda estão com conta atrasada.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transparente: a Peic não tem número de Várzea Grande, porque só coleta nas capitais e no DF. Cuiabá é conurbada com Várzea Grande, então serve como referência. O dado de Cuiabá de julho de 2026 é o mais recente que encontramos; confira se saiu o de agosto no site da Fecomércio-MT.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que justifica um app de organização, e não só mais renda. Mato Grosso está acima da média nacional de renda per capita, mas o endividamento bate recorde. A frase final é interpretação do grupo, apresente como tal. A PNAD não publica esse número por município, por isso o dado é estadual.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sintoma é o custo do crédito. A matéria da Reuters é sobre a dívida pública, então use apenas para o contexto de juros: Selic em 14% e inflação de 4,2%. O Banco Central começou a reduzir a Selic em março, mas ela continua alta. A reportagem do G1 MT traz o dado da Serasa: Mato Grosso é o 8º estado com mais inadimplentes, atrás de Amapá, DF, Mato Grosso do Sul, Amazonas, Rio de Janeiro, Tocantins e São Paulo — acima da média nacional de 49,87%. Esse é o gancho local que faltava.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cesta básica liga o problema ao supermercado, que é o centro do projeto. O Desenrola 2.0 vale para dívidas contratadas até janeiro de 2026 e já em atraso. Use isso para posicionar o Vida no Controle como prevenção, e não como concorrente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 de evidência: a teoria geral (Lusardi e Mitchell), o retrato brasileiro (Potrich e colegas, amostra do Rio Grande do Sul, então avise que não é nacional) e a evidência mais próxima do projeto (French e colegas: 500 participantes de uma cooperativa de crédito da Irlanda do Norte, 260 receberam os apps e 240 ficaram no grupo de controle). Para ampliar, pesquise no Google Scholar, OpenAlex e Semantic Scholar e use o Connected Papers a partir de Lusardi e Mitchell.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Responda aqui o "o que é" e o "como funciona" do guia. A leitura do cupom fiscal é o diferencial: o morador não digita gastos, o app lê o cupom. Antes da apresentação, confirmem como o QR Code das notas de Mato Grosso pode ser lido pelo app, porque é a pergunta técnica mais provável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Responda aqui o "quem financia". O patrocínio é a proposta do grupo, e a neutralidade é o ponto sensível: reforce que os preços vêm das notas fiscais. O app do Paraná mostra que usar dados de notas de consumidor para comparar preços já funciona em escala estadual. Ele é um app do governo estadual; o Vida no Controle seria uma plataforma para uma 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números são metas sugeridas para o piloto, não resultados medidos: diga isso claramente à banca. A adesão de 10 mil usuários (~3% de 318.922 habitantes) é calibrada pelo Menor Preço Nota Paraná, que chegou a 425 mil usuários em escala estadual ao longo de vários anos. A meta de reserva (25%) segue a linha do estudo de French, McKillop e Stewart (2021) sobre apps de finanças pessoais. A economia por compra (R$ 30) é coerente com a faixa de 5% a 10% que apps de comparação de preço costumam gerar sobre um carrinho médio.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 sugeridas: ajustem ao que o grupo decidir. Na pergunta sobre o cupom, confirmem antes da apresentação como o QR Code da NFC-e de Mato Grosso pode ser consultado, porque a resposta depende disso.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atendimento presencial com a prefeitura é uma sugestão de resposta, não algo que o grupo já decidiu: confirmem se querem defender isso. Na resposta sobre o Desenrola, use os dados do slide da cesta básica e do programa federal.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repetindo a lógica do guia: dados provam, notícias validam, teoria sustenta, solução inspira. Termine olhando para a banca e voltando à frase da abertura: o cupom fiscal que já existe pode virar controle financeiro para a família.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para a sessão de perguntas. Se alguém questionar um número, abra a fonte correspondente. A matéria do G1 MT já entrou; ainda pode-se somar uma reportagem da BBC, DW ou Le Monde para completar a lista de mídia do guia.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6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ATIVIDADE AVALIATIVA P1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2164156"/>
            <a:ext cx="10883504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Vida no Controle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746" y="3307088"/>
            <a:ext cx="10883504" cy="751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Plataforma gratuita de organização financeira para os moradores de Várzea Grande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46" y="5171587"/>
            <a:ext cx="10883504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UNIFACC-MT · Orientador: Prof. Renato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46" y="5760793"/>
            <a:ext cx="10883504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Equipe: Hitalo, Rhaissa, Fernanda, Emilly, Yasmin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6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6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Quatro passos para defender a ideia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164414"/>
            <a:ext cx="2482836" cy="2628493"/>
          </a:xfrm>
          <a:prstGeom prst="roundRect">
            <a:avLst>
              <a:gd name="adj" fmla="val 3964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419581"/>
            <a:ext cx="2031678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88" y="2937690"/>
            <a:ext cx="203167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Dor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088" y="3399896"/>
            <a:ext cx="2031678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Dados oficiais mostram a escala do problema.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8294" y="2164414"/>
            <a:ext cx="2482904" cy="2628493"/>
          </a:xfrm>
          <a:prstGeom prst="roundRect">
            <a:avLst>
              <a:gd name="adj" fmla="val 3964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3461" y="2419581"/>
            <a:ext cx="2031748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63461" y="2937690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Sintoma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63461" y="3399896"/>
            <a:ext cx="2031748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noticiário confirma que o tema é </a:t>
            </a:r>
            <a:r>
              <a:rPr lang="en-US" sz="1600" dirty="0" err="1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urgente</a:t>
            </a: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</a:p>
          <a:p>
            <a:pPr marL="0" indent="0" algn="l">
              <a:lnSpc>
                <a:spcPts val="224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0734" y="2164414"/>
            <a:ext cx="2482904" cy="2628493"/>
          </a:xfrm>
          <a:prstGeom prst="roundRect">
            <a:avLst>
              <a:gd name="adj" fmla="val 3964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901" y="2419581"/>
            <a:ext cx="2031748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5901" y="2937690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Ciência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55901" y="3399896"/>
            <a:ext cx="2031748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Estudos explicam por que o problema persiste.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3175" y="2164414"/>
            <a:ext cx="2482904" cy="2628493"/>
          </a:xfrm>
          <a:prstGeom prst="roundRect">
            <a:avLst>
              <a:gd name="adj" fmla="val 3964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8342" y="2419581"/>
            <a:ext cx="2031748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8342" y="2937690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Solução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8342" y="3399896"/>
            <a:ext cx="2031748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Vida no Controle: como funciona, quem financia, qual o impacto.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95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6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BE3C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DOR · DADOS OFICIAIS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2908517"/>
            <a:ext cx="10883504" cy="170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0"/>
              </a:lnSpc>
              <a:buNone/>
            </a:pPr>
            <a:r>
              <a:rPr lang="en-US" sz="120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82%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812746" y="4889636"/>
            <a:ext cx="10883504" cy="38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BFBF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 famílias brasileiras estavam endividadas em agosto de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46" y="5557540"/>
            <a:ext cx="10883504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BFBF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Maior nível da série histórica da Peic, pelo sétimo mês seguido. E 29,9% delas tinham contas em atraso.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46" y="6238332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BE3C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Peic/CNC, agosto de 2026 (divulgada em 10/09/2026)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6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DOR · DADOS OFICIAIS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7"/>
            <a:ext cx="10883504" cy="107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Endividamento das famílias brasileiras em alta em 2026</a:t>
            </a:r>
            <a:endParaRPr lang="en-US" sz="3600" dirty="0"/>
          </a:p>
        </p:txBody>
      </p:sp>
      <p:pic>
        <p:nvPicPr>
          <p:cNvPr id="4" name="Image 0" descr="Gráfico de linha: percentual de famílias endividadas no Brasil, de 78,8% em agosto de 2025 a 82,0% em agosto de 2026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812746" y="2686946"/>
            <a:ext cx="10566373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3219" y="4007692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78,8%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24032" y="3741006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79,5%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44846" y="3474320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80,2%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65591" y="3398132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80,4%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86405" y="3207632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80,9%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07219" y="2940946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81,6%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28033" y="2788506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82,0%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48846" y="2788506"/>
            <a:ext cx="939800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82,0%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9719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Ago/25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60532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Jan/26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81346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Fev/26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02091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Mar/26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22905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Abr/26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43719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Mai/26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64533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Jul/26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85346" y="5455506"/>
            <a:ext cx="1066800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Ago/26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2746" y="6238332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Peic/CNC. Meses selecionados; o eixo vertical começa em 77%.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7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DOR · DADOS OFICIAIS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7"/>
            <a:ext cx="10883504" cy="107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Quem ganha até 3 salários mínimos é o mais atingido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46" y="2686946"/>
          <a:ext cx="10566373" cy="1306023"/>
        </p:xfrm>
        <a:graphic>
          <a:graphicData uri="http://schemas.openxmlformats.org/drawingml/2006/table">
            <a:tbl>
              <a:tblPr/>
              <a:tblGrid>
                <a:gridCol w="4015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Agosto de 2026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Todas as famílias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Renda de até 3 salários mínimos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Famílias endividadas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82,0%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85,1%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Famílias com contas em atraso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29,9%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38,8%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46" y="4306401"/>
            <a:ext cx="10883504" cy="751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Nessas famílias, o cartão de crédito paga despesas do dia a dia, como alimentação, saúde e moradia.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746" y="6238332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Peic/CNC, agosto de 2026; IREE, 17/08/2026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7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DOR · DADOS OFICIAIS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7"/>
            <a:ext cx="10883504" cy="107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Cuiabá é a referência mais próxima de Várzea Grande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690121"/>
            <a:ext cx="3380317" cy="2019002"/>
          </a:xfrm>
          <a:prstGeom prst="roundRect">
            <a:avLst>
              <a:gd name="adj" fmla="val 4875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945287"/>
            <a:ext cx="2956082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83,3%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71088" y="3885034"/>
            <a:ext cx="295608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 famílias estavam endividadas (208,9 mil lares)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74" y="2690121"/>
            <a:ext cx="3380385" cy="2019002"/>
          </a:xfrm>
          <a:prstGeom prst="roundRect">
            <a:avLst>
              <a:gd name="adj" fmla="val 4875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41" y="2945287"/>
            <a:ext cx="2956152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16,3%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60941" y="3885034"/>
            <a:ext cx="295615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estavam com contas em atraso (40,9 mil famílias)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95" y="2690121"/>
            <a:ext cx="3380385" cy="2019002"/>
          </a:xfrm>
          <a:prstGeom prst="roundRect">
            <a:avLst>
              <a:gd name="adj" fmla="val 4875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861" y="2945287"/>
            <a:ext cx="2956152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87,6%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50861" y="3885034"/>
            <a:ext cx="295615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 dívidas eram de cartão de crédito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46" y="5017043"/>
            <a:ext cx="10883504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Mês de referência: julho de 2026. A Peic mede só as capitais. Várzea Grande tem 318.922 habitantes (estimativa do IBGE para 2025).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746" y="6238332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Peic/CNC via Fecomércio-MT; IBGE, Cidades e Estados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7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DOR · DADOS OFICIAIS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7"/>
            <a:ext cx="10883504" cy="107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Renda acima da média nacional, dívida em recorde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46" y="2686946"/>
            <a:ext cx="5127794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0A3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R$ 2.335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746" y="3626693"/>
            <a:ext cx="5127794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renda domiciliar per capita em Mato Grosso, em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746" y="2686946"/>
            <a:ext cx="5127864" cy="86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R$ 2.316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746" y="3626693"/>
            <a:ext cx="5127864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média do Brasil no mesmo ano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46" y="4500361"/>
            <a:ext cx="10883504" cy="38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BFBF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Leitura do grupo: falta controle sobre o dinheiro, não só renda.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746" y="6238332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IBGE, PNAD Contínua 2025 (divulgada em 27/02/2026)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7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SINTOMA · PANORAMA NAS NOTÍCIAS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7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Juros altos e dívida em máximo histórico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164414"/>
            <a:ext cx="3380317" cy="2252581"/>
          </a:xfrm>
          <a:prstGeom prst="roundRect">
            <a:avLst>
              <a:gd name="adj" fmla="val 4369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419583"/>
            <a:ext cx="295608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088" y="3023986"/>
            <a:ext cx="295608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Selic no fim de agosto, com inflação de 12 meses em 4,2%: juros reais entre os maiores do mundo (Reuters).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74" y="2164414"/>
            <a:ext cx="3380385" cy="2252581"/>
          </a:xfrm>
          <a:prstGeom prst="roundRect">
            <a:avLst>
              <a:gd name="adj" fmla="val 4369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41" y="2419583"/>
            <a:ext cx="295615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428–440%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0941" y="3023986"/>
            <a:ext cx="295615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ao ano: juros do rotativo do cartão de crédito, segundo dados do Banco Central (Senado Notícias).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95" y="2164414"/>
            <a:ext cx="3380385" cy="2252581"/>
          </a:xfrm>
          <a:prstGeom prst="roundRect">
            <a:avLst>
              <a:gd name="adj" fmla="val 4369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861" y="2419583"/>
            <a:ext cx="295615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49,90%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0861" y="3023986"/>
            <a:ext cx="295615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é a dívida das famílias em relação à renda disponível de 12 meses, recorde da série do Banco Central (Poder360).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5921" y="4728090"/>
            <a:ext cx="10560159" cy="906530"/>
          </a:xfrm>
          <a:prstGeom prst="roundRect">
            <a:avLst>
              <a:gd name="adj" fmla="val 10857"/>
            </a:avLst>
          </a:prstGeom>
          <a:solidFill>
            <a:srgbClr val="FBEEDD"/>
          </a:solidFill>
          <a:ln w="6350">
            <a:solidFill>
              <a:srgbClr val="F0A3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1088" y="4957818"/>
            <a:ext cx="1831340" cy="4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A9500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52,97%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53833" y="4932443"/>
            <a:ext cx="8206092" cy="523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dos adultos de Mato Grosso estavam com contas em atraso em abril de 2026 — o estado é o 8º com mais inadimplentes do país (G1 MT, com dados da Serasa).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Reuters (26/08/2026); Senado Notícias (29/05/2026); Poder360 (27/04/2026); G1 Mato Grosso (10/04/2026)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44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SINTOMA · PANORAMA NAS NOTÍCIAS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107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Comida mais cara e governo agindo depois da dívida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690124"/>
            <a:ext cx="5175277" cy="1998513"/>
          </a:xfrm>
          <a:prstGeom prst="roundRect">
            <a:avLst>
              <a:gd name="adj" fmla="val 4925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945290"/>
            <a:ext cx="4804892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Fecomércio-MT · 17/09/2026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088" y="3260142"/>
            <a:ext cx="480489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R$ 900,16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71088" y="3864546"/>
            <a:ext cx="480489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cesta básica em Cuiabá: alta de 13,56% em 12 meses, R$ 107,51 a mais.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34" y="2690124"/>
            <a:ext cx="5175345" cy="1998513"/>
          </a:xfrm>
          <a:prstGeom prst="roundRect">
            <a:avLst>
              <a:gd name="adj" fmla="val 4925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901" y="2945290"/>
            <a:ext cx="4804962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Governo federal · lançado em 04/05/2026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5901" y="3260142"/>
            <a:ext cx="480496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30% a 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5901" y="3864546"/>
            <a:ext cx="480496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 desconto no Desenrola 2.0, para dívidas em atraso de 90 dias a 2 anos.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46" y="4996557"/>
            <a:ext cx="10883504" cy="38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governo renegocia a dívida que já existe. O Vida no Controle atua antes.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Fecomércio-MT (17/09/2026); Sociedade Militar (16/06/2026)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CIÊNCIA · LITERATURA ACADÊMICA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os estudos mostram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164414"/>
            <a:ext cx="3380317" cy="2877269"/>
          </a:xfrm>
          <a:prstGeom prst="roundRect">
            <a:avLst>
              <a:gd name="adj" fmla="val 3421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419579"/>
            <a:ext cx="2956082" cy="2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Lusardi &amp; Mitchell (2014)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088" y="2785250"/>
            <a:ext cx="2956082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Journal of Economic Literature, 52(1)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088" y="3100102"/>
            <a:ext cx="295608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conhecimento financeiro é capital humano e influencia as decisões econômicas das famílias.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774" y="2164414"/>
            <a:ext cx="3380385" cy="2877269"/>
          </a:xfrm>
          <a:prstGeom prst="roundRect">
            <a:avLst>
              <a:gd name="adj" fmla="val 3421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41" y="2419579"/>
            <a:ext cx="2956152" cy="2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Potrich, Vieira &amp; Kirch (2015)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0941" y="2785250"/>
            <a:ext cx="2956152" cy="451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Revista Contabilidade &amp; Finanças, 26(69)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0941" y="3313398"/>
            <a:ext cx="295615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 1.400 pessoas do Rio Grande do Sul, 67,1% tinham baixo nível de alfabetização financeira.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695" y="2164414"/>
            <a:ext cx="3380385" cy="2877269"/>
          </a:xfrm>
          <a:prstGeom prst="roundRect">
            <a:avLst>
              <a:gd name="adj" fmla="val 3421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861" y="2419579"/>
            <a:ext cx="2956152" cy="553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French, McKillop &amp; Stewart (2021)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0861" y="3049358"/>
            <a:ext cx="2956152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Strategic Change, 30(4)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0861" y="3364210"/>
            <a:ext cx="2956152" cy="144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Ensaio randomizado com 500 pessoas: apps de finanças melhoraram conhecimento e comportamento em famílias de baixa renda.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AEA; Revista Contabilidade &amp; Finanças (USP); Wiley Online Library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SOLUÇÃO · O QUE É E 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 cupom fiscal ao orçamento da família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46" y="2161239"/>
            <a:ext cx="10883504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Plataforma 100% gratuita, exclusiva para cidadãos de Várzea Grande.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21" y="2753624"/>
            <a:ext cx="2482836" cy="2470964"/>
          </a:xfrm>
          <a:prstGeom prst="roundRect">
            <a:avLst>
              <a:gd name="adj" fmla="val 398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088" y="3008790"/>
            <a:ext cx="2031678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088" y="3394807"/>
            <a:ext cx="203167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Escaneia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1088" y="3831574"/>
            <a:ext cx="2031678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morador lê o QR Code do cupom fiscal da compra.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8294" y="2753624"/>
            <a:ext cx="2482904" cy="2470964"/>
          </a:xfrm>
          <a:prstGeom prst="roundRect">
            <a:avLst>
              <a:gd name="adj" fmla="val 398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3461" y="3008790"/>
            <a:ext cx="2031748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63461" y="3394807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Organiza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63461" y="3831574"/>
            <a:ext cx="2031748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app separa os gastos por categoria.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0734" y="2753624"/>
            <a:ext cx="2482904" cy="2470964"/>
          </a:xfrm>
          <a:prstGeom prst="roundRect">
            <a:avLst>
              <a:gd name="adj" fmla="val 398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901" y="3008790"/>
            <a:ext cx="2031748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901" y="3394807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Planeja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55901" y="3831574"/>
            <a:ext cx="2031748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Monta o orçamento e ajuda a formar reserva a partir da renda.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93175" y="2753624"/>
            <a:ext cx="2482904" cy="2470964"/>
          </a:xfrm>
          <a:prstGeom prst="roundRect">
            <a:avLst>
              <a:gd name="adj" fmla="val 398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2" y="3008790"/>
            <a:ext cx="2031748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8342" y="3394807"/>
            <a:ext cx="2031748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Economiza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8342" y="3831574"/>
            <a:ext cx="2031748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Aponta oportunidades de economia nas próximas compras.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 Vida no Controle · UNIFACC-MT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SOLUÇÃO · QUEM FINANCIA E VIABILIDADE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Quem financia e por que é viável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164414"/>
            <a:ext cx="5175277" cy="2521845"/>
          </a:xfrm>
          <a:prstGeom prst="roundRect">
            <a:avLst>
              <a:gd name="adj" fmla="val 3903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419586"/>
            <a:ext cx="4804892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Quem financia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88" y="2881790"/>
            <a:ext cx="480489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Patrocínio de redes de supermercados regionais. O morador não paga nada.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088" y="3577710"/>
            <a:ext cx="480489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Os preços vêm das notas fiscais, não do patrocinador.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34" y="2164414"/>
            <a:ext cx="5175345" cy="2521845"/>
          </a:xfrm>
          <a:prstGeom prst="roundRect">
            <a:avLst>
              <a:gd name="adj" fmla="val 3903"/>
            </a:avLst>
          </a:prstGeom>
          <a:solidFill>
            <a:srgbClr val="FFFEFB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901" y="2419586"/>
            <a:ext cx="4804962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Precedente que funciona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5901" y="2881790"/>
            <a:ext cx="4804962" cy="116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Menor Preço Nota Paraná compara preços a partir das notas de consumidor (NFC-e): cerca de 4,5 milhões de notas por dia e 100 mil estabelecimentos.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5901" y="4146631"/>
            <a:ext cx="4804962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NFC-e é a nota que traz o QR Code.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Secretaria da Fazenda do Paraná; Nota Paraná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SOLUÇÃO · IMPACTO ESPERADO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Como medir o sucesso do piloto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1" y="2164414"/>
            <a:ext cx="3380317" cy="2404886"/>
          </a:xfrm>
          <a:prstGeom prst="roundRect">
            <a:avLst>
              <a:gd name="adj" fmla="val 409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88" y="2419586"/>
            <a:ext cx="2956082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Adesão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88" y="2856347"/>
            <a:ext cx="295608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 mil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71088" y="3460750"/>
            <a:ext cx="2956082" cy="87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moradores de Várzea Grande cadastrados no 1º ano (~3% da população)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774" y="2164414"/>
            <a:ext cx="3380385" cy="2404886"/>
          </a:xfrm>
          <a:prstGeom prst="roundRect">
            <a:avLst>
              <a:gd name="adj" fmla="val 409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41" y="2419586"/>
            <a:ext cx="2956152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Reserva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0941" y="2856347"/>
            <a:ext cx="295615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0941" y="3460750"/>
            <a:ext cx="295615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dos usuários passam a formar reserva com a renda mensal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695" y="2164414"/>
            <a:ext cx="3380385" cy="2404886"/>
          </a:xfrm>
          <a:prstGeom prst="roundRect">
            <a:avLst>
              <a:gd name="adj" fmla="val 4093"/>
            </a:avLst>
          </a:prstGeom>
          <a:solidFill>
            <a:srgbClr val="FBFB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861" y="2419586"/>
            <a:ext cx="2956152" cy="36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Economia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0861" y="2856347"/>
            <a:ext cx="2956152" cy="5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7A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R$ 50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50861" y="3460750"/>
            <a:ext cx="2956152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 economia média por compra no supermercado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err="1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</a:t>
            </a: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Vida no Controle · UNIFACC-MT</a:t>
            </a:r>
          </a:p>
          <a:p>
            <a:pPr>
              <a:lnSpc>
                <a:spcPts val="1680"/>
              </a:lnSpc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DEFESA · PERGUNTAS DA BANCA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Perguntas difíceis, respostas prontas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46" y="2161239"/>
          <a:ext cx="10566373" cy="2594747"/>
        </p:xfrm>
        <a:graphic>
          <a:graphicData uri="http://schemas.openxmlformats.org/drawingml/2006/table">
            <a:tbl>
              <a:tblPr/>
              <a:tblGrid>
                <a:gridCol w="380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Pergunta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Resposta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 supermercado que patrocina não enviesa o app?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Os preços vêm das notas fiscais, não do patrocinador, e as regras de exibição são públicas.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Como o app lê o cupom em Mato Grosso?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Pelo QR Code da NFC-e, a mesma base usada pelo Menor Preço Nota Paraná.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 a proteção de dados (LGPD)?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Consentimento explícito do morador e coleta só dos dados necessários.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 Vida no Controle · UNIFACC-MT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DEFESA · PERGUNTAS DA BANCA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90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Perguntas difíceis, respostas prontas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46" y="2161239"/>
          <a:ext cx="10566373" cy="2594747"/>
        </p:xfrm>
        <a:graphic>
          <a:graphicData uri="http://schemas.openxmlformats.org/drawingml/2006/table">
            <a:tbl>
              <a:tblPr/>
              <a:tblGrid>
                <a:gridCol w="380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Pergunta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Resposta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 quem não tem smartphone ou tem pouca instrução financeira?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Interface simples e atendimento presencial em parceria com a prefeitura.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Por que só Várzea Grande?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É um piloto controlado: 318.922 habitantes e conurbação com Cuiabá para expandir depois.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Já existe o Desenrola. Para que outro projeto?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 Desenrola renegocia dívida atrasada. O Vida no Controle evita que ela se forme.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46" y="6238335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 Vida no Controle · UNIFACC-MT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3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4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 que o Vida no Controle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46" y="2934520"/>
            <a:ext cx="10566509" cy="0"/>
          </a:xfrm>
          <a:prstGeom prst="line">
            <a:avLst/>
          </a:prstGeom>
          <a:noFill/>
          <a:ln w="6350">
            <a:solidFill>
              <a:srgbClr val="2E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46" y="2250120"/>
            <a:ext cx="3401060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Dados provam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19491" y="2161245"/>
            <a:ext cx="7168556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82% das famílias endividadas; 85,1% entre quem ganha até 3 salários mínimos.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746" y="3736343"/>
            <a:ext cx="10566509" cy="0"/>
          </a:xfrm>
          <a:prstGeom prst="line">
            <a:avLst/>
          </a:prstGeom>
          <a:noFill/>
          <a:ln w="6350">
            <a:solidFill>
              <a:srgbClr val="2E3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46" y="3140881"/>
            <a:ext cx="3401060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Notícias validam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19491" y="3194199"/>
            <a:ext cx="7168556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Juros altos, cesta básica em R$ 900 e governo renegociando dívidas.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46" y="4715980"/>
            <a:ext cx="10566509" cy="0"/>
          </a:xfrm>
          <a:prstGeom prst="line">
            <a:avLst/>
          </a:prstGeom>
          <a:noFill/>
          <a:ln w="6350">
            <a:solidFill>
              <a:srgbClr val="2E3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746" y="4031580"/>
            <a:ext cx="3401060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Teoria sustenta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19491" y="3942705"/>
            <a:ext cx="7168556" cy="5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Estudos ligam educação financeira e apps de finanças a melhores decisões.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46" y="4922341"/>
            <a:ext cx="3401060" cy="416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Solução inspira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19491" y="4975659"/>
            <a:ext cx="7168556" cy="3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cupom fiscal vira orçamento e economia, de graça, em Várzea Grande.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46" y="6238329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 Vida no Controle · UNIFACC-MT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46" y="812750"/>
            <a:ext cx="1088350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500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46" y="1330784"/>
            <a:ext cx="10883504" cy="55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46" y="2161245"/>
            <a:ext cx="5232470" cy="26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Dados e notícias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46" y="2532063"/>
            <a:ext cx="5232470" cy="258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IBGE, Cidades e Estados: Várzea Grande (MT)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IBGE, PNAD Contínua: rendimento domiciliar per capita 2025 (27/02/2026)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CNC, Peic de agosto de 2026 (10/09/2026)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Fecomércio-MT: Peic Cuiabá, julho de 2026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Fecomércio-MT: cesta básica em Cuiabá (17/09/2026)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Poder360, com dados do Banco Central (27/04/2026)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Senado Notícias: dívidas em recorde (29/05/2026)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Reuters (26/08/2026)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G1 Mato Grosso, com dados da Serasa (10/04/2026)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Sociedade Militar: Desenrola 2.0 (16/06/2026)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IREE: o nó das famílias endividadas (17/08/2026)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99186" y="2161245"/>
            <a:ext cx="5232470" cy="26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Ciência e precedente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186" y="2532063"/>
            <a:ext cx="5232470" cy="194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Lusardi, A.; Mitchell, O. S. (2014). Journal of Economic Literature, 52(1), 5–44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Potrich, A. C. G.; Vieira, K. M.; Kirch, G. (2015). Revista Contabilidade &amp; Finanças, 26(69), 362–377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French, D.; McKillop, D.; Stewart, E. (2021). Strategic Change, 30(4), 367–375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Secretaria da Fazenda do Paraná: aplicativo Menor Preço Nota Paraná</a:t>
            </a:r>
            <a:endParaRPr lang="en-US" sz="1200" dirty="0"/>
          </a:p>
          <a:p>
            <a:pPr marL="342900" indent="-342900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Nota Paraná: perguntas frequentes sobre o aplicativo Menor Preço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46" y="6238329"/>
            <a:ext cx="10883364" cy="23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2557</Words>
  <Application>Microsoft Office PowerPoint</Application>
  <PresentationFormat>Widescreen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Libre Baskerville</vt:lpstr>
      <vt:lpstr>Public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 no Controle — Defesa do Projeto</dc:title>
  <dc:subject>PptxGenJS Presentation</dc:subject>
  <dc:creator>PptxGenJS</dc:creator>
  <cp:lastModifiedBy>Helder Oliveira</cp:lastModifiedBy>
  <cp:revision>3</cp:revision>
  <dcterms:created xsi:type="dcterms:W3CDTF">2026-09-22T14:10:38Z</dcterms:created>
  <dcterms:modified xsi:type="dcterms:W3CDTF">2026-09-22T14:23:53Z</dcterms:modified>
</cp:coreProperties>
</file>